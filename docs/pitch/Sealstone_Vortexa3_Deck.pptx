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4" r:id="rId16"/>
    <p:sldId id="259" r:id="rId5"/>
    <p:sldId id="265" r:id="rId17"/>
    <p:sldId id="266" r:id="rId18"/>
    <p:sldId id="260" r:id="rId6"/>
    <p:sldId id="261" r:id="rId7"/>
    <p:sldId id="262" r:id="rId8"/>
    <p:sldId id="263" r:id="rId9"/>
  </p:sldIdLst>
  <p:sldSz cx="18288000" cy="10287000"/>
  <p:notesSz cx="6858000" cy="9144000"/>
  <p:embeddedFontLst>
    <p:embeddedFont>
      <p:font typeface="Heading Now 31-38" pitchFamily="2" charset="0"/>
      <p:regular r:id="rId10"/>
    </p:embeddedFont>
    <p:embeddedFont>
      <p:font typeface="Heading Now 31-38 Bold" pitchFamily="2"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8.xml"/><Relationship Id="rId7" Type="http://schemas.openxmlformats.org/officeDocument/2006/relationships/slide" Target="slides/slide9.xml"/><Relationship Id="rId8" Type="http://schemas.openxmlformats.org/officeDocument/2006/relationships/slide" Target="slides/slide10.xml"/><Relationship Id="rId9" Type="http://schemas.openxmlformats.org/officeDocument/2006/relationships/slide" Target="slides/slide11.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4.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Sealstone</c:v>
                </c:pt>
              </c:strCache>
            </c:strRef>
          </c:tx>
          <c:spPr>
            <a:ln w="63500">
              <a:solidFill>
                <a:srgbClr val="5B45E6"/>
              </a:solidFill>
            </a:ln>
          </c:spPr>
          <c:marker>
            <c:symbol val="circle"/>
            <c:size val="12"/>
            <c:spPr>
              <a:solidFill>
                <a:srgbClr val="FFFFFF"/>
              </a:solidFill>
              <a:ln w="38100">
                <a:solidFill>
                  <a:srgbClr val="5B45E6"/>
                </a:solidFill>
              </a:ln>
            </c:spPr>
          </c:marker>
          <c:dLbls>
            <c:dLbl>
              <c:idx val="4"/>
              <c:tx>
                <c:rich>
                  <a:bodyPr/>
                  <a:lstStyle/>
                  <a:p>
                    <a:r>
                      <a:rPr sz="2400" b="1">
                        <a:solidFill>
                          <a:srgbClr val="5B45E6"/>
                        </a:solidFill>
                        <a:latin typeface="Heading Now 31-38 Bold"/>
                      </a:rPr>
                      <a:t>3 ETH safe</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0</c:v>
                </c:pt>
                <c:pt idx="1">
                  <c:v>1</c:v>
                </c:pt>
                <c:pt idx="2">
                  <c:v>2</c:v>
                </c:pt>
                <c:pt idx="3">
                  <c:v>3</c:v>
                </c:pt>
                <c:pt idx="4">
                  <c:v>4</c:v>
                </c:pt>
              </c:strCache>
            </c:strRef>
          </c:cat>
          <c:val>
            <c:numRef>
              <c:f>Sheet1!$B$2:$B$6</c:f>
              <c:numCache>
                <c:formatCode>General</c:formatCode>
                <c:ptCount val="5"/>
                <c:pt idx="0">
                  <c:v>3</c:v>
                </c:pt>
                <c:pt idx="1">
                  <c:v>3</c:v>
                </c:pt>
                <c:pt idx="2">
                  <c:v>3</c:v>
                </c:pt>
                <c:pt idx="3">
                  <c:v>3</c:v>
                </c:pt>
                <c:pt idx="4">
                  <c:v>3</c:v>
                </c:pt>
              </c:numCache>
            </c:numRef>
          </c:val>
          <c:smooth val="0"/>
        </c:ser>
        <c:ser>
          <c:idx val="1"/>
          <c:order val="1"/>
          <c:tx>
            <c:strRef>
              <c:f>Sheet1!$C$1</c:f>
              <c:strCache>
                <c:ptCount val="1"/>
                <c:pt idx="0">
                  <c:v>Naive escrow</c:v>
                </c:pt>
              </c:strCache>
            </c:strRef>
          </c:tx>
          <c:spPr>
            <a:ln w="63500">
              <a:solidFill>
                <a:srgbClr val="C0342B"/>
              </a:solidFill>
            </a:ln>
          </c:spPr>
          <c:marker>
            <c:symbol val="circle"/>
            <c:size val="12"/>
            <c:spPr>
              <a:solidFill>
                <a:srgbClr val="FFFFFF"/>
              </a:solidFill>
              <a:ln w="38100">
                <a:solidFill>
                  <a:srgbClr val="C0342B"/>
                </a:solidFill>
              </a:ln>
            </c:spPr>
          </c:marker>
          <c:dLbls>
            <c:dLbl>
              <c:idx val="4"/>
              <c:tx>
                <c:rich>
                  <a:bodyPr/>
                  <a:lstStyle/>
                  <a:p>
                    <a:r>
                      <a:rPr sz="2400" b="1">
                        <a:solidFill>
                          <a:srgbClr val="C0342B"/>
                        </a:solidFill>
                        <a:latin typeface="Heading Now 31-38 Bold"/>
                      </a:rPr>
                      <a:t>0 ETH left</a:t>
                    </a:r>
                  </a:p>
                </c:rich>
              </c:tx>
              <c:dLblPos val="l"/>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0</c:v>
                </c:pt>
                <c:pt idx="1">
                  <c:v>1</c:v>
                </c:pt>
                <c:pt idx="2">
                  <c:v>2</c:v>
                </c:pt>
                <c:pt idx="3">
                  <c:v>3</c:v>
                </c:pt>
                <c:pt idx="4">
                  <c:v>4</c:v>
                </c:pt>
              </c:strCache>
            </c:strRef>
          </c:cat>
          <c:val>
            <c:numRef>
              <c:f>Sheet1!$C$2:$C$6</c:f>
              <c:numCache>
                <c:formatCode>General</c:formatCode>
                <c:ptCount val="5"/>
                <c:pt idx="0">
                  <c:v>3</c:v>
                </c:pt>
                <c:pt idx="1">
                  <c:v>3</c:v>
                </c:pt>
                <c:pt idx="2">
                  <c:v>2</c:v>
                </c:pt>
                <c:pt idx="3">
                  <c:v>1</c:v>
                </c:pt>
                <c:pt idx="4">
                  <c:v>0</c:v>
                </c:pt>
              </c:numCache>
            </c:numRef>
          </c:val>
          <c:smooth val="0"/>
        </c:ser>
        <c:marker val="1"/>
        <c:smooth val="0"/>
        <c:axId val="2118791784"/>
        <c:axId val="2140495176"/>
      </c:lineChart>
      <c:catAx>
        <c:axId val="2118791784"/>
        <c:scaling>
          <c:orientation val="minMax"/>
        </c:scaling>
        <c:delete val="0"/>
        <c:axPos val="b"/>
        <c:title>
          <c:tx>
            <c:rich>
              <a:bodyPr/>
              <a:lstStyle/>
              <a:p>
                <a:r>
                  <a:rPr sz="2000" b="0">
                    <a:latin typeface="Calibri"/>
                  </a:rPr>
                  <a:t>Payouts made to the attacker</a:t>
                </a:r>
              </a:p>
            </c:rich>
          </c:tx>
          <c:layout/>
          <c:overlay val="0"/>
        </c:title>
        <c:majorTickMark val="out"/>
        <c:minorTickMark val="none"/>
        <c:tickLblPos val="nextTo"/>
        <c:spPr>
          <a:ln>
            <a:solidFill>
              <a:srgbClr val="E6DCE4"/>
            </a:solidFill>
          </a:ln>
        </c:spPr>
        <c:txPr>
          <a:bodyPr/>
          <a:lstStyle/>
          <a:p>
            <a:pPr>
              <a:defRPr sz="2200">
                <a:latin typeface="Calibri"/>
              </a:defRPr>
            </a:pPr>
          </a:p>
        </c:txPr>
        <c:crossAx val="2140495176"/>
        <c:crosses val="autoZero"/>
        <c:auto val="1"/>
        <c:lblAlgn val="ctr"/>
        <c:lblOffset val="100"/>
        <c:noMultiLvlLbl val="0"/>
      </c:catAx>
      <c:valAx>
        <c:axId val="2140495176"/>
        <c:scaling>
          <c:max val="3.6"/>
          <c:min val="0.0"/>
        </c:scaling>
        <c:delete val="0"/>
        <c:axPos val="l"/>
        <c:majorGridlines>
          <c:spPr>
            <a:ln>
              <a:solidFill>
                <a:srgbClr val="E6DCE4"/>
              </a:solidFill>
            </a:ln>
          </c:spPr>
        </c:majorGridlines>
        <c:numFmt formatCode="0&quot; ETH&quot;" sourceLinked="0"/>
        <c:majorTickMark val="out"/>
        <c:minorTickMark val="none"/>
        <c:tickLblPos val="nextTo"/>
        <c:spPr>
          <a:ln>
            <a:noFill/>
          </a:ln>
        </c:spPr>
        <c:txPr>
          <a:bodyPr/>
          <a:lstStyle/>
          <a:p>
            <a:pPr>
              <a:defRPr sz="2200">
                <a:latin typeface="Calibri"/>
              </a:defRPr>
            </a:pPr>
          </a:p>
        </c:txPr>
        <c:crossAx val="2118791784"/>
        <c:crosses val="autoZero"/>
        <c:majorUnit val="1.0"/>
      </c:valAx>
    </c:plotArea>
    <c:legend>
      <c:legendPos val="b"/>
      <c:layout/>
      <c:overlay val="0"/>
      <c:txPr>
        <a:bodyPr/>
        <a:lstStyle/>
        <a:p>
          <a:pPr>
            <a:defRPr sz="2200">
              <a:latin typeface="Calibri"/>
            </a:defRPr>
          </a:pPr>
        </a:p>
      </c:txPr>
    </c:legend>
    <c:plotVisOnly val="1"/>
    <c:dispBlanksAs val="gap"/>
    <c:showDLblsOverMax val="0"/>
  </c:chart>
  <c:txPr>
    <a:bodyPr/>
    <a:lstStyle/>
    <a:p>
      <a:pPr>
        <a:defRPr sz="2000">
          <a:solidFill>
            <a:srgbClr val="161F3E"/>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(20 s). We are Sealstone, our answer to B-03 MilestoneVault. One sentence: escrow that can't be tricked by ambiguous agreements, swapped deliverables, or malicious contracts. Everything you will see today is a working product you can test.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(40 s). Three failures. One: agreements are prose, so 'to the mentor's satisfaction' is a future dispute. Two: approval is not bound to a file, so what is reviewed can differ from what is paid. Three: money code is unforgiving; our Attack Lab shows a naive escrow losing 3 ETH of other people's money to one re-entrancy attack. The booklet adds the rule that shapes our design: AI proposes, a person confirms, and AI never writes to the contract.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(60 s). Our idea closes all three failures. Layer one is the agreement: the AI proposes and flags ambiguity, a deterministic validator re-checks everything, a person resolves each flag, and the keccak hash of the confirmed terms is stored on-chain and signed by both sides. Layer two is the file: approval is bound to its SHA-256. Layer three is the money: a role-gated state machine with pull payments and a live reconciliation panel. The principle: AI informs, rules decide.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 (40 s). This is the live path we will walk if you invite us to. Pasting an agreement shows the AI's flags; the dashboard shows every vault with its ledger reconciled; the swapped-file approval is refused with two visibly different seals; the Attack Lab fires twelve real transactions at the contract. Everything runs on a local chain, with Wi-Fi off if you like.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2:40 (50 s). Left to right, then back along the bottom. The AI proposes a checklist and ambiguities; a deterministic validator re-checks arithmetic and parties and verifies every quote exists in the text; a person resolves each flag; only the confirmed, hashed checklist crosses the AI boundary to the chain. On-chain, both parties sign the hash, the client funds the exact total, the provider commits the file's SHA-256, the client approves that exact hash or disputes, and money moves by pull payment while the ledger reconciles.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3:30 (40 s). One state machine per milestone. The provider marks it complete with the file's hash. From Completed, only the client can approve with the same hash, which credits the provider, or dispute; the provider can escalate only after the review window. Only the arbiter can settle a dispute, either releasing to the provider or refunding the client. Released and Refunded are final. Anything else, such as a second release, reverts with a specific error and changes nothing.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4:10 (30 s). Three parts. The web app, which also works on a phone, talks to the chain directly over JSON-RPC. The AI service extracts, validates and gates, and it has no route, key or RPC connection to the chain: it only stores confirmed JSON. One shared package implements hashing, the validator and the gate, so the browser, server and deploy scripts agree byte for byte. Everything is local, so the full demo works with Wi-Fi off.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4:40 (35 s). Feasibility is evidenced, not claimed. The booklet's Common Rules map to concrete proof: a working product judges can run, reproducible resets, meaningful AI with deterministic rules deciding, fictional data, and a local fallback. The numbers are from our own runs: 138 contract tests, 383 tests overall, 100% line coverage, a 1,000-step randomized invariant fuzz, and twelve real attacks all blocked.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5:15 (35 s). The impact is visible in one picture. The same re-entrancy attack drains a naive escrow of 3 ETH of other people's money, and cannot touch ours. That translates into three groups of people: freelancers and clients who pay only for the exact file they approved, grant programmes that see everything locked and owed in one dashboard, and auditors who can reproduce every guarantee as a test. Next steps are a factory for many agreements, a committee arbiter, and a public-testnet pilot.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5:50 (30 s). Each of these is something you can check live, not a claim. One: a vague phrase like 'to the mentor's satisfaction' cannot reach the contract until a person resolves it. Two: approval is bound to the exact file, so a look-alike is refused with a named error, DeliverableHashMismatch. Three: if someone force-sends ETH into the vault, it is counted as surplus, nobody can withdraw it, and the books still reconcile. Four: you can fire twelve real attacks at the contract yourself and read the result. The AI never moves money, the demo works with Wi-Fi off, and we state our limits: one contract per agreement, a trusted arbiter, and a hash proves identity, not quality. Don't take our word for it: pick a role, or press Run all attacks.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6:20. Thank you. Everything we showed is running on this laptop, offline. We would love you to try to break it: pick a role in the demo vault, or press Run all in the Attack Lab. Team TORVALDS, team ID XQR1520246: Omkar Rane and Pranay Patil.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25.png"/><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12.png"/><Relationship Id="rId10" Type="http://schemas.openxmlformats.org/officeDocument/2006/relationships/image" Target="../media/image2.png"/><Relationship Id="rId11" Type="http://schemas.openxmlformats.org/officeDocument/2006/relationships/image" Target="../media/image9.png"/><Relationship Id="rId12" Type="http://schemas.openxmlformats.org/officeDocument/2006/relationships/image" Target="../media/image26.png"/><Relationship Id="rId13" Type="http://schemas.openxmlformats.org/officeDocument/2006/relationships/image" Target="../media/image27.png"/><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12.png"/><Relationship Id="rId10" Type="http://schemas.openxmlformats.org/officeDocument/2006/relationships/image" Target="../media/image2.png"/><Relationship Id="rId11" Type="http://schemas.openxmlformats.org/officeDocument/2006/relationships/image" Target="../media/image9.png"/><Relationship Id="rId12" Type="http://schemas.openxmlformats.org/officeDocument/2006/relationships/image" Target="../media/image28.jpg"/><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12.png"/><Relationship Id="rId10" Type="http://schemas.openxmlformats.org/officeDocument/2006/relationships/image" Target="../media/image2.png"/><Relationship Id="rId11" Type="http://schemas.openxmlformats.org/officeDocument/2006/relationships/image" Target="../media/image9.png"/><Relationship Id="rId12" Type="http://schemas.openxmlformats.org/officeDocument/2006/relationships/image" Target="../media/image29.jpg"/><Relationship Id="rId13" Type="http://schemas.openxmlformats.org/officeDocument/2006/relationships/image" Target="../media/image30.jpg"/><Relationship Id="rId14" Type="http://schemas.openxmlformats.org/officeDocument/2006/relationships/image" Target="../media/image31.jpg"/><Relationship Id="rId1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12.png"/><Relationship Id="rId10" Type="http://schemas.openxmlformats.org/officeDocument/2006/relationships/image" Target="../media/image9.png"/><Relationship Id="rId11" Type="http://schemas.openxmlformats.org/officeDocument/2006/relationships/image" Target="../media/image2.png"/><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12.png"/><Relationship Id="rId10" Type="http://schemas.openxmlformats.org/officeDocument/2006/relationships/image" Target="../media/image2.png"/><Relationship Id="rId11" Type="http://schemas.openxmlformats.org/officeDocument/2006/relationships/image" Target="../media/image9.png"/><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12.png"/><Relationship Id="rId10" Type="http://schemas.openxmlformats.org/officeDocument/2006/relationships/image" Target="../media/image2.png"/><Relationship Id="rId11" Type="http://schemas.openxmlformats.org/officeDocument/2006/relationships/image" Target="../media/image9.png"/><Relationship Id="rId12" Type="http://schemas.openxmlformats.org/officeDocument/2006/relationships/image" Target="../media/image32.jpg"/><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12.png"/><Relationship Id="rId10" Type="http://schemas.openxmlformats.org/officeDocument/2006/relationships/image" Target="../media/image9.png"/><Relationship Id="rId11" Type="http://schemas.openxmlformats.org/officeDocument/2006/relationships/image" Target="../media/image2.png"/><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12.png"/><Relationship Id="rId10" Type="http://schemas.openxmlformats.org/officeDocument/2006/relationships/image" Target="../media/image9.png"/><Relationship Id="rId11" Type="http://schemas.openxmlformats.org/officeDocument/2006/relationships/image" Target="../media/image2.png"/><Relationship Id="rId12" Type="http://schemas.openxmlformats.org/officeDocument/2006/relationships/chart" Target="../charts/chart1.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12.png"/><Relationship Id="rId10" Type="http://schemas.openxmlformats.org/officeDocument/2006/relationships/image" Target="../media/image9.png"/><Relationship Id="rId11" Type="http://schemas.openxmlformats.org/officeDocument/2006/relationships/image" Target="../media/image2.png"/><Relationship Id="rId12" Type="http://schemas.openxmlformats.org/officeDocument/2006/relationships/image" Target="../media/image26.png"/><Relationship Id="rId13" Type="http://schemas.openxmlformats.org/officeDocument/2006/relationships/image" Target="../media/image27.png"/><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png"/><Relationship Id="rId15" Type="http://schemas.openxmlformats.org/officeDocument/2006/relationships/image" Target="../media/image25.png"/><Relationship Id="rId1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8EB"/>
        </a:solidFill>
        <a:effectLst/>
      </p:bgPr>
    </p:bg>
    <p:spTree>
      <p:nvGrpSpPr>
        <p:cNvPr id="1" name=""/>
        <p:cNvGrpSpPr/>
        <p:nvPr/>
      </p:nvGrpSpPr>
      <p:grpSpPr>
        <a:xfrm>
          <a:off x="0" y="0"/>
          <a:ext cx="0" cy="0"/>
          <a:chOff x="0" y="0"/>
          <a:chExt cx="0" cy="0"/>
        </a:xfrm>
      </p:grpSpPr>
      <p:sp>
        <p:nvSpPr>
          <p:cNvPr id="2" name="Freeform 2"/>
          <p:cNvSpPr/>
          <p:nvPr/>
        </p:nvSpPr>
        <p:spPr>
          <a:xfrm>
            <a:off x="15416893" y="4930326"/>
            <a:ext cx="1790743" cy="1009954"/>
          </a:xfrm>
          <a:custGeom>
            <a:avLst/>
            <a:gdLst/>
            <a:ahLst/>
            <a:cxnLst/>
            <a:rect l="l" t="t" r="r" b="b"/>
            <a:pathLst>
              <a:path w="1790743" h="1009954">
                <a:moveTo>
                  <a:pt x="0" y="0"/>
                </a:moveTo>
                <a:lnTo>
                  <a:pt x="1790744" y="0"/>
                </a:lnTo>
                <a:lnTo>
                  <a:pt x="1790744" y="1009954"/>
                </a:lnTo>
                <a:lnTo>
                  <a:pt x="0" y="1009954"/>
                </a:lnTo>
                <a:lnTo>
                  <a:pt x="0" y="0"/>
                </a:lnTo>
                <a:close/>
              </a:path>
            </a:pathLst>
          </a:custGeom>
          <a:blipFill>
            <a:blip r:embed="rId2">
              <a:alphaModFix amt="59000"/>
            </a:blip>
            <a:stretch>
              <a:fillRect/>
            </a:stretch>
          </a:blipFill>
        </p:spPr>
      </p:sp>
      <p:sp>
        <p:nvSpPr>
          <p:cNvPr id="3" name="TextBox 3"/>
          <p:cNvSpPr txBox="1"/>
          <p:nvPr/>
        </p:nvSpPr>
        <p:spPr>
          <a:xfrm>
            <a:off x="736677" y="6263640"/>
            <a:ext cx="12801600" cy="777240"/>
          </a:xfrm>
          <a:prstGeom prst="rect">
            <a:avLst/>
          </a:prstGeom>
        </p:spPr>
        <p:txBody>
          <a:bodyPr lIns="0" tIns="0" rIns="0" bIns="0" rtlCol="0" anchor="t" wrap="none">
            <a:spAutoFit/>
          </a:bodyPr>
          <a:lstStyle/>
          <a:p>
            <a:pPr algn="l">
              <a:lnSpc>
                <a:spcPts val="4771"/>
              </a:lnSpc>
            </a:pPr>
            <a:r>
              <a:rPr lang="en-US" sz="4771" b="1" spc="46">
                <a:solidFill>
                  <a:srgbClr val="4E4A76"/>
                </a:solidFill>
                <a:latin typeface="Heading Now 31-38 Bold"/>
                <a:ea typeface="Heading Now 31-38 Bold"/>
                <a:cs typeface="Heading Now 31-38 Bold"/>
                <a:sym typeface="Heading Now 31-38 Bold"/>
              </a:rPr>
              <a:t>TEAM NAME :</a:t>
            </a:r>
            <a:r>
              <a:rPr sz="4771">
                <a:solidFill>
                  <a:srgbClr val="161F3E"/>
                </a:solidFill>
                <a:latin typeface="Heading Now 31-38"/>
              </a:rPr>
              <a:t> TORVALDS</a:t>
            </a:r>
          </a:p>
        </p:txBody>
      </p:sp>
      <p:sp>
        <p:nvSpPr>
          <p:cNvPr id="4" name="TextBox 4"/>
          <p:cNvSpPr txBox="1"/>
          <p:nvPr/>
        </p:nvSpPr>
        <p:spPr>
          <a:xfrm>
            <a:off x="736677" y="4655619"/>
            <a:ext cx="14173200" cy="1737360"/>
          </a:xfrm>
          <a:prstGeom prst="rect">
            <a:avLst/>
          </a:prstGeom>
        </p:spPr>
        <p:txBody>
          <a:bodyPr lIns="0" tIns="0" rIns="0" bIns="0" rtlCol="0" anchor="t">
            <a:spAutoFit/>
          </a:bodyPr>
          <a:lstStyle/>
          <a:p>
            <a:pPr algn="l">
              <a:lnSpc>
                <a:spcPts val="5148"/>
              </a:lnSpc>
            </a:pPr>
            <a:r>
              <a:rPr lang="en-US" sz="5148" b="1" spc="50">
                <a:solidFill>
                  <a:srgbClr val="1A2651"/>
                </a:solidFill>
                <a:latin typeface="Heading Now 31-38 Bold"/>
                <a:ea typeface="Heading Now 31-38 Bold"/>
                <a:cs typeface="Heading Now 31-38 Bold"/>
                <a:sym typeface="Heading Now 31-38 Bold"/>
              </a:rPr>
              <a:t>PROBLEM STATEMENT TITLE : </a:t>
            </a:r>
            <a:r>
              <a:rPr sz="5148">
                <a:solidFill>
                  <a:srgbClr val="161F3E"/>
                </a:solidFill>
                <a:latin typeface="Heading Now 31-38"/>
              </a:rPr>
              <a:t> MILESTONEVAULT: ADVERSARIAL SMART-CONTRACT ESCROW</a:t>
            </a:r>
          </a:p>
        </p:txBody>
      </p:sp>
      <p:sp>
        <p:nvSpPr>
          <p:cNvPr id="5" name="TextBox 5"/>
          <p:cNvSpPr txBox="1"/>
          <p:nvPr/>
        </p:nvSpPr>
        <p:spPr>
          <a:xfrm>
            <a:off x="736677" y="3700840"/>
            <a:ext cx="6250076" cy="807047"/>
          </a:xfrm>
          <a:prstGeom prst="rect">
            <a:avLst/>
          </a:prstGeom>
        </p:spPr>
        <p:txBody>
          <a:bodyPr lIns="0" tIns="0" rIns="0" bIns="0" rtlCol="0" anchor="t">
            <a:spAutoFit/>
          </a:bodyPr>
          <a:lstStyle/>
          <a:p>
            <a:pPr algn="l">
              <a:lnSpc>
                <a:spcPts val="5148"/>
              </a:lnSpc>
            </a:pPr>
            <a:r>
              <a:rPr lang="en-US" sz="5148" b="1" spc="50">
                <a:solidFill>
                  <a:srgbClr val="4E4A76"/>
                </a:solidFill>
                <a:latin typeface="Heading Now 31-38 Bold"/>
                <a:ea typeface="Heading Now 31-38 Bold"/>
                <a:cs typeface="Heading Now 31-38 Bold"/>
                <a:sym typeface="Heading Now 31-38 Bold"/>
              </a:rPr>
              <a:t>DOMAIN &amp; NO :</a:t>
            </a:r>
            <a:r>
              <a:rPr lang="en-US" sz="5148" b="1" spc="50">
                <a:solidFill>
                  <a:srgbClr val="161F3E"/>
                </a:solidFill>
                <a:latin typeface="Heading Now 31-38 Bold"/>
                <a:ea typeface="Heading Now 31-38 Bold"/>
                <a:cs typeface="Heading Now 31-38 Bold"/>
                <a:sym typeface="Heading Now 31-38 Bold"/>
              </a:rPr>
              <a:t>  </a:t>
            </a:r>
            <a:r>
              <a:rPr lang="en-US" sz="5148" spc="50">
                <a:solidFill>
                  <a:srgbClr val="161F3E"/>
                </a:solidFill>
                <a:latin typeface="Heading Now 31-38"/>
                <a:ea typeface="Heading Now 31-38"/>
                <a:cs typeface="Heading Now 31-38"/>
                <a:sym typeface="Heading Now 31-38"/>
              </a:rPr>
              <a:t>3, B-03</a:t>
            </a:r>
          </a:p>
        </p:txBody>
      </p:sp>
      <p:sp>
        <p:nvSpPr>
          <p:cNvPr id="6" name="TextBox 6"/>
          <p:cNvSpPr txBox="1"/>
          <p:nvPr/>
        </p:nvSpPr>
        <p:spPr>
          <a:xfrm>
            <a:off x="736677" y="7132320"/>
            <a:ext cx="12801600" cy="777240"/>
          </a:xfrm>
          <a:prstGeom prst="rect">
            <a:avLst/>
          </a:prstGeom>
        </p:spPr>
        <p:txBody>
          <a:bodyPr lIns="0" tIns="0" rIns="0" bIns="0" rtlCol="0" anchor="t" wrap="none">
            <a:spAutoFit/>
          </a:bodyPr>
          <a:lstStyle/>
          <a:p>
            <a:pPr algn="l">
              <a:lnSpc>
                <a:spcPts val="4472"/>
              </a:lnSpc>
            </a:pPr>
            <a:r>
              <a:rPr lang="en-US" sz="4472" b="1" spc="43">
                <a:solidFill>
                  <a:srgbClr val="4E4A76"/>
                </a:solidFill>
                <a:latin typeface="Heading Now 31-38 Bold"/>
                <a:ea typeface="Heading Now 31-38 Bold"/>
                <a:cs typeface="Heading Now 31-38 Bold"/>
                <a:sym typeface="Heading Now 31-38 Bold"/>
              </a:rPr>
              <a:t>TEAM ID :</a:t>
            </a:r>
            <a:r>
              <a:rPr sz="4472">
                <a:solidFill>
                  <a:srgbClr val="161F3E"/>
                </a:solidFill>
                <a:latin typeface="Heading Now 31-38"/>
              </a:rPr>
              <a:t> XQR1520246</a:t>
            </a:r>
          </a:p>
        </p:txBody>
      </p:sp>
      <p:sp>
        <p:nvSpPr>
          <p:cNvPr id="7" name="Freeform 7"/>
          <p:cNvSpPr/>
          <p:nvPr/>
        </p:nvSpPr>
        <p:spPr>
          <a:xfrm>
            <a:off x="16127273" y="239946"/>
            <a:ext cx="2160727" cy="2160727"/>
          </a:xfrm>
          <a:custGeom>
            <a:avLst/>
            <a:gdLst/>
            <a:ahLst/>
            <a:cxnLst/>
            <a:rect l="l" t="t" r="r" b="b"/>
            <a:pathLst>
              <a:path w="2160727" h="2160727">
                <a:moveTo>
                  <a:pt x="0" y="0"/>
                </a:moveTo>
                <a:lnTo>
                  <a:pt x="2160727" y="0"/>
                </a:lnTo>
                <a:lnTo>
                  <a:pt x="2160727" y="2160727"/>
                </a:lnTo>
                <a:lnTo>
                  <a:pt x="0" y="2160727"/>
                </a:lnTo>
                <a:lnTo>
                  <a:pt x="0" y="0"/>
                </a:lnTo>
                <a:close/>
              </a:path>
            </a:pathLst>
          </a:custGeom>
          <a:blipFill>
            <a:blip r:embed="rId3"/>
            <a:stretch>
              <a:fillRect/>
            </a:stretch>
          </a:blipFill>
        </p:spPr>
      </p:sp>
      <p:sp>
        <p:nvSpPr>
          <p:cNvPr id="8" name="TextBox 8"/>
          <p:cNvSpPr txBox="1"/>
          <p:nvPr/>
        </p:nvSpPr>
        <p:spPr>
          <a:xfrm>
            <a:off x="594418" y="366545"/>
            <a:ext cx="4010276" cy="2096428"/>
          </a:xfrm>
          <a:prstGeom prst="rect">
            <a:avLst/>
          </a:prstGeom>
        </p:spPr>
        <p:txBody>
          <a:bodyPr lIns="0" tIns="0" rIns="0" bIns="0" rtlCol="0" anchor="t">
            <a:spAutoFit/>
          </a:bodyPr>
          <a:lstStyle/>
          <a:p>
            <a:pPr algn="l">
              <a:lnSpc>
                <a:spcPts val="13306"/>
              </a:lnSpc>
            </a:pPr>
            <a:r>
              <a:rPr lang="en-US" sz="13306" b="1" spc="129">
                <a:solidFill>
                  <a:srgbClr val="3C3B56">
                    <a:alpha val="84706"/>
                  </a:srgbClr>
                </a:solidFill>
                <a:latin typeface="Heading Now 31-38 Bold"/>
                <a:ea typeface="Heading Now 31-38 Bold"/>
                <a:cs typeface="Heading Now 31-38 Bold"/>
                <a:sym typeface="Heading Now 31-38 Bold"/>
              </a:rPr>
              <a:t>VORTEXA</a:t>
            </a:r>
          </a:p>
        </p:txBody>
      </p:sp>
      <p:sp>
        <p:nvSpPr>
          <p:cNvPr id="9" name="TextBox 9"/>
          <p:cNvSpPr txBox="1"/>
          <p:nvPr/>
        </p:nvSpPr>
        <p:spPr>
          <a:xfrm>
            <a:off x="4686268" y="366545"/>
            <a:ext cx="1413653" cy="2096428"/>
          </a:xfrm>
          <a:prstGeom prst="rect">
            <a:avLst/>
          </a:prstGeom>
        </p:spPr>
        <p:txBody>
          <a:bodyPr lIns="0" tIns="0" rIns="0" bIns="0" rtlCol="0" anchor="t">
            <a:spAutoFit/>
          </a:bodyPr>
          <a:lstStyle/>
          <a:p>
            <a:pPr algn="l">
              <a:lnSpc>
                <a:spcPts val="13306"/>
              </a:lnSpc>
            </a:pPr>
            <a:r>
              <a:rPr lang="en-US" sz="13306" b="1" spc="129">
                <a:solidFill>
                  <a:srgbClr val="7F5E87"/>
                </a:solidFill>
                <a:latin typeface="Heading Now 31-38 Bold"/>
                <a:ea typeface="Heading Now 31-38 Bold"/>
                <a:cs typeface="Heading Now 31-38 Bold"/>
                <a:sym typeface="Heading Now 31-38 Bold"/>
              </a:rPr>
              <a:t>3.0</a:t>
            </a:r>
          </a:p>
        </p:txBody>
      </p:sp>
      <p:sp>
        <p:nvSpPr>
          <p:cNvPr id="10" name="Freeform 10"/>
          <p:cNvSpPr/>
          <p:nvPr/>
        </p:nvSpPr>
        <p:spPr>
          <a:xfrm>
            <a:off x="427876" y="2201546"/>
            <a:ext cx="5496285" cy="239623"/>
          </a:xfrm>
          <a:custGeom>
            <a:avLst/>
            <a:gdLst/>
            <a:ahLst/>
            <a:cxnLst/>
            <a:rect l="l" t="t" r="r" b="b"/>
            <a:pathLst>
              <a:path w="5496285" h="239623">
                <a:moveTo>
                  <a:pt x="0" y="0"/>
                </a:moveTo>
                <a:lnTo>
                  <a:pt x="5496285" y="0"/>
                </a:lnTo>
                <a:lnTo>
                  <a:pt x="5496285" y="239623"/>
                </a:lnTo>
                <a:lnTo>
                  <a:pt x="0" y="239623"/>
                </a:lnTo>
                <a:lnTo>
                  <a:pt x="0" y="0"/>
                </a:lnTo>
                <a:close/>
              </a:path>
            </a:pathLst>
          </a:custGeom>
          <a:blipFill>
            <a:blip r:embed="rId4"/>
            <a:stretch>
              <a:fillRect/>
            </a:stretch>
          </a:blipFill>
        </p:spPr>
      </p:sp>
      <p:sp>
        <p:nvSpPr>
          <p:cNvPr id="11" name="TextBox 11"/>
          <p:cNvSpPr txBox="1"/>
          <p:nvPr/>
        </p:nvSpPr>
        <p:spPr>
          <a:xfrm>
            <a:off x="6181496" y="1747988"/>
            <a:ext cx="2453149" cy="573369"/>
          </a:xfrm>
          <a:prstGeom prst="rect">
            <a:avLst/>
          </a:prstGeom>
        </p:spPr>
        <p:txBody>
          <a:bodyPr lIns="0" tIns="0" rIns="0" bIns="0" rtlCol="0" anchor="t">
            <a:spAutoFit/>
          </a:bodyPr>
          <a:lstStyle/>
          <a:p>
            <a:pPr algn="l">
              <a:lnSpc>
                <a:spcPts val="3608"/>
              </a:lnSpc>
            </a:pPr>
            <a:r>
              <a:rPr lang="en-US" sz="3608" b="1" spc="89">
                <a:solidFill>
                  <a:srgbClr val="3F3F3F"/>
                </a:solidFill>
                <a:latin typeface="Heading Now 31-38 Bold"/>
                <a:ea typeface="Heading Now 31-38 Bold"/>
                <a:cs typeface="Heading Now 31-38 Bold"/>
                <a:sym typeface="Heading Now 31-38 Bold"/>
              </a:rPr>
              <a:t>12 HRS HACKATHON</a:t>
            </a:r>
          </a:p>
        </p:txBody>
      </p:sp>
      <p:sp>
        <p:nvSpPr>
          <p:cNvPr id="12" name="TextBox 12"/>
          <p:cNvSpPr txBox="1"/>
          <p:nvPr/>
        </p:nvSpPr>
        <p:spPr>
          <a:xfrm>
            <a:off x="736677" y="2531879"/>
            <a:ext cx="2119254" cy="431089"/>
          </a:xfrm>
          <a:prstGeom prst="rect">
            <a:avLst/>
          </a:prstGeom>
        </p:spPr>
        <p:txBody>
          <a:bodyPr lIns="0" tIns="0" rIns="0" bIns="0" rtlCol="0" anchor="t">
            <a:spAutoFit/>
          </a:bodyPr>
          <a:lstStyle/>
          <a:p>
            <a:pPr algn="l">
              <a:lnSpc>
                <a:spcPts val="2721"/>
              </a:lnSpc>
            </a:pPr>
            <a:r>
              <a:rPr lang="en-US" sz="2721" b="1" spc="67">
                <a:solidFill>
                  <a:srgbClr val="161F3E"/>
                </a:solidFill>
                <a:latin typeface="Heading Now 31-38 Bold"/>
                <a:ea typeface="Heading Now 31-38 Bold"/>
                <a:cs typeface="Heading Now 31-38 Bold"/>
                <a:sym typeface="Heading Now 31-38 Bold"/>
              </a:rPr>
              <a:t>POWERED BY </a:t>
            </a:r>
            <a:r>
              <a:rPr lang="en-US" sz="2721" b="1" spc="67">
                <a:solidFill>
                  <a:srgbClr val="4E4A76"/>
                </a:solidFill>
                <a:latin typeface="Heading Now 31-38 Bold"/>
                <a:ea typeface="Heading Now 31-38 Bold"/>
                <a:cs typeface="Heading Now 31-38 Bold"/>
                <a:sym typeface="Heading Now 31-38 Bold"/>
              </a:rPr>
              <a:t>A.I.R.S</a:t>
            </a:r>
          </a:p>
        </p:txBody>
      </p:sp>
      <p:sp>
        <p:nvSpPr>
          <p:cNvPr id="13" name="Freeform 13"/>
          <p:cNvSpPr/>
          <p:nvPr/>
        </p:nvSpPr>
        <p:spPr>
          <a:xfrm>
            <a:off x="0" y="-303755"/>
            <a:ext cx="1750048" cy="10607152"/>
          </a:xfrm>
          <a:custGeom>
            <a:avLst/>
            <a:gdLst/>
            <a:ahLst/>
            <a:cxnLst/>
            <a:rect l="l" t="t" r="r" b="b"/>
            <a:pathLst>
              <a:path w="1750048" h="10607152">
                <a:moveTo>
                  <a:pt x="0" y="0"/>
                </a:moveTo>
                <a:lnTo>
                  <a:pt x="1750048" y="0"/>
                </a:lnTo>
                <a:lnTo>
                  <a:pt x="1750048" y="10607153"/>
                </a:lnTo>
                <a:lnTo>
                  <a:pt x="0" y="10607153"/>
                </a:lnTo>
                <a:lnTo>
                  <a:pt x="0" y="0"/>
                </a:lnTo>
                <a:close/>
              </a:path>
            </a:pathLst>
          </a:custGeom>
          <a:blipFill>
            <a:blip r:embed="rId5"/>
            <a:stretch>
              <a:fillRect l="-3785" r="-3785"/>
            </a:stretch>
          </a:blipFill>
        </p:spPr>
      </p:sp>
      <p:sp>
        <p:nvSpPr>
          <p:cNvPr id="14" name="Freeform 14"/>
          <p:cNvSpPr/>
          <p:nvPr/>
        </p:nvSpPr>
        <p:spPr>
          <a:xfrm>
            <a:off x="14361330" y="6635716"/>
            <a:ext cx="1750048" cy="1727254"/>
          </a:xfrm>
          <a:custGeom>
            <a:avLst/>
            <a:gdLst/>
            <a:ahLst/>
            <a:cxnLst/>
            <a:rect l="l" t="t" r="r" b="b"/>
            <a:pathLst>
              <a:path w="1750048" h="1727254">
                <a:moveTo>
                  <a:pt x="0" y="0"/>
                </a:moveTo>
                <a:lnTo>
                  <a:pt x="1750048" y="0"/>
                </a:lnTo>
                <a:lnTo>
                  <a:pt x="1750048" y="1727254"/>
                </a:lnTo>
                <a:lnTo>
                  <a:pt x="0" y="1727254"/>
                </a:lnTo>
                <a:lnTo>
                  <a:pt x="0" y="0"/>
                </a:lnTo>
                <a:close/>
              </a:path>
            </a:pathLst>
          </a:custGeom>
          <a:blipFill>
            <a:blip r:embed="rId6"/>
            <a:stretch>
              <a:fillRect/>
            </a:stretch>
          </a:blipFill>
        </p:spPr>
      </p:sp>
      <p:sp>
        <p:nvSpPr>
          <p:cNvPr id="15" name="Freeform 15"/>
          <p:cNvSpPr/>
          <p:nvPr/>
        </p:nvSpPr>
        <p:spPr>
          <a:xfrm>
            <a:off x="12739803" y="7046873"/>
            <a:ext cx="5548197" cy="3256525"/>
          </a:xfrm>
          <a:custGeom>
            <a:avLst/>
            <a:gdLst/>
            <a:ahLst/>
            <a:cxnLst/>
            <a:rect l="l" t="t" r="r" b="b"/>
            <a:pathLst>
              <a:path w="5548197" h="3256525">
                <a:moveTo>
                  <a:pt x="0" y="0"/>
                </a:moveTo>
                <a:lnTo>
                  <a:pt x="5548197" y="0"/>
                </a:lnTo>
                <a:lnTo>
                  <a:pt x="5548197" y="3256525"/>
                </a:lnTo>
                <a:lnTo>
                  <a:pt x="0" y="3256525"/>
                </a:lnTo>
                <a:lnTo>
                  <a:pt x="0" y="0"/>
                </a:lnTo>
                <a:close/>
              </a:path>
            </a:pathLst>
          </a:custGeom>
          <a:blipFill>
            <a:blip r:embed="rId7"/>
            <a:stretch>
              <a:fillRect t="-9154" b="-3059"/>
            </a:stretch>
          </a:blipFill>
        </p:spPr>
      </p:sp>
      <p:sp>
        <p:nvSpPr>
          <p:cNvPr id="16" name="Freeform 16"/>
          <p:cNvSpPr/>
          <p:nvPr/>
        </p:nvSpPr>
        <p:spPr>
          <a:xfrm>
            <a:off x="16975464" y="5455062"/>
            <a:ext cx="1312536" cy="4088563"/>
          </a:xfrm>
          <a:custGeom>
            <a:avLst/>
            <a:gdLst/>
            <a:ahLst/>
            <a:cxnLst/>
            <a:rect l="l" t="t" r="r" b="b"/>
            <a:pathLst>
              <a:path w="1312536" h="4088563">
                <a:moveTo>
                  <a:pt x="0" y="0"/>
                </a:moveTo>
                <a:lnTo>
                  <a:pt x="1312536" y="0"/>
                </a:lnTo>
                <a:lnTo>
                  <a:pt x="1312536" y="4088563"/>
                </a:lnTo>
                <a:lnTo>
                  <a:pt x="0" y="4088563"/>
                </a:lnTo>
                <a:lnTo>
                  <a:pt x="0" y="0"/>
                </a:lnTo>
                <a:close/>
              </a:path>
            </a:pathLst>
          </a:custGeom>
          <a:blipFill>
            <a:blip r:embed="rId8"/>
            <a:stretch>
              <a:fillRect/>
            </a:stretch>
          </a:blipFill>
        </p:spPr>
      </p:sp>
      <p:sp>
        <p:nvSpPr>
          <p:cNvPr id="17" name="Freeform 17"/>
          <p:cNvSpPr/>
          <p:nvPr/>
        </p:nvSpPr>
        <p:spPr>
          <a:xfrm>
            <a:off x="16706941" y="7046873"/>
            <a:ext cx="1104718" cy="2372241"/>
          </a:xfrm>
          <a:custGeom>
            <a:avLst/>
            <a:gdLst/>
            <a:ahLst/>
            <a:cxnLst/>
            <a:rect l="l" t="t" r="r" b="b"/>
            <a:pathLst>
              <a:path w="1104718" h="2372241">
                <a:moveTo>
                  <a:pt x="0" y="0"/>
                </a:moveTo>
                <a:lnTo>
                  <a:pt x="1104718" y="0"/>
                </a:lnTo>
                <a:lnTo>
                  <a:pt x="1104718" y="2372241"/>
                </a:lnTo>
                <a:lnTo>
                  <a:pt x="0" y="2372241"/>
                </a:lnTo>
                <a:lnTo>
                  <a:pt x="0" y="0"/>
                </a:lnTo>
                <a:close/>
              </a:path>
            </a:pathLst>
          </a:custGeom>
          <a:blipFill>
            <a:blip r:embed="rId9"/>
            <a:stretch>
              <a:fillRect/>
            </a:stretch>
          </a:blipFill>
        </p:spPr>
      </p:sp>
      <p:sp>
        <p:nvSpPr>
          <p:cNvPr id="18" name="Freeform 18"/>
          <p:cNvSpPr/>
          <p:nvPr/>
        </p:nvSpPr>
        <p:spPr>
          <a:xfrm>
            <a:off x="14727951" y="2550929"/>
            <a:ext cx="3560049" cy="1756785"/>
          </a:xfrm>
          <a:custGeom>
            <a:avLst/>
            <a:gdLst/>
            <a:ahLst/>
            <a:cxnLst/>
            <a:rect l="l" t="t" r="r" b="b"/>
            <a:pathLst>
              <a:path w="3560049" h="1756785">
                <a:moveTo>
                  <a:pt x="0" y="0"/>
                </a:moveTo>
                <a:lnTo>
                  <a:pt x="3560049" y="0"/>
                </a:lnTo>
                <a:lnTo>
                  <a:pt x="3560049" y="1756784"/>
                </a:lnTo>
                <a:lnTo>
                  <a:pt x="0" y="1756784"/>
                </a:lnTo>
                <a:lnTo>
                  <a:pt x="0" y="0"/>
                </a:lnTo>
                <a:close/>
              </a:path>
            </a:pathLst>
          </a:custGeom>
          <a:blipFill>
            <a:blip r:embed="rId10">
              <a:alphaModFix amt="57000"/>
            </a:blip>
            <a:stretch>
              <a:fillRect/>
            </a:stretch>
          </a:blipFill>
        </p:spPr>
      </p:sp>
      <p:sp>
        <p:nvSpPr>
          <p:cNvPr id="6" name="Team Leader"/>
          <p:cNvSpPr txBox="1"/>
          <p:nvPr/>
        </p:nvSpPr>
        <p:spPr>
          <a:xfrm>
            <a:off x="736677" y="8001000"/>
            <a:ext cx="12801600" cy="777240"/>
          </a:xfrm>
          <a:prstGeom prst="rect">
            <a:avLst/>
          </a:prstGeom>
        </p:spPr>
        <p:txBody>
          <a:bodyPr lIns="0" tIns="0" rIns="0" bIns="0" rtlCol="0" anchor="t" wrap="none">
            <a:spAutoFit/>
          </a:bodyPr>
          <a:lstStyle/>
          <a:p>
            <a:pPr algn="l">
              <a:lnSpc>
                <a:spcPts val="4472"/>
              </a:lnSpc>
            </a:pPr>
            <a:r>
              <a:rPr lang="en-US" sz="4472" b="1" spc="43">
                <a:solidFill>
                  <a:srgbClr val="4E4A76"/>
                </a:solidFill>
                <a:latin typeface="Heading Now 31-38 Bold"/>
                <a:ea typeface="Heading Now 31-38 Bold"/>
                <a:cs typeface="Heading Now 31-38 Bold"/>
                <a:sym typeface="Heading Now 31-38 Bold"/>
              </a:rPr>
              <a:t>TEAM LEADER :</a:t>
            </a:r>
            <a:r>
              <a:rPr sz="4472">
                <a:solidFill>
                  <a:srgbClr val="161F3E"/>
                </a:solidFill>
                <a:latin typeface="Heading Now 31-38"/>
              </a:rPr>
              <a:t> Omkar Rane</a:t>
            </a:r>
          </a:p>
        </p:txBody>
      </p:sp>
      <p:sp>
        <p:nvSpPr>
          <p:cNvPr id="6" name="Team Members"/>
          <p:cNvSpPr txBox="1"/>
          <p:nvPr/>
        </p:nvSpPr>
        <p:spPr>
          <a:xfrm>
            <a:off x="736677" y="8869680"/>
            <a:ext cx="12801600" cy="777240"/>
          </a:xfrm>
          <a:prstGeom prst="rect">
            <a:avLst/>
          </a:prstGeom>
        </p:spPr>
        <p:txBody>
          <a:bodyPr lIns="0" tIns="0" rIns="0" bIns="0" rtlCol="0" anchor="t" wrap="none">
            <a:spAutoFit/>
          </a:bodyPr>
          <a:lstStyle/>
          <a:p>
            <a:pPr algn="l">
              <a:lnSpc>
                <a:spcPts val="4472"/>
              </a:lnSpc>
            </a:pPr>
            <a:r>
              <a:rPr lang="en-US" sz="4472" b="1" spc="43">
                <a:solidFill>
                  <a:srgbClr val="4E4A76"/>
                </a:solidFill>
                <a:latin typeface="Heading Now 31-38 Bold"/>
                <a:ea typeface="Heading Now 31-38 Bold"/>
                <a:cs typeface="Heading Now 31-38 Bold"/>
                <a:sym typeface="Heading Now 31-38 Bold"/>
              </a:rPr>
              <a:t>TEAM MEMBERS :</a:t>
            </a:r>
            <a:r>
              <a:rPr sz="4472">
                <a:solidFill>
                  <a:srgbClr val="161F3E"/>
                </a:solidFill>
                <a:latin typeface="Heading Now 31-38"/>
              </a:rPr>
              <a:t> Omkar Rane, Pranay Patil</a:t>
            </a:r>
          </a:p>
        </p:txBody>
      </p:sp>
      <p:pic>
        <p:nvPicPr>
          <p:cNvPr id="19" name="Picture 18" descr="brand.png"/>
          <p:cNvPicPr>
            <a:picLocks noChangeAspect="1"/>
          </p:cNvPicPr>
          <p:nvPr/>
        </p:nvPicPr>
        <p:blipFill>
          <a:blip r:embed="rId11"/>
          <a:stretch>
            <a:fillRect/>
          </a:stretch>
        </p:blipFill>
        <p:spPr>
          <a:xfrm>
            <a:off x="10058400" y="6309360"/>
            <a:ext cx="1371600" cy="1371600"/>
          </a:xfrm>
          <a:prstGeom prst="rect">
            <a:avLst/>
          </a:prstGeom>
        </p:spPr>
      </p:pic>
      <p:sp>
        <p:nvSpPr>
          <p:cNvPr id="20" name="TextBox 19"/>
          <p:cNvSpPr txBox="1"/>
          <p:nvPr/>
        </p:nvSpPr>
        <p:spPr>
          <a:xfrm>
            <a:off x="11658600" y="6263640"/>
            <a:ext cx="4572000" cy="822960"/>
          </a:xfrm>
          <a:prstGeom prst="rect">
            <a:avLst/>
          </a:prstGeom>
          <a:noFill/>
        </p:spPr>
        <p:txBody>
          <a:bodyPr wrap="square" lIns="0" rIns="0" tIns="0" bIns="0" anchor="t">
            <a:noAutofit/>
          </a:bodyPr>
          <a:lstStyle/>
          <a:p>
            <a:pPr algn="l">
              <a:lnSpc>
                <a:spcPct val="100000"/>
              </a:lnSpc>
              <a:spcAft>
                <a:spcPts val="0"/>
              </a:spcAft>
            </a:pPr>
            <a:r>
              <a:rPr sz="6609" b="1">
                <a:solidFill>
                  <a:srgbClr val="172243"/>
                </a:solidFill>
                <a:latin typeface="Heading Now 31-38 Bold"/>
              </a:rPr>
              <a:t>SEALSTONE</a:t>
            </a:r>
          </a:p>
        </p:txBody>
      </p:sp>
      <p:sp>
        <p:nvSpPr>
          <p:cNvPr id="21" name="TextBox 20"/>
          <p:cNvSpPr txBox="1"/>
          <p:nvPr/>
        </p:nvSpPr>
        <p:spPr>
          <a:xfrm>
            <a:off x="11658600" y="7086600"/>
            <a:ext cx="4572000" cy="548640"/>
          </a:xfrm>
          <a:prstGeom prst="rect">
            <a:avLst/>
          </a:prstGeom>
          <a:noFill/>
        </p:spPr>
        <p:txBody>
          <a:bodyPr wrap="square" lIns="0" rIns="0" tIns="0" bIns="0" anchor="t">
            <a:noAutofit/>
          </a:bodyPr>
          <a:lstStyle/>
          <a:p>
            <a:pPr algn="l">
              <a:lnSpc>
                <a:spcPct val="100000"/>
              </a:lnSpc>
              <a:spcAft>
                <a:spcPts val="0"/>
              </a:spcAft>
            </a:pPr>
            <a:r>
              <a:rPr sz="2400" i="1">
                <a:solidFill>
                  <a:srgbClr val="4E4A76"/>
                </a:solidFill>
                <a:latin typeface="Georgia"/>
              </a:rPr>
              <a:t>Escrow that can't be tricked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479517"/>
            <a:chOff x="0" y="0"/>
            <a:chExt cx="24384000" cy="13972689"/>
          </a:xfrm>
        </p:grpSpPr>
        <p:sp>
          <p:nvSpPr>
            <p:cNvPr id="4" name="Freeform 4"/>
            <p:cNvSpPr/>
            <p:nvPr/>
          </p:nvSpPr>
          <p:spPr>
            <a:xfrm>
              <a:off x="0" y="0"/>
              <a:ext cx="2333397" cy="13147537"/>
            </a:xfrm>
            <a:custGeom>
              <a:avLst/>
              <a:gdLst/>
              <a:ahLst/>
              <a:cxnLst/>
              <a:rect l="l" t="t" r="r" b="b"/>
              <a:pathLst>
                <a:path w="2333397" h="13147537">
                  <a:moveTo>
                    <a:pt x="0" y="0"/>
                  </a:moveTo>
                  <a:lnTo>
                    <a:pt x="2333397" y="0"/>
                  </a:lnTo>
                  <a:lnTo>
                    <a:pt x="2333397" y="13147537"/>
                  </a:lnTo>
                  <a:lnTo>
                    <a:pt x="0" y="13147537"/>
                  </a:lnTo>
                  <a:lnTo>
                    <a:pt x="0" y="0"/>
                  </a:lnTo>
                  <a:close/>
                </a:path>
              </a:pathLst>
            </a:custGeom>
            <a:blipFill>
              <a:blip r:embed="rId3"/>
              <a:stretch>
                <a:fillRect/>
              </a:stretch>
            </a:blipFill>
          </p:spPr>
        </p:sp>
        <p:sp>
          <p:nvSpPr>
            <p:cNvPr id="5" name="Freeform 5"/>
            <p:cNvSpPr/>
            <p:nvPr/>
          </p:nvSpPr>
          <p:spPr>
            <a:xfrm>
              <a:off x="19148440" y="8847622"/>
              <a:ext cx="2333397" cy="2303005"/>
            </a:xfrm>
            <a:custGeom>
              <a:avLst/>
              <a:gdLst/>
              <a:ahLst/>
              <a:cxnLst/>
              <a:rect l="l" t="t" r="r" b="b"/>
              <a:pathLst>
                <a:path w="2333397" h="2303005">
                  <a:moveTo>
                    <a:pt x="0" y="0"/>
                  </a:moveTo>
                  <a:lnTo>
                    <a:pt x="2333397" y="0"/>
                  </a:lnTo>
                  <a:lnTo>
                    <a:pt x="2333397" y="2303005"/>
                  </a:lnTo>
                  <a:lnTo>
                    <a:pt x="0" y="2303005"/>
                  </a:lnTo>
                  <a:lnTo>
                    <a:pt x="0" y="0"/>
                  </a:lnTo>
                  <a:close/>
                </a:path>
              </a:pathLst>
            </a:custGeom>
            <a:blipFill>
              <a:blip r:embed="rId4"/>
              <a:stretch>
                <a:fillRect/>
              </a:stretch>
            </a:blipFill>
          </p:spPr>
        </p:sp>
        <p:sp>
          <p:nvSpPr>
            <p:cNvPr id="6" name="Freeform 6"/>
            <p:cNvSpPr/>
            <p:nvPr/>
          </p:nvSpPr>
          <p:spPr>
            <a:xfrm>
              <a:off x="17412976" y="9395831"/>
              <a:ext cx="6971024" cy="4342033"/>
            </a:xfrm>
            <a:custGeom>
              <a:avLst/>
              <a:gdLst/>
              <a:ahLst/>
              <a:cxnLst/>
              <a:rect l="l" t="t" r="r" b="b"/>
              <a:pathLst>
                <a:path w="6971024" h="4342033">
                  <a:moveTo>
                    <a:pt x="0" y="0"/>
                  </a:moveTo>
                  <a:lnTo>
                    <a:pt x="6971024" y="0"/>
                  </a:lnTo>
                  <a:lnTo>
                    <a:pt x="6971024" y="4342033"/>
                  </a:lnTo>
                  <a:lnTo>
                    <a:pt x="0" y="4342033"/>
                  </a:lnTo>
                  <a:lnTo>
                    <a:pt x="0" y="0"/>
                  </a:lnTo>
                  <a:close/>
                </a:path>
              </a:pathLst>
            </a:custGeom>
            <a:blipFill>
              <a:blip r:embed="rId5"/>
              <a:stretch>
                <a:fillRect t="-5743"/>
              </a:stretch>
            </a:blipFill>
          </p:spPr>
        </p:sp>
        <p:sp>
          <p:nvSpPr>
            <p:cNvPr id="7" name="Freeform 7"/>
            <p:cNvSpPr/>
            <p:nvPr/>
          </p:nvSpPr>
          <p:spPr>
            <a:xfrm>
              <a:off x="0" y="9395831"/>
              <a:ext cx="1750048" cy="4576859"/>
            </a:xfrm>
            <a:custGeom>
              <a:avLst/>
              <a:gdLst/>
              <a:ahLst/>
              <a:cxnLst/>
              <a:rect l="l" t="t" r="r" b="b"/>
              <a:pathLst>
                <a:path w="1750048" h="4576859">
                  <a:moveTo>
                    <a:pt x="0" y="0"/>
                  </a:moveTo>
                  <a:lnTo>
                    <a:pt x="1750048" y="0"/>
                  </a:lnTo>
                  <a:lnTo>
                    <a:pt x="1750048" y="4576858"/>
                  </a:lnTo>
                  <a:lnTo>
                    <a:pt x="0" y="4576858"/>
                  </a:lnTo>
                  <a:lnTo>
                    <a:pt x="0" y="0"/>
                  </a:lnTo>
                  <a:close/>
                </a:path>
              </a:pathLst>
            </a:custGeom>
            <a:blipFill>
              <a:blip r:embed="rId6"/>
              <a:stretch>
                <a:fillRect/>
              </a:stretch>
            </a:blipFill>
          </p:spPr>
        </p:sp>
        <p:sp>
          <p:nvSpPr>
            <p:cNvPr id="8" name="Freeform 8"/>
            <p:cNvSpPr/>
            <p:nvPr/>
          </p:nvSpPr>
          <p:spPr>
            <a:xfrm>
              <a:off x="22633952" y="7273416"/>
              <a:ext cx="1750048" cy="5451418"/>
            </a:xfrm>
            <a:custGeom>
              <a:avLst/>
              <a:gdLst/>
              <a:ahLst/>
              <a:cxnLst/>
              <a:rect l="l" t="t" r="r" b="b"/>
              <a:pathLst>
                <a:path w="1750048" h="5451418">
                  <a:moveTo>
                    <a:pt x="0" y="0"/>
                  </a:moveTo>
                  <a:lnTo>
                    <a:pt x="1750048" y="0"/>
                  </a:lnTo>
                  <a:lnTo>
                    <a:pt x="1750048" y="5451417"/>
                  </a:lnTo>
                  <a:lnTo>
                    <a:pt x="0" y="5451417"/>
                  </a:lnTo>
                  <a:lnTo>
                    <a:pt x="0" y="0"/>
                  </a:lnTo>
                  <a:close/>
                </a:path>
              </a:pathLst>
            </a:custGeom>
            <a:blipFill>
              <a:blip r:embed="rId7"/>
              <a:stretch>
                <a:fillRect/>
              </a:stretch>
            </a:blipFill>
          </p:spPr>
        </p:sp>
        <p:sp>
          <p:nvSpPr>
            <p:cNvPr id="9" name="Freeform 9"/>
            <p:cNvSpPr/>
            <p:nvPr/>
          </p:nvSpPr>
          <p:spPr>
            <a:xfrm>
              <a:off x="22275922" y="9395831"/>
              <a:ext cx="1472957" cy="3162988"/>
            </a:xfrm>
            <a:custGeom>
              <a:avLst/>
              <a:gdLst/>
              <a:ahLst/>
              <a:cxnLst/>
              <a:rect l="l" t="t" r="r" b="b"/>
              <a:pathLst>
                <a:path w="1472957" h="3162988">
                  <a:moveTo>
                    <a:pt x="0" y="0"/>
                  </a:moveTo>
                  <a:lnTo>
                    <a:pt x="1472956" y="0"/>
                  </a:lnTo>
                  <a:lnTo>
                    <a:pt x="1472956" y="3162988"/>
                  </a:lnTo>
                  <a:lnTo>
                    <a:pt x="0" y="3162988"/>
                  </a:lnTo>
                  <a:lnTo>
                    <a:pt x="0" y="0"/>
                  </a:lnTo>
                  <a:close/>
                </a:path>
              </a:pathLst>
            </a:custGeom>
            <a:blipFill>
              <a:blip r:embed="rId8"/>
              <a:stretch>
                <a:fillRect/>
              </a:stretch>
            </a:blipFill>
          </p:spPr>
        </p:sp>
      </p:grpSp>
      <p:sp>
        <p:nvSpPr>
          <p:cNvPr id="10" name="TextBox 10"/>
          <p:cNvSpPr txBox="1"/>
          <p:nvPr/>
        </p:nvSpPr>
        <p:spPr>
          <a:xfrm>
            <a:off x="338328" y="146304"/>
            <a:ext cx="14630400" cy="1200150"/>
          </a:xfrm>
          <a:prstGeom prst="rect">
            <a:avLst/>
          </a:prstGeom>
        </p:spPr>
        <p:txBody>
          <a:bodyPr lIns="0" tIns="0" rIns="0" bIns="0" rtlCol="0" anchor="t">
            <a:spAutoFit/>
          </a:bodyPr>
          <a:lstStyle/>
          <a:p>
            <a:pPr algn="l">
              <a:lnSpc>
                <a:spcPts val="7500"/>
              </a:lnSpc>
            </a:pPr>
            <a:r>
              <a:rPr lang="en-US" sz="7500" b="1" spc="150">
                <a:solidFill>
                  <a:srgbClr val="172243"/>
                </a:solidFill>
                <a:latin typeface="Heading Now 31-38 Bold"/>
                <a:ea typeface="Heading Now 31-38 Bold"/>
                <a:cs typeface="Heading Now 31-38 Bold"/>
                <a:sym typeface="Heading Now 31-38 Bold"/>
              </a:rPr>
              <a:t>PROBLEM STATEMENT</a:t>
            </a:r>
          </a:p>
        </p:txBody>
      </p:sp>
      <p:sp>
        <p:nvSpPr>
          <p:cNvPr id="11" name="Freeform 11"/>
          <p:cNvSpPr/>
          <p:nvPr/>
        </p:nvSpPr>
        <p:spPr>
          <a:xfrm>
            <a:off x="255295" y="1188720"/>
            <a:ext cx="5606186" cy="535667"/>
          </a:xfrm>
          <a:custGeom>
            <a:avLst/>
            <a:gdLst/>
            <a:ahLst/>
            <a:cxnLst/>
            <a:rect l="l" t="t" r="r" b="b"/>
            <a:pathLst>
              <a:path w="5020450" h="535667">
                <a:moveTo>
                  <a:pt x="0" y="0"/>
                </a:moveTo>
                <a:lnTo>
                  <a:pt x="5020450" y="0"/>
                </a:lnTo>
                <a:lnTo>
                  <a:pt x="5020450" y="535667"/>
                </a:lnTo>
                <a:lnTo>
                  <a:pt x="0" y="535667"/>
                </a:lnTo>
                <a:lnTo>
                  <a:pt x="0" y="0"/>
                </a:lnTo>
                <a:close/>
              </a:path>
            </a:pathLst>
          </a:custGeom>
          <a:blipFill>
            <a:blip r:embed="rId9"/>
            <a:stretch>
              <a:fillRect l="-11250" r="-11250"/>
            </a:stretch>
          </a:blipFill>
        </p:spPr>
      </p:sp>
      <p:sp>
        <p:nvSpPr>
          <p:cNvPr id="12" name="Freeform 12"/>
          <p:cNvSpPr/>
          <p:nvPr/>
        </p:nvSpPr>
        <p:spPr>
          <a:xfrm>
            <a:off x="16178937" y="216170"/>
            <a:ext cx="2160727" cy="2160727"/>
          </a:xfrm>
          <a:custGeom>
            <a:avLst/>
            <a:gdLst/>
            <a:ahLst/>
            <a:cxnLst/>
            <a:rect l="l" t="t" r="r" b="b"/>
            <a:pathLst>
              <a:path w="2160727" h="2160727">
                <a:moveTo>
                  <a:pt x="0" y="0"/>
                </a:moveTo>
                <a:lnTo>
                  <a:pt x="2160726" y="0"/>
                </a:lnTo>
                <a:lnTo>
                  <a:pt x="2160726" y="2160727"/>
                </a:lnTo>
                <a:lnTo>
                  <a:pt x="0" y="2160727"/>
                </a:lnTo>
                <a:lnTo>
                  <a:pt x="0" y="0"/>
                </a:lnTo>
                <a:close/>
              </a:path>
            </a:pathLst>
          </a:custGeom>
          <a:blipFill>
            <a:blip r:embed="rId10"/>
            <a:stretch>
              <a:fillRect/>
            </a:stretch>
          </a:blipFill>
        </p:spPr>
      </p:sp>
      <p:sp>
        <p:nvSpPr>
          <p:cNvPr id="13" name="Freeform 13"/>
          <p:cNvSpPr/>
          <p:nvPr/>
        </p:nvSpPr>
        <p:spPr>
          <a:xfrm>
            <a:off x="13923818" y="2160727"/>
            <a:ext cx="4364182" cy="2153601"/>
          </a:xfrm>
          <a:custGeom>
            <a:avLst/>
            <a:gdLst/>
            <a:ahLst/>
            <a:cxnLst/>
            <a:rect l="l" t="t" r="r" b="b"/>
            <a:pathLst>
              <a:path w="4364182" h="2153601">
                <a:moveTo>
                  <a:pt x="0" y="0"/>
                </a:moveTo>
                <a:lnTo>
                  <a:pt x="4364182" y="0"/>
                </a:lnTo>
                <a:lnTo>
                  <a:pt x="4364182" y="2153601"/>
                </a:lnTo>
                <a:lnTo>
                  <a:pt x="0" y="2153601"/>
                </a:lnTo>
                <a:lnTo>
                  <a:pt x="0" y="0"/>
                </a:lnTo>
                <a:close/>
              </a:path>
            </a:pathLst>
          </a:custGeom>
          <a:blipFill>
            <a:blip r:embed="rId11">
              <a:alphaModFix amt="68000"/>
            </a:blip>
            <a:stretch>
              <a:fillRect/>
            </a:stretch>
          </a:blipFill>
        </p:spPr>
      </p:sp>
      <p:sp>
        <p:nvSpPr>
          <p:cNvPr id="14" name="Claim"/>
          <p:cNvSpPr txBox="1"/>
          <p:nvPr/>
        </p:nvSpPr>
        <p:spPr>
          <a:xfrm>
            <a:off x="777240" y="1828800"/>
            <a:ext cx="15179040" cy="914400"/>
          </a:xfrm>
          <a:prstGeom prst="rect">
            <a:avLst/>
          </a:prstGeom>
          <a:noFill/>
        </p:spPr>
        <p:txBody>
          <a:bodyPr wrap="square" lIns="0" rIns="0" tIns="0" bIns="0" anchor="ctr">
            <a:noAutofit/>
          </a:bodyPr>
          <a:lstStyle/>
          <a:p>
            <a:pPr algn="l">
              <a:lnSpc>
                <a:spcPct val="100000"/>
              </a:lnSpc>
              <a:spcAft>
                <a:spcPts val="0"/>
              </a:spcAft>
            </a:pPr>
            <a:r>
              <a:rPr sz="4720" b="1">
                <a:solidFill>
                  <a:srgbClr val="172243"/>
                </a:solidFill>
                <a:latin typeface="Heading Now 31-38 Bold"/>
              </a:rPr>
              <a:t>Milestone escrow breaks in three ways, </a:t>
            </a:r>
            <a:r>
              <a:rPr sz="2879" i="1">
                <a:solidFill>
                  <a:srgbClr val="4E4A76"/>
                </a:solidFill>
                <a:latin typeface="Georgia"/>
              </a:rPr>
              <a:t>and most projects fix only one.</a:t>
            </a:r>
          </a:p>
        </p:txBody>
      </p:sp>
      <p:sp>
        <p:nvSpPr>
          <p:cNvPr id="15" name="Rounded Rectangle 14"/>
          <p:cNvSpPr/>
          <p:nvPr/>
        </p:nvSpPr>
        <p:spPr>
          <a:xfrm>
            <a:off x="822960" y="2880360"/>
            <a:ext cx="4846320" cy="4343400"/>
          </a:xfrm>
          <a:prstGeom prst="roundRect">
            <a:avLst>
              <a:gd name="adj" fmla="val 2947"/>
            </a:avLst>
          </a:prstGeom>
          <a:solidFill>
            <a:srgbClr val="FFFFFF"/>
          </a:solidFill>
          <a:ln w="19050">
            <a:solidFill>
              <a:srgbClr val="E6DCE4"/>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097280" y="3154679"/>
            <a:ext cx="685800" cy="685800"/>
          </a:xfrm>
          <a:prstGeom prst="ellipse">
            <a:avLst/>
          </a:prstGeom>
          <a:solidFill>
            <a:srgbClr val="172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97280" y="3154679"/>
            <a:ext cx="685800" cy="685800"/>
          </a:xfrm>
          <a:prstGeom prst="rect">
            <a:avLst/>
          </a:prstGeom>
          <a:noFill/>
        </p:spPr>
        <p:txBody>
          <a:bodyPr wrap="square" lIns="0" rIns="0" tIns="0" bIns="0" anchor="ctr">
            <a:noAutofit/>
          </a:bodyPr>
          <a:lstStyle/>
          <a:p>
            <a:pPr algn="ctr">
              <a:lnSpc>
                <a:spcPct val="100000"/>
              </a:lnSpc>
              <a:spcAft>
                <a:spcPts val="0"/>
              </a:spcAft>
            </a:pPr>
            <a:r>
              <a:rPr sz="3070">
                <a:solidFill>
                  <a:srgbClr val="FFFFFF"/>
                </a:solidFill>
                <a:latin typeface="Heading Now 31-38 Bold"/>
              </a:rPr>
              <a:t>1</a:t>
            </a:r>
          </a:p>
        </p:txBody>
      </p:sp>
      <p:sp>
        <p:nvSpPr>
          <p:cNvPr id="18" name="TextBox 17"/>
          <p:cNvSpPr txBox="1"/>
          <p:nvPr/>
        </p:nvSpPr>
        <p:spPr>
          <a:xfrm>
            <a:off x="1965960" y="3136391"/>
            <a:ext cx="3474720" cy="731520"/>
          </a:xfrm>
          <a:prstGeom prst="rect">
            <a:avLst/>
          </a:prstGeom>
          <a:noFill/>
        </p:spPr>
        <p:txBody>
          <a:bodyPr wrap="square" lIns="0" rIns="0" tIns="0" bIns="0" anchor="ctr">
            <a:noAutofit/>
          </a:bodyPr>
          <a:lstStyle/>
          <a:p>
            <a:pPr algn="l">
              <a:lnSpc>
                <a:spcPct val="100000"/>
              </a:lnSpc>
              <a:spcAft>
                <a:spcPts val="0"/>
              </a:spcAft>
            </a:pPr>
            <a:r>
              <a:rPr sz="3540" b="1">
                <a:solidFill>
                  <a:srgbClr val="172243"/>
                </a:solidFill>
                <a:latin typeface="Heading Now 31-38 Bold"/>
              </a:rPr>
              <a:t>Ambiguous agreements</a:t>
            </a:r>
          </a:p>
        </p:txBody>
      </p:sp>
      <p:sp>
        <p:nvSpPr>
          <p:cNvPr id="19" name="TextBox 18"/>
          <p:cNvSpPr txBox="1"/>
          <p:nvPr/>
        </p:nvSpPr>
        <p:spPr>
          <a:xfrm>
            <a:off x="1097280" y="4069080"/>
            <a:ext cx="4297680" cy="1645920"/>
          </a:xfrm>
          <a:prstGeom prst="rect">
            <a:avLst/>
          </a:prstGeom>
          <a:noFill/>
        </p:spPr>
        <p:txBody>
          <a:bodyPr wrap="square" lIns="0" rIns="0" tIns="0" bIns="0" anchor="t">
            <a:noAutofit/>
          </a:bodyPr>
          <a:lstStyle/>
          <a:p>
            <a:pPr algn="l">
              <a:lnSpc>
                <a:spcPct val="100000"/>
              </a:lnSpc>
              <a:spcAft>
                <a:spcPts val="0"/>
              </a:spcAft>
            </a:pPr>
            <a:r>
              <a:rPr sz="2280">
                <a:solidFill>
                  <a:srgbClr val="161F3E"/>
                </a:solidFill>
                <a:latin typeface="Calibri"/>
              </a:rPr>
              <a:t>Agreements are written in prose. Vague terms hide disputes before any money moves.</a:t>
            </a:r>
          </a:p>
        </p:txBody>
      </p:sp>
      <p:sp>
        <p:nvSpPr>
          <p:cNvPr id="20" name="Rounded Rectangle 19"/>
          <p:cNvSpPr/>
          <p:nvPr/>
        </p:nvSpPr>
        <p:spPr>
          <a:xfrm>
            <a:off x="5989320" y="2880360"/>
            <a:ext cx="4846320" cy="4343400"/>
          </a:xfrm>
          <a:prstGeom prst="roundRect">
            <a:avLst>
              <a:gd name="adj" fmla="val 2947"/>
            </a:avLst>
          </a:prstGeom>
          <a:solidFill>
            <a:srgbClr val="FFFFFF"/>
          </a:solidFill>
          <a:ln w="19050">
            <a:solidFill>
              <a:srgbClr val="E6DCE4"/>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263640" y="3154679"/>
            <a:ext cx="685800" cy="685800"/>
          </a:xfrm>
          <a:prstGeom prst="ellipse">
            <a:avLst/>
          </a:prstGeom>
          <a:solidFill>
            <a:srgbClr val="172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263640" y="3154679"/>
            <a:ext cx="685800" cy="685800"/>
          </a:xfrm>
          <a:prstGeom prst="rect">
            <a:avLst/>
          </a:prstGeom>
          <a:noFill/>
        </p:spPr>
        <p:txBody>
          <a:bodyPr wrap="square" lIns="0" rIns="0" tIns="0" bIns="0" anchor="ctr">
            <a:noAutofit/>
          </a:bodyPr>
          <a:lstStyle/>
          <a:p>
            <a:pPr algn="ctr">
              <a:lnSpc>
                <a:spcPct val="100000"/>
              </a:lnSpc>
              <a:spcAft>
                <a:spcPts val="0"/>
              </a:spcAft>
            </a:pPr>
            <a:r>
              <a:rPr sz="3070">
                <a:solidFill>
                  <a:srgbClr val="FFFFFF"/>
                </a:solidFill>
                <a:latin typeface="Heading Now 31-38 Bold"/>
              </a:rPr>
              <a:t>2</a:t>
            </a:r>
          </a:p>
        </p:txBody>
      </p:sp>
      <p:sp>
        <p:nvSpPr>
          <p:cNvPr id="23" name="TextBox 22"/>
          <p:cNvSpPr txBox="1"/>
          <p:nvPr/>
        </p:nvSpPr>
        <p:spPr>
          <a:xfrm>
            <a:off x="7132320" y="3136391"/>
            <a:ext cx="3474720" cy="731520"/>
          </a:xfrm>
          <a:prstGeom prst="rect">
            <a:avLst/>
          </a:prstGeom>
          <a:noFill/>
        </p:spPr>
        <p:txBody>
          <a:bodyPr wrap="square" lIns="0" rIns="0" tIns="0" bIns="0" anchor="ctr">
            <a:noAutofit/>
          </a:bodyPr>
          <a:lstStyle/>
          <a:p>
            <a:pPr algn="l">
              <a:lnSpc>
                <a:spcPct val="100000"/>
              </a:lnSpc>
              <a:spcAft>
                <a:spcPts val="0"/>
              </a:spcAft>
            </a:pPr>
            <a:r>
              <a:rPr sz="3540" b="1">
                <a:solidFill>
                  <a:srgbClr val="172243"/>
                </a:solidFill>
                <a:latin typeface="Heading Now 31-38 Bold"/>
              </a:rPr>
              <a:t>Swapped deliverables</a:t>
            </a:r>
          </a:p>
        </p:txBody>
      </p:sp>
      <p:sp>
        <p:nvSpPr>
          <p:cNvPr id="24" name="TextBox 23"/>
          <p:cNvSpPr txBox="1"/>
          <p:nvPr/>
        </p:nvSpPr>
        <p:spPr>
          <a:xfrm>
            <a:off x="6263640" y="4069080"/>
            <a:ext cx="4297680" cy="1645920"/>
          </a:xfrm>
          <a:prstGeom prst="rect">
            <a:avLst/>
          </a:prstGeom>
          <a:noFill/>
        </p:spPr>
        <p:txBody>
          <a:bodyPr wrap="square" lIns="0" rIns="0" tIns="0" bIns="0" anchor="t">
            <a:noAutofit/>
          </a:bodyPr>
          <a:lstStyle/>
          <a:p>
            <a:pPr algn="l">
              <a:lnSpc>
                <a:spcPct val="100000"/>
              </a:lnSpc>
              <a:spcAft>
                <a:spcPts val="0"/>
              </a:spcAft>
            </a:pPr>
            <a:r>
              <a:rPr sz="2280">
                <a:solidFill>
                  <a:srgbClr val="161F3E"/>
                </a:solidFill>
                <a:latin typeface="Calibri"/>
              </a:rPr>
              <a:t>Approval isn't tied to a specific file, so what was reviewed can differ from what gets paid.</a:t>
            </a:r>
          </a:p>
        </p:txBody>
      </p:sp>
      <p:sp>
        <p:nvSpPr>
          <p:cNvPr id="25" name="Rounded Rectangle 24"/>
          <p:cNvSpPr/>
          <p:nvPr/>
        </p:nvSpPr>
        <p:spPr>
          <a:xfrm>
            <a:off x="11155680" y="2880360"/>
            <a:ext cx="4846320" cy="4343400"/>
          </a:xfrm>
          <a:prstGeom prst="roundRect">
            <a:avLst>
              <a:gd name="adj" fmla="val 2947"/>
            </a:avLst>
          </a:prstGeom>
          <a:solidFill>
            <a:srgbClr val="FFFFFF"/>
          </a:solidFill>
          <a:ln w="19050">
            <a:solidFill>
              <a:srgbClr val="E6DCE4"/>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11430000" y="3154679"/>
            <a:ext cx="685800" cy="685800"/>
          </a:xfrm>
          <a:prstGeom prst="ellipse">
            <a:avLst/>
          </a:prstGeom>
          <a:solidFill>
            <a:srgbClr val="172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1430000" y="3154679"/>
            <a:ext cx="685800" cy="685800"/>
          </a:xfrm>
          <a:prstGeom prst="rect">
            <a:avLst/>
          </a:prstGeom>
          <a:noFill/>
        </p:spPr>
        <p:txBody>
          <a:bodyPr wrap="square" lIns="0" rIns="0" tIns="0" bIns="0" anchor="ctr">
            <a:noAutofit/>
          </a:bodyPr>
          <a:lstStyle/>
          <a:p>
            <a:pPr algn="ctr">
              <a:lnSpc>
                <a:spcPct val="100000"/>
              </a:lnSpc>
              <a:spcAft>
                <a:spcPts val="0"/>
              </a:spcAft>
            </a:pPr>
            <a:r>
              <a:rPr sz="3070">
                <a:solidFill>
                  <a:srgbClr val="FFFFFF"/>
                </a:solidFill>
                <a:latin typeface="Heading Now 31-38 Bold"/>
              </a:rPr>
              <a:t>3</a:t>
            </a:r>
          </a:p>
        </p:txBody>
      </p:sp>
      <p:sp>
        <p:nvSpPr>
          <p:cNvPr id="28" name="TextBox 27"/>
          <p:cNvSpPr txBox="1"/>
          <p:nvPr/>
        </p:nvSpPr>
        <p:spPr>
          <a:xfrm>
            <a:off x="12298680" y="3136391"/>
            <a:ext cx="3474720" cy="731520"/>
          </a:xfrm>
          <a:prstGeom prst="rect">
            <a:avLst/>
          </a:prstGeom>
          <a:noFill/>
        </p:spPr>
        <p:txBody>
          <a:bodyPr wrap="square" lIns="0" rIns="0" tIns="0" bIns="0" anchor="ctr">
            <a:noAutofit/>
          </a:bodyPr>
          <a:lstStyle/>
          <a:p>
            <a:pPr algn="l">
              <a:lnSpc>
                <a:spcPct val="100000"/>
              </a:lnSpc>
              <a:spcAft>
                <a:spcPts val="0"/>
              </a:spcAft>
            </a:pPr>
            <a:r>
              <a:rPr sz="3540" b="1">
                <a:solidFill>
                  <a:srgbClr val="172243"/>
                </a:solidFill>
                <a:latin typeface="Heading Now 31-38 Bold"/>
              </a:rPr>
              <a:t>Buggy money code</a:t>
            </a:r>
          </a:p>
        </p:txBody>
      </p:sp>
      <p:sp>
        <p:nvSpPr>
          <p:cNvPr id="29" name="TextBox 28"/>
          <p:cNvSpPr txBox="1"/>
          <p:nvPr/>
        </p:nvSpPr>
        <p:spPr>
          <a:xfrm>
            <a:off x="11430000" y="4069080"/>
            <a:ext cx="4297680" cy="1645920"/>
          </a:xfrm>
          <a:prstGeom prst="rect">
            <a:avLst/>
          </a:prstGeom>
          <a:noFill/>
        </p:spPr>
        <p:txBody>
          <a:bodyPr wrap="square" lIns="0" rIns="0" tIns="0" bIns="0" anchor="t">
            <a:noAutofit/>
          </a:bodyPr>
          <a:lstStyle/>
          <a:p>
            <a:pPr algn="l">
              <a:lnSpc>
                <a:spcPct val="100000"/>
              </a:lnSpc>
              <a:spcAft>
                <a:spcPts val="0"/>
              </a:spcAft>
            </a:pPr>
            <a:r>
              <a:rPr sz="2280">
                <a:solidFill>
                  <a:srgbClr val="161F3E"/>
                </a:solidFill>
                <a:latin typeface="Calibri"/>
              </a:rPr>
              <a:t>A double release, a missing check or a re-entrant call can drain funds that can't be recovered.</a:t>
            </a:r>
          </a:p>
        </p:txBody>
      </p:sp>
      <p:sp>
        <p:nvSpPr>
          <p:cNvPr id="30" name="Rounded Rectangle 29"/>
          <p:cNvSpPr/>
          <p:nvPr/>
        </p:nvSpPr>
        <p:spPr>
          <a:xfrm>
            <a:off x="1097280" y="5852160"/>
            <a:ext cx="4297680" cy="548640"/>
          </a:xfrm>
          <a:prstGeom prst="roundRect">
            <a:avLst>
              <a:gd name="adj" fmla="val 50000"/>
            </a:avLst>
          </a:prstGeom>
          <a:solidFill>
            <a:srgbClr val="FBE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97280" y="5852160"/>
            <a:ext cx="4297680" cy="548640"/>
          </a:xfrm>
          <a:prstGeom prst="rect">
            <a:avLst/>
          </a:prstGeom>
          <a:noFill/>
        </p:spPr>
        <p:txBody>
          <a:bodyPr wrap="square" lIns="0" rIns="0" tIns="0" bIns="0" anchor="ctr">
            <a:noAutofit/>
          </a:bodyPr>
          <a:lstStyle/>
          <a:p>
            <a:pPr algn="ctr">
              <a:lnSpc>
                <a:spcPct val="100000"/>
              </a:lnSpc>
              <a:spcAft>
                <a:spcPts val="0"/>
              </a:spcAft>
            </a:pPr>
            <a:r>
              <a:rPr sz="1900" i="1">
                <a:solidFill>
                  <a:srgbClr val="9A5B0A"/>
                </a:solidFill>
                <a:latin typeface="Georgia"/>
              </a:rPr>
              <a:t>"to the mentor's satisfaction"</a:t>
            </a:r>
          </a:p>
        </p:txBody>
      </p:sp>
      <p:sp>
        <p:nvSpPr>
          <p:cNvPr id="32" name="Rounded Rectangle 31"/>
          <p:cNvSpPr/>
          <p:nvPr/>
        </p:nvSpPr>
        <p:spPr>
          <a:xfrm>
            <a:off x="1097280" y="6565392"/>
            <a:ext cx="4297680" cy="548640"/>
          </a:xfrm>
          <a:prstGeom prst="roundRect">
            <a:avLst>
              <a:gd name="adj" fmla="val 50000"/>
            </a:avLst>
          </a:prstGeom>
          <a:solidFill>
            <a:srgbClr val="FBE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97280" y="6565392"/>
            <a:ext cx="4297680" cy="548640"/>
          </a:xfrm>
          <a:prstGeom prst="rect">
            <a:avLst/>
          </a:prstGeom>
          <a:noFill/>
        </p:spPr>
        <p:txBody>
          <a:bodyPr wrap="square" lIns="0" rIns="0" tIns="0" bIns="0" anchor="ctr">
            <a:noAutofit/>
          </a:bodyPr>
          <a:lstStyle/>
          <a:p>
            <a:pPr algn="ctr">
              <a:lnSpc>
                <a:spcPct val="100000"/>
              </a:lnSpc>
              <a:spcAft>
                <a:spcPts val="0"/>
              </a:spcAft>
            </a:pPr>
            <a:r>
              <a:rPr sz="1900" i="1">
                <a:solidFill>
                  <a:srgbClr val="9A5B0A"/>
                </a:solidFill>
                <a:latin typeface="Georgia"/>
              </a:rPr>
              <a:t>"paid from the remaining funds"</a:t>
            </a:r>
          </a:p>
        </p:txBody>
      </p:sp>
      <p:pic>
        <p:nvPicPr>
          <p:cNvPr id="34" name="Picture 33" descr="v1.png"/>
          <p:cNvPicPr>
            <a:picLocks noChangeAspect="1"/>
          </p:cNvPicPr>
          <p:nvPr/>
        </p:nvPicPr>
        <p:blipFill>
          <a:blip r:embed="rId12"/>
          <a:stretch>
            <a:fillRect/>
          </a:stretch>
        </p:blipFill>
        <p:spPr>
          <a:xfrm>
            <a:off x="6537959" y="5760720"/>
            <a:ext cx="960120" cy="960120"/>
          </a:xfrm>
          <a:prstGeom prst="rect">
            <a:avLst/>
          </a:prstGeom>
        </p:spPr>
      </p:pic>
      <p:sp>
        <p:nvSpPr>
          <p:cNvPr id="35" name="TextBox 34"/>
          <p:cNvSpPr txBox="1"/>
          <p:nvPr/>
        </p:nvSpPr>
        <p:spPr>
          <a:xfrm>
            <a:off x="7543800" y="5852160"/>
            <a:ext cx="1737360" cy="868680"/>
          </a:xfrm>
          <a:prstGeom prst="rect">
            <a:avLst/>
          </a:prstGeom>
          <a:noFill/>
        </p:spPr>
        <p:txBody>
          <a:bodyPr wrap="square" lIns="0" rIns="0" tIns="0" bIns="0" anchor="ctr">
            <a:noAutofit/>
          </a:bodyPr>
          <a:lstStyle/>
          <a:p>
            <a:pPr algn="ctr">
              <a:lnSpc>
                <a:spcPct val="100000"/>
              </a:lnSpc>
              <a:spcAft>
                <a:spcPts val="0"/>
              </a:spcAft>
            </a:pPr>
            <a:r>
              <a:rPr sz="6600" b="1">
                <a:solidFill>
                  <a:srgbClr val="C0342B"/>
                </a:solidFill>
                <a:latin typeface="Segoe UI Symbol"/>
              </a:rPr>
              <a:t>≠</a:t>
            </a:r>
          </a:p>
        </p:txBody>
      </p:sp>
      <p:pic>
        <p:nvPicPr>
          <p:cNvPr id="36" name="Picture 35" descr="v2.png"/>
          <p:cNvPicPr>
            <a:picLocks noChangeAspect="1"/>
          </p:cNvPicPr>
          <p:nvPr/>
        </p:nvPicPr>
        <p:blipFill>
          <a:blip r:embed="rId13"/>
          <a:stretch>
            <a:fillRect/>
          </a:stretch>
        </p:blipFill>
        <p:spPr>
          <a:xfrm>
            <a:off x="9326880" y="5760720"/>
            <a:ext cx="960120" cy="960120"/>
          </a:xfrm>
          <a:prstGeom prst="rect">
            <a:avLst/>
          </a:prstGeom>
        </p:spPr>
      </p:pic>
      <p:sp>
        <p:nvSpPr>
          <p:cNvPr id="37" name="TextBox 36"/>
          <p:cNvSpPr txBox="1"/>
          <p:nvPr/>
        </p:nvSpPr>
        <p:spPr>
          <a:xfrm>
            <a:off x="6126480" y="6766560"/>
            <a:ext cx="1645920" cy="365760"/>
          </a:xfrm>
          <a:prstGeom prst="rect">
            <a:avLst/>
          </a:prstGeom>
          <a:noFill/>
        </p:spPr>
        <p:txBody>
          <a:bodyPr wrap="square" lIns="0" rIns="0" tIns="0" bIns="0" anchor="t">
            <a:noAutofit/>
          </a:bodyPr>
          <a:lstStyle/>
          <a:p>
            <a:pPr algn="ctr">
              <a:lnSpc>
                <a:spcPct val="100000"/>
              </a:lnSpc>
              <a:spcAft>
                <a:spcPts val="0"/>
              </a:spcAft>
            </a:pPr>
            <a:r>
              <a:rPr sz="1900">
                <a:solidFill>
                  <a:srgbClr val="4E4A76"/>
                </a:solidFill>
                <a:latin typeface="Calibri"/>
              </a:rPr>
              <a:t>reviewed</a:t>
            </a:r>
          </a:p>
        </p:txBody>
      </p:sp>
      <p:sp>
        <p:nvSpPr>
          <p:cNvPr id="38" name="TextBox 37"/>
          <p:cNvSpPr txBox="1"/>
          <p:nvPr/>
        </p:nvSpPr>
        <p:spPr>
          <a:xfrm>
            <a:off x="9052560" y="6766560"/>
            <a:ext cx="1645920" cy="365760"/>
          </a:xfrm>
          <a:prstGeom prst="rect">
            <a:avLst/>
          </a:prstGeom>
          <a:noFill/>
        </p:spPr>
        <p:txBody>
          <a:bodyPr wrap="square" lIns="0" rIns="0" tIns="0" bIns="0" anchor="t">
            <a:noAutofit/>
          </a:bodyPr>
          <a:lstStyle/>
          <a:p>
            <a:pPr algn="ctr">
              <a:lnSpc>
                <a:spcPct val="100000"/>
              </a:lnSpc>
              <a:spcAft>
                <a:spcPts val="0"/>
              </a:spcAft>
            </a:pPr>
            <a:r>
              <a:rPr sz="1900">
                <a:solidFill>
                  <a:srgbClr val="4E4A76"/>
                </a:solidFill>
                <a:latin typeface="Calibri"/>
              </a:rPr>
              <a:t>delivered</a:t>
            </a:r>
          </a:p>
        </p:txBody>
      </p:sp>
      <p:sp>
        <p:nvSpPr>
          <p:cNvPr id="39" name="TextBox 38"/>
          <p:cNvSpPr txBox="1"/>
          <p:nvPr/>
        </p:nvSpPr>
        <p:spPr>
          <a:xfrm>
            <a:off x="11430000" y="5715000"/>
            <a:ext cx="4297680" cy="914400"/>
          </a:xfrm>
          <a:prstGeom prst="rect">
            <a:avLst/>
          </a:prstGeom>
          <a:noFill/>
        </p:spPr>
        <p:txBody>
          <a:bodyPr wrap="square" lIns="0" rIns="0" tIns="0" bIns="0" anchor="t">
            <a:noAutofit/>
          </a:bodyPr>
          <a:lstStyle/>
          <a:p>
            <a:pPr algn="l">
              <a:lnSpc>
                <a:spcPct val="100000"/>
              </a:lnSpc>
              <a:spcAft>
                <a:spcPts val="0"/>
              </a:spcAft>
            </a:pPr>
            <a:r>
              <a:rPr sz="5800">
                <a:solidFill>
                  <a:srgbClr val="C0342B"/>
                </a:solidFill>
                <a:latin typeface="Impact"/>
              </a:rPr>
              <a:t>3.000 ETH</a:t>
            </a:r>
          </a:p>
        </p:txBody>
      </p:sp>
      <p:sp>
        <p:nvSpPr>
          <p:cNvPr id="40" name="TextBox 39"/>
          <p:cNvSpPr txBox="1"/>
          <p:nvPr/>
        </p:nvSpPr>
        <p:spPr>
          <a:xfrm>
            <a:off x="11430000" y="6629400"/>
            <a:ext cx="4297680" cy="548640"/>
          </a:xfrm>
          <a:prstGeom prst="rect">
            <a:avLst/>
          </a:prstGeom>
          <a:noFill/>
        </p:spPr>
        <p:txBody>
          <a:bodyPr wrap="square" lIns="0" rIns="0" tIns="0" bIns="0" anchor="t">
            <a:noAutofit/>
          </a:bodyPr>
          <a:lstStyle/>
          <a:p>
            <a:pPr algn="l">
              <a:lnSpc>
                <a:spcPct val="100000"/>
              </a:lnSpc>
              <a:spcAft>
                <a:spcPts val="0"/>
              </a:spcAft>
            </a:pPr>
            <a:r>
              <a:rPr sz="2090">
                <a:solidFill>
                  <a:srgbClr val="4E4A76"/>
                </a:solidFill>
                <a:latin typeface="Calibri"/>
              </a:rPr>
              <a:t>taken from a naive escrow in one attack</a:t>
            </a:r>
          </a:p>
        </p:txBody>
      </p:sp>
      <p:sp>
        <p:nvSpPr>
          <p:cNvPr id="41" name="Rounded Rectangle 40"/>
          <p:cNvSpPr/>
          <p:nvPr/>
        </p:nvSpPr>
        <p:spPr>
          <a:xfrm>
            <a:off x="822960" y="7589520"/>
            <a:ext cx="15179040" cy="1737360"/>
          </a:xfrm>
          <a:prstGeom prst="roundRect">
            <a:avLst>
              <a:gd name="adj" fmla="val 10526"/>
            </a:avLst>
          </a:prstGeom>
          <a:solidFill>
            <a:srgbClr val="EFE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ed Rectangle 41"/>
          <p:cNvSpPr/>
          <p:nvPr/>
        </p:nvSpPr>
        <p:spPr>
          <a:xfrm>
            <a:off x="1143000" y="8001000"/>
            <a:ext cx="3017520" cy="640080"/>
          </a:xfrm>
          <a:prstGeom prst="roundRect">
            <a:avLst>
              <a:gd name="adj" fmla="val 50000"/>
            </a:avLst>
          </a:prstGeom>
          <a:solidFill>
            <a:srgbClr val="172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143000" y="8001000"/>
            <a:ext cx="3017520" cy="640080"/>
          </a:xfrm>
          <a:prstGeom prst="rect">
            <a:avLst/>
          </a:prstGeom>
          <a:noFill/>
        </p:spPr>
        <p:txBody>
          <a:bodyPr wrap="square" lIns="0" rIns="0" tIns="0" bIns="0" anchor="ctr">
            <a:noAutofit/>
          </a:bodyPr>
          <a:lstStyle/>
          <a:p>
            <a:pPr algn="ctr">
              <a:lnSpc>
                <a:spcPct val="100000"/>
              </a:lnSpc>
              <a:spcAft>
                <a:spcPts val="0"/>
              </a:spcAft>
            </a:pPr>
            <a:r>
              <a:rPr sz="2000" spc="250" b="1">
                <a:solidFill>
                  <a:srgbClr val="FFFFFF"/>
                </a:solidFill>
                <a:latin typeface="Calibri"/>
              </a:rPr>
              <a:t>THE BRIEF SAYS</a:t>
            </a:r>
          </a:p>
        </p:txBody>
      </p:sp>
      <p:sp>
        <p:nvSpPr>
          <p:cNvPr id="44" name="TextBox 43"/>
          <p:cNvSpPr txBox="1"/>
          <p:nvPr/>
        </p:nvSpPr>
        <p:spPr>
          <a:xfrm>
            <a:off x="4480560" y="7589520"/>
            <a:ext cx="11247120" cy="1737360"/>
          </a:xfrm>
          <a:prstGeom prst="rect">
            <a:avLst/>
          </a:prstGeom>
          <a:noFill/>
        </p:spPr>
        <p:txBody>
          <a:bodyPr wrap="square" lIns="0" rIns="0" tIns="0" bIns="0" anchor="ctr">
            <a:noAutofit/>
          </a:bodyPr>
          <a:lstStyle/>
          <a:p>
            <a:pPr algn="l">
              <a:lnSpc>
                <a:spcPct val="100000"/>
              </a:lnSpc>
              <a:spcAft>
                <a:spcPts val="0"/>
              </a:spcAft>
            </a:pPr>
            <a:r>
              <a:rPr sz="2470">
                <a:solidFill>
                  <a:srgbClr val="161F3E"/>
                </a:solidFill>
                <a:latin typeface="Calibri"/>
              </a:rPr>
              <a:t>AI may propose a checklist, but a person must confirm it, ambiguities must be resolved, and AI output must never be written to the contract directly.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479517"/>
            <a:chOff x="0" y="0"/>
            <a:chExt cx="24384000" cy="13972689"/>
          </a:xfrm>
        </p:grpSpPr>
        <p:sp>
          <p:nvSpPr>
            <p:cNvPr id="4" name="Freeform 4"/>
            <p:cNvSpPr/>
            <p:nvPr/>
          </p:nvSpPr>
          <p:spPr>
            <a:xfrm>
              <a:off x="0" y="0"/>
              <a:ext cx="2333397" cy="13147537"/>
            </a:xfrm>
            <a:custGeom>
              <a:avLst/>
              <a:gdLst/>
              <a:ahLst/>
              <a:cxnLst/>
              <a:rect l="l" t="t" r="r" b="b"/>
              <a:pathLst>
                <a:path w="2333397" h="13147537">
                  <a:moveTo>
                    <a:pt x="0" y="0"/>
                  </a:moveTo>
                  <a:lnTo>
                    <a:pt x="2333397" y="0"/>
                  </a:lnTo>
                  <a:lnTo>
                    <a:pt x="2333397" y="13147537"/>
                  </a:lnTo>
                  <a:lnTo>
                    <a:pt x="0" y="13147537"/>
                  </a:lnTo>
                  <a:lnTo>
                    <a:pt x="0" y="0"/>
                  </a:lnTo>
                  <a:close/>
                </a:path>
              </a:pathLst>
            </a:custGeom>
            <a:blipFill>
              <a:blip r:embed="rId3"/>
              <a:stretch>
                <a:fillRect/>
              </a:stretch>
            </a:blipFill>
          </p:spPr>
        </p:sp>
        <p:sp>
          <p:nvSpPr>
            <p:cNvPr id="5" name="Freeform 5"/>
            <p:cNvSpPr/>
            <p:nvPr/>
          </p:nvSpPr>
          <p:spPr>
            <a:xfrm>
              <a:off x="19148440" y="8847622"/>
              <a:ext cx="2333397" cy="2303005"/>
            </a:xfrm>
            <a:custGeom>
              <a:avLst/>
              <a:gdLst/>
              <a:ahLst/>
              <a:cxnLst/>
              <a:rect l="l" t="t" r="r" b="b"/>
              <a:pathLst>
                <a:path w="2333397" h="2303005">
                  <a:moveTo>
                    <a:pt x="0" y="0"/>
                  </a:moveTo>
                  <a:lnTo>
                    <a:pt x="2333397" y="0"/>
                  </a:lnTo>
                  <a:lnTo>
                    <a:pt x="2333397" y="2303005"/>
                  </a:lnTo>
                  <a:lnTo>
                    <a:pt x="0" y="2303005"/>
                  </a:lnTo>
                  <a:lnTo>
                    <a:pt x="0" y="0"/>
                  </a:lnTo>
                  <a:close/>
                </a:path>
              </a:pathLst>
            </a:custGeom>
            <a:blipFill>
              <a:blip r:embed="rId4"/>
              <a:stretch>
                <a:fillRect/>
              </a:stretch>
            </a:blipFill>
          </p:spPr>
        </p:sp>
        <p:sp>
          <p:nvSpPr>
            <p:cNvPr id="6" name="Freeform 6"/>
            <p:cNvSpPr/>
            <p:nvPr/>
          </p:nvSpPr>
          <p:spPr>
            <a:xfrm>
              <a:off x="17412976" y="9395831"/>
              <a:ext cx="6971024" cy="4342033"/>
            </a:xfrm>
            <a:custGeom>
              <a:avLst/>
              <a:gdLst/>
              <a:ahLst/>
              <a:cxnLst/>
              <a:rect l="l" t="t" r="r" b="b"/>
              <a:pathLst>
                <a:path w="6971024" h="4342033">
                  <a:moveTo>
                    <a:pt x="0" y="0"/>
                  </a:moveTo>
                  <a:lnTo>
                    <a:pt x="6971024" y="0"/>
                  </a:lnTo>
                  <a:lnTo>
                    <a:pt x="6971024" y="4342033"/>
                  </a:lnTo>
                  <a:lnTo>
                    <a:pt x="0" y="4342033"/>
                  </a:lnTo>
                  <a:lnTo>
                    <a:pt x="0" y="0"/>
                  </a:lnTo>
                  <a:close/>
                </a:path>
              </a:pathLst>
            </a:custGeom>
            <a:blipFill>
              <a:blip r:embed="rId5"/>
              <a:stretch>
                <a:fillRect t="-5743"/>
              </a:stretch>
            </a:blipFill>
          </p:spPr>
        </p:sp>
        <p:sp>
          <p:nvSpPr>
            <p:cNvPr id="7" name="Freeform 7"/>
            <p:cNvSpPr/>
            <p:nvPr/>
          </p:nvSpPr>
          <p:spPr>
            <a:xfrm>
              <a:off x="0" y="9395831"/>
              <a:ext cx="1750048" cy="4576859"/>
            </a:xfrm>
            <a:custGeom>
              <a:avLst/>
              <a:gdLst/>
              <a:ahLst/>
              <a:cxnLst/>
              <a:rect l="l" t="t" r="r" b="b"/>
              <a:pathLst>
                <a:path w="1750048" h="4576859">
                  <a:moveTo>
                    <a:pt x="0" y="0"/>
                  </a:moveTo>
                  <a:lnTo>
                    <a:pt x="1750048" y="0"/>
                  </a:lnTo>
                  <a:lnTo>
                    <a:pt x="1750048" y="4576858"/>
                  </a:lnTo>
                  <a:lnTo>
                    <a:pt x="0" y="4576858"/>
                  </a:lnTo>
                  <a:lnTo>
                    <a:pt x="0" y="0"/>
                  </a:lnTo>
                  <a:close/>
                </a:path>
              </a:pathLst>
            </a:custGeom>
            <a:blipFill>
              <a:blip r:embed="rId6"/>
              <a:stretch>
                <a:fillRect/>
              </a:stretch>
            </a:blipFill>
          </p:spPr>
        </p:sp>
        <p:sp>
          <p:nvSpPr>
            <p:cNvPr id="8" name="Freeform 8"/>
            <p:cNvSpPr/>
            <p:nvPr/>
          </p:nvSpPr>
          <p:spPr>
            <a:xfrm>
              <a:off x="22633952" y="7273416"/>
              <a:ext cx="1750048" cy="5451418"/>
            </a:xfrm>
            <a:custGeom>
              <a:avLst/>
              <a:gdLst/>
              <a:ahLst/>
              <a:cxnLst/>
              <a:rect l="l" t="t" r="r" b="b"/>
              <a:pathLst>
                <a:path w="1750048" h="5451418">
                  <a:moveTo>
                    <a:pt x="0" y="0"/>
                  </a:moveTo>
                  <a:lnTo>
                    <a:pt x="1750048" y="0"/>
                  </a:lnTo>
                  <a:lnTo>
                    <a:pt x="1750048" y="5451417"/>
                  </a:lnTo>
                  <a:lnTo>
                    <a:pt x="0" y="5451417"/>
                  </a:lnTo>
                  <a:lnTo>
                    <a:pt x="0" y="0"/>
                  </a:lnTo>
                  <a:close/>
                </a:path>
              </a:pathLst>
            </a:custGeom>
            <a:blipFill>
              <a:blip r:embed="rId7"/>
              <a:stretch>
                <a:fillRect/>
              </a:stretch>
            </a:blipFill>
          </p:spPr>
        </p:sp>
        <p:sp>
          <p:nvSpPr>
            <p:cNvPr id="9" name="Freeform 9"/>
            <p:cNvSpPr/>
            <p:nvPr/>
          </p:nvSpPr>
          <p:spPr>
            <a:xfrm>
              <a:off x="22275922" y="9395831"/>
              <a:ext cx="1472957" cy="3162988"/>
            </a:xfrm>
            <a:custGeom>
              <a:avLst/>
              <a:gdLst/>
              <a:ahLst/>
              <a:cxnLst/>
              <a:rect l="l" t="t" r="r" b="b"/>
              <a:pathLst>
                <a:path w="1472957" h="3162988">
                  <a:moveTo>
                    <a:pt x="0" y="0"/>
                  </a:moveTo>
                  <a:lnTo>
                    <a:pt x="1472956" y="0"/>
                  </a:lnTo>
                  <a:lnTo>
                    <a:pt x="1472956" y="3162988"/>
                  </a:lnTo>
                  <a:lnTo>
                    <a:pt x="0" y="3162988"/>
                  </a:lnTo>
                  <a:lnTo>
                    <a:pt x="0" y="0"/>
                  </a:lnTo>
                  <a:close/>
                </a:path>
              </a:pathLst>
            </a:custGeom>
            <a:blipFill>
              <a:blip r:embed="rId8"/>
              <a:stretch>
                <a:fillRect/>
              </a:stretch>
            </a:blipFill>
          </p:spPr>
        </p:sp>
      </p:grpSp>
      <p:sp>
        <p:nvSpPr>
          <p:cNvPr id="10" name="TextBox 10"/>
          <p:cNvSpPr txBox="1"/>
          <p:nvPr/>
        </p:nvSpPr>
        <p:spPr>
          <a:xfrm>
            <a:off x="338328" y="146304"/>
            <a:ext cx="14630400" cy="1200150"/>
          </a:xfrm>
          <a:prstGeom prst="rect">
            <a:avLst/>
          </a:prstGeom>
        </p:spPr>
        <p:txBody>
          <a:bodyPr lIns="0" tIns="0" rIns="0" bIns="0" rtlCol="0" anchor="t">
            <a:spAutoFit/>
          </a:bodyPr>
          <a:lstStyle/>
          <a:p>
            <a:pPr algn="l">
              <a:lnSpc>
                <a:spcPts val="7500"/>
              </a:lnSpc>
            </a:pPr>
            <a:r>
              <a:rPr lang="en-US" sz="7500" b="1" spc="150">
                <a:solidFill>
                  <a:srgbClr val="172243"/>
                </a:solidFill>
                <a:latin typeface="Heading Now 31-38 Bold"/>
                <a:ea typeface="Heading Now 31-38 Bold"/>
                <a:cs typeface="Heading Now 31-38 Bold"/>
                <a:sym typeface="Heading Now 31-38 Bold"/>
              </a:rPr>
              <a:t>IDEA TITLE / PROPOSED SOLUTION</a:t>
            </a:r>
          </a:p>
        </p:txBody>
      </p:sp>
      <p:sp>
        <p:nvSpPr>
          <p:cNvPr id="11" name="Freeform 11"/>
          <p:cNvSpPr/>
          <p:nvPr/>
        </p:nvSpPr>
        <p:spPr>
          <a:xfrm>
            <a:off x="255295" y="1188720"/>
            <a:ext cx="9683496" cy="535667"/>
          </a:xfrm>
          <a:custGeom>
            <a:avLst/>
            <a:gdLst/>
            <a:ahLst/>
            <a:cxnLst/>
            <a:rect l="l" t="t" r="r" b="b"/>
            <a:pathLst>
              <a:path w="5020450" h="535667">
                <a:moveTo>
                  <a:pt x="0" y="0"/>
                </a:moveTo>
                <a:lnTo>
                  <a:pt x="5020450" y="0"/>
                </a:lnTo>
                <a:lnTo>
                  <a:pt x="5020450" y="535667"/>
                </a:lnTo>
                <a:lnTo>
                  <a:pt x="0" y="535667"/>
                </a:lnTo>
                <a:lnTo>
                  <a:pt x="0" y="0"/>
                </a:lnTo>
                <a:close/>
              </a:path>
            </a:pathLst>
          </a:custGeom>
          <a:blipFill>
            <a:blip r:embed="rId9"/>
            <a:stretch>
              <a:fillRect l="-11250" r="-11250"/>
            </a:stretch>
          </a:blipFill>
        </p:spPr>
      </p:sp>
      <p:sp>
        <p:nvSpPr>
          <p:cNvPr id="12" name="Freeform 12"/>
          <p:cNvSpPr/>
          <p:nvPr/>
        </p:nvSpPr>
        <p:spPr>
          <a:xfrm>
            <a:off x="16178937" y="216170"/>
            <a:ext cx="2160727" cy="2160727"/>
          </a:xfrm>
          <a:custGeom>
            <a:avLst/>
            <a:gdLst/>
            <a:ahLst/>
            <a:cxnLst/>
            <a:rect l="l" t="t" r="r" b="b"/>
            <a:pathLst>
              <a:path w="2160727" h="2160727">
                <a:moveTo>
                  <a:pt x="0" y="0"/>
                </a:moveTo>
                <a:lnTo>
                  <a:pt x="2160726" y="0"/>
                </a:lnTo>
                <a:lnTo>
                  <a:pt x="2160726" y="2160727"/>
                </a:lnTo>
                <a:lnTo>
                  <a:pt x="0" y="2160727"/>
                </a:lnTo>
                <a:lnTo>
                  <a:pt x="0" y="0"/>
                </a:lnTo>
                <a:close/>
              </a:path>
            </a:pathLst>
          </a:custGeom>
          <a:blipFill>
            <a:blip r:embed="rId10"/>
            <a:stretch>
              <a:fillRect/>
            </a:stretch>
          </a:blipFill>
        </p:spPr>
      </p:sp>
      <p:sp>
        <p:nvSpPr>
          <p:cNvPr id="13" name="Freeform 13"/>
          <p:cNvSpPr/>
          <p:nvPr/>
        </p:nvSpPr>
        <p:spPr>
          <a:xfrm>
            <a:off x="13923818" y="2160727"/>
            <a:ext cx="4364182" cy="2153601"/>
          </a:xfrm>
          <a:custGeom>
            <a:avLst/>
            <a:gdLst/>
            <a:ahLst/>
            <a:cxnLst/>
            <a:rect l="l" t="t" r="r" b="b"/>
            <a:pathLst>
              <a:path w="4364182" h="2153601">
                <a:moveTo>
                  <a:pt x="0" y="0"/>
                </a:moveTo>
                <a:lnTo>
                  <a:pt x="4364182" y="0"/>
                </a:lnTo>
                <a:lnTo>
                  <a:pt x="4364182" y="2153601"/>
                </a:lnTo>
                <a:lnTo>
                  <a:pt x="0" y="2153601"/>
                </a:lnTo>
                <a:lnTo>
                  <a:pt x="0" y="0"/>
                </a:lnTo>
                <a:close/>
              </a:path>
            </a:pathLst>
          </a:custGeom>
          <a:blipFill>
            <a:blip r:embed="rId11">
              <a:alphaModFix amt="68000"/>
            </a:blip>
            <a:stretch>
              <a:fillRect/>
            </a:stretch>
          </a:blipFill>
        </p:spPr>
      </p:sp>
      <p:sp>
        <p:nvSpPr>
          <p:cNvPr id="14" name="Claim"/>
          <p:cNvSpPr txBox="1"/>
          <p:nvPr/>
        </p:nvSpPr>
        <p:spPr>
          <a:xfrm>
            <a:off x="777240" y="1828800"/>
            <a:ext cx="15179040" cy="914400"/>
          </a:xfrm>
          <a:prstGeom prst="rect">
            <a:avLst/>
          </a:prstGeom>
          <a:noFill/>
        </p:spPr>
        <p:txBody>
          <a:bodyPr wrap="square" lIns="0" rIns="0" tIns="0" bIns="0" anchor="ctr">
            <a:noAutofit/>
          </a:bodyPr>
          <a:lstStyle/>
          <a:p>
            <a:pPr algn="l">
              <a:lnSpc>
                <a:spcPct val="100000"/>
              </a:lnSpc>
              <a:spcAft>
                <a:spcPts val="0"/>
              </a:spcAft>
            </a:pPr>
            <a:r>
              <a:rPr sz="4720" b="1">
                <a:solidFill>
                  <a:srgbClr val="172243"/>
                </a:solidFill>
                <a:latin typeface="Heading Now 31-38 Bold"/>
              </a:rPr>
              <a:t>Sealstone: three layers of integrity, </a:t>
            </a:r>
            <a:r>
              <a:rPr sz="2879" i="1">
                <a:solidFill>
                  <a:srgbClr val="4E4A76"/>
                </a:solidFill>
                <a:latin typeface="Georgia"/>
              </a:rPr>
              <a:t>so nobody can trick the payment.</a:t>
            </a:r>
          </a:p>
        </p:txBody>
      </p:sp>
      <p:sp>
        <p:nvSpPr>
          <p:cNvPr id="15" name="Rounded Rectangle 14"/>
          <p:cNvSpPr/>
          <p:nvPr/>
        </p:nvSpPr>
        <p:spPr>
          <a:xfrm>
            <a:off x="822960" y="2834640"/>
            <a:ext cx="8595360" cy="1737360"/>
          </a:xfrm>
          <a:prstGeom prst="roundRect">
            <a:avLst>
              <a:gd name="adj" fmla="val 10526"/>
            </a:avLst>
          </a:prstGeom>
          <a:solidFill>
            <a:srgbClr val="FBE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051560" y="3127248"/>
            <a:ext cx="777240" cy="777240"/>
          </a:xfrm>
          <a:prstGeom prst="ellipse">
            <a:avLst/>
          </a:prstGeom>
          <a:solidFill>
            <a:srgbClr val="172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51560" y="3127248"/>
            <a:ext cx="777240" cy="777240"/>
          </a:xfrm>
          <a:prstGeom prst="rect">
            <a:avLst/>
          </a:prstGeom>
          <a:noFill/>
        </p:spPr>
        <p:txBody>
          <a:bodyPr wrap="square" lIns="0" rIns="0" tIns="0" bIns="0" anchor="ctr">
            <a:noAutofit/>
          </a:bodyPr>
          <a:lstStyle/>
          <a:p>
            <a:pPr algn="ctr">
              <a:lnSpc>
                <a:spcPct val="100000"/>
              </a:lnSpc>
              <a:spcAft>
                <a:spcPts val="0"/>
              </a:spcAft>
            </a:pPr>
            <a:r>
              <a:rPr sz="3540">
                <a:solidFill>
                  <a:srgbClr val="FFFFFF"/>
                </a:solidFill>
                <a:latin typeface="Heading Now 31-38 Bold"/>
              </a:rPr>
              <a:t>1</a:t>
            </a:r>
          </a:p>
        </p:txBody>
      </p:sp>
      <p:sp>
        <p:nvSpPr>
          <p:cNvPr id="18" name="TextBox 17"/>
          <p:cNvSpPr txBox="1"/>
          <p:nvPr/>
        </p:nvSpPr>
        <p:spPr>
          <a:xfrm>
            <a:off x="2103120" y="2971800"/>
            <a:ext cx="7132320" cy="502920"/>
          </a:xfrm>
          <a:prstGeom prst="rect">
            <a:avLst/>
          </a:prstGeom>
          <a:noFill/>
        </p:spPr>
        <p:txBody>
          <a:bodyPr wrap="square" lIns="0" rIns="0" tIns="0" bIns="0" anchor="t">
            <a:noAutofit/>
          </a:bodyPr>
          <a:lstStyle/>
          <a:p>
            <a:pPr algn="l">
              <a:lnSpc>
                <a:spcPct val="100000"/>
              </a:lnSpc>
              <a:spcAft>
                <a:spcPts val="0"/>
              </a:spcAft>
            </a:pPr>
            <a:r>
              <a:rPr sz="3300" b="1">
                <a:solidFill>
                  <a:srgbClr val="172243"/>
                </a:solidFill>
                <a:latin typeface="Heading Now 31-38 Bold"/>
              </a:rPr>
              <a:t>AGREEMENT INTEGRITY</a:t>
            </a:r>
          </a:p>
        </p:txBody>
      </p:sp>
      <p:sp>
        <p:nvSpPr>
          <p:cNvPr id="19" name="TextBox 18"/>
          <p:cNvSpPr txBox="1"/>
          <p:nvPr/>
        </p:nvSpPr>
        <p:spPr>
          <a:xfrm>
            <a:off x="2103120" y="3493008"/>
            <a:ext cx="7132320" cy="1051560"/>
          </a:xfrm>
          <a:prstGeom prst="rect">
            <a:avLst/>
          </a:prstGeom>
          <a:noFill/>
        </p:spPr>
        <p:txBody>
          <a:bodyPr wrap="square" lIns="0" rIns="0" tIns="0" bIns="0" anchor="t">
            <a:noAutofit/>
          </a:bodyPr>
          <a:lstStyle/>
          <a:p>
            <a:pPr algn="l">
              <a:lnSpc>
                <a:spcPct val="100000"/>
              </a:lnSpc>
              <a:spcAft>
                <a:spcPts val="0"/>
              </a:spcAft>
            </a:pPr>
            <a:r>
              <a:rPr sz="2090">
                <a:solidFill>
                  <a:srgbClr val="161F3E"/>
                </a:solidFill>
                <a:latin typeface="Calibri"/>
              </a:rPr>
              <a:t>AI proposes and flags unclear terms. Rules re-check, a person resolves every flag, and both sides sign the hash.</a:t>
            </a:r>
          </a:p>
        </p:txBody>
      </p:sp>
      <p:sp>
        <p:nvSpPr>
          <p:cNvPr id="20" name="Rounded Rectangle 19"/>
          <p:cNvSpPr/>
          <p:nvPr/>
        </p:nvSpPr>
        <p:spPr>
          <a:xfrm>
            <a:off x="822960" y="4681728"/>
            <a:ext cx="8595360" cy="1737360"/>
          </a:xfrm>
          <a:prstGeom prst="roundRect">
            <a:avLst>
              <a:gd name="adj" fmla="val 10526"/>
            </a:avLst>
          </a:prstGeom>
          <a:solidFill>
            <a:srgbClr val="E0E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1051560" y="4974336"/>
            <a:ext cx="777240" cy="777240"/>
          </a:xfrm>
          <a:prstGeom prst="ellipse">
            <a:avLst/>
          </a:prstGeom>
          <a:solidFill>
            <a:srgbClr val="172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51560" y="4974336"/>
            <a:ext cx="777240" cy="777240"/>
          </a:xfrm>
          <a:prstGeom prst="rect">
            <a:avLst/>
          </a:prstGeom>
          <a:noFill/>
        </p:spPr>
        <p:txBody>
          <a:bodyPr wrap="square" lIns="0" rIns="0" tIns="0" bIns="0" anchor="ctr">
            <a:noAutofit/>
          </a:bodyPr>
          <a:lstStyle/>
          <a:p>
            <a:pPr algn="ctr">
              <a:lnSpc>
                <a:spcPct val="100000"/>
              </a:lnSpc>
              <a:spcAft>
                <a:spcPts val="0"/>
              </a:spcAft>
            </a:pPr>
            <a:r>
              <a:rPr sz="3540">
                <a:solidFill>
                  <a:srgbClr val="FFFFFF"/>
                </a:solidFill>
                <a:latin typeface="Heading Now 31-38 Bold"/>
              </a:rPr>
              <a:t>2</a:t>
            </a:r>
          </a:p>
        </p:txBody>
      </p:sp>
      <p:sp>
        <p:nvSpPr>
          <p:cNvPr id="23" name="TextBox 22"/>
          <p:cNvSpPr txBox="1"/>
          <p:nvPr/>
        </p:nvSpPr>
        <p:spPr>
          <a:xfrm>
            <a:off x="2103120" y="4818888"/>
            <a:ext cx="7132320" cy="502920"/>
          </a:xfrm>
          <a:prstGeom prst="rect">
            <a:avLst/>
          </a:prstGeom>
          <a:noFill/>
        </p:spPr>
        <p:txBody>
          <a:bodyPr wrap="square" lIns="0" rIns="0" tIns="0" bIns="0" anchor="t">
            <a:noAutofit/>
          </a:bodyPr>
          <a:lstStyle/>
          <a:p>
            <a:pPr algn="l">
              <a:lnSpc>
                <a:spcPct val="100000"/>
              </a:lnSpc>
              <a:spcAft>
                <a:spcPts val="0"/>
              </a:spcAft>
            </a:pPr>
            <a:r>
              <a:rPr sz="3300" b="1">
                <a:solidFill>
                  <a:srgbClr val="172243"/>
                </a:solidFill>
                <a:latin typeface="Heading Now 31-38 Bold"/>
              </a:rPr>
              <a:t>DELIVERABLE INTEGRITY</a:t>
            </a:r>
          </a:p>
        </p:txBody>
      </p:sp>
      <p:sp>
        <p:nvSpPr>
          <p:cNvPr id="24" name="TextBox 23"/>
          <p:cNvSpPr txBox="1"/>
          <p:nvPr/>
        </p:nvSpPr>
        <p:spPr>
          <a:xfrm>
            <a:off x="2103120" y="5340096"/>
            <a:ext cx="7132320" cy="1051560"/>
          </a:xfrm>
          <a:prstGeom prst="rect">
            <a:avLst/>
          </a:prstGeom>
          <a:noFill/>
        </p:spPr>
        <p:txBody>
          <a:bodyPr wrap="square" lIns="0" rIns="0" tIns="0" bIns="0" anchor="t">
            <a:noAutofit/>
          </a:bodyPr>
          <a:lstStyle/>
          <a:p>
            <a:pPr algn="l">
              <a:lnSpc>
                <a:spcPct val="100000"/>
              </a:lnSpc>
              <a:spcAft>
                <a:spcPts val="0"/>
              </a:spcAft>
            </a:pPr>
            <a:r>
              <a:rPr sz="2090">
                <a:solidFill>
                  <a:srgbClr val="161F3E"/>
                </a:solidFill>
                <a:latin typeface="Calibri"/>
              </a:rPr>
              <a:t>The provider commits the file's SHA-256. The client can approve only that exact file.</a:t>
            </a:r>
          </a:p>
        </p:txBody>
      </p:sp>
      <p:sp>
        <p:nvSpPr>
          <p:cNvPr id="25" name="Rounded Rectangle 24"/>
          <p:cNvSpPr/>
          <p:nvPr/>
        </p:nvSpPr>
        <p:spPr>
          <a:xfrm>
            <a:off x="822960" y="6528816"/>
            <a:ext cx="8595360" cy="1737360"/>
          </a:xfrm>
          <a:prstGeom prst="roundRect">
            <a:avLst>
              <a:gd name="adj" fmla="val 10526"/>
            </a:avLst>
          </a:prstGeom>
          <a:solidFill>
            <a:srgbClr val="DD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1051560" y="6821424"/>
            <a:ext cx="777240" cy="777240"/>
          </a:xfrm>
          <a:prstGeom prst="ellipse">
            <a:avLst/>
          </a:prstGeom>
          <a:solidFill>
            <a:srgbClr val="172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51560" y="6821424"/>
            <a:ext cx="777240" cy="777240"/>
          </a:xfrm>
          <a:prstGeom prst="rect">
            <a:avLst/>
          </a:prstGeom>
          <a:noFill/>
        </p:spPr>
        <p:txBody>
          <a:bodyPr wrap="square" lIns="0" rIns="0" tIns="0" bIns="0" anchor="ctr">
            <a:noAutofit/>
          </a:bodyPr>
          <a:lstStyle/>
          <a:p>
            <a:pPr algn="ctr">
              <a:lnSpc>
                <a:spcPct val="100000"/>
              </a:lnSpc>
              <a:spcAft>
                <a:spcPts val="0"/>
              </a:spcAft>
            </a:pPr>
            <a:r>
              <a:rPr sz="3540">
                <a:solidFill>
                  <a:srgbClr val="FFFFFF"/>
                </a:solidFill>
                <a:latin typeface="Heading Now 31-38 Bold"/>
              </a:rPr>
              <a:t>3</a:t>
            </a:r>
          </a:p>
        </p:txBody>
      </p:sp>
      <p:sp>
        <p:nvSpPr>
          <p:cNvPr id="28" name="TextBox 27"/>
          <p:cNvSpPr txBox="1"/>
          <p:nvPr/>
        </p:nvSpPr>
        <p:spPr>
          <a:xfrm>
            <a:off x="2103120" y="6665976"/>
            <a:ext cx="7132320" cy="502920"/>
          </a:xfrm>
          <a:prstGeom prst="rect">
            <a:avLst/>
          </a:prstGeom>
          <a:noFill/>
        </p:spPr>
        <p:txBody>
          <a:bodyPr wrap="square" lIns="0" rIns="0" tIns="0" bIns="0" anchor="t">
            <a:noAutofit/>
          </a:bodyPr>
          <a:lstStyle/>
          <a:p>
            <a:pPr algn="l">
              <a:lnSpc>
                <a:spcPct val="100000"/>
              </a:lnSpc>
              <a:spcAft>
                <a:spcPts val="0"/>
              </a:spcAft>
            </a:pPr>
            <a:r>
              <a:rPr sz="3300" b="1">
                <a:solidFill>
                  <a:srgbClr val="172243"/>
                </a:solidFill>
                <a:latin typeface="Heading Now 31-38 Bold"/>
              </a:rPr>
              <a:t>FUND INTEGRITY</a:t>
            </a:r>
          </a:p>
        </p:txBody>
      </p:sp>
      <p:sp>
        <p:nvSpPr>
          <p:cNvPr id="29" name="TextBox 28"/>
          <p:cNvSpPr txBox="1"/>
          <p:nvPr/>
        </p:nvSpPr>
        <p:spPr>
          <a:xfrm>
            <a:off x="2103120" y="7187184"/>
            <a:ext cx="7132320" cy="1051560"/>
          </a:xfrm>
          <a:prstGeom prst="rect">
            <a:avLst/>
          </a:prstGeom>
          <a:noFill/>
        </p:spPr>
        <p:txBody>
          <a:bodyPr wrap="square" lIns="0" rIns="0" tIns="0" bIns="0" anchor="t">
            <a:noAutofit/>
          </a:bodyPr>
          <a:lstStyle/>
          <a:p>
            <a:pPr algn="l">
              <a:lnSpc>
                <a:spcPct val="100000"/>
              </a:lnSpc>
              <a:spcAft>
                <a:spcPts val="0"/>
              </a:spcAft>
            </a:pPr>
            <a:r>
              <a:rPr sz="2090">
                <a:solidFill>
                  <a:srgbClr val="161F3E"/>
                </a:solidFill>
                <a:latin typeface="Calibri"/>
              </a:rPr>
              <a:t>Role-gated states, pull payments and a re-entrancy guard. A live ledger reconciles after every action.</a:t>
            </a:r>
          </a:p>
        </p:txBody>
      </p:sp>
      <p:sp>
        <p:nvSpPr>
          <p:cNvPr id="30" name="Rounded Rectangle 29"/>
          <p:cNvSpPr/>
          <p:nvPr/>
        </p:nvSpPr>
        <p:spPr>
          <a:xfrm>
            <a:off x="9692640" y="2834640"/>
            <a:ext cx="6309360" cy="3890203"/>
          </a:xfrm>
          <a:prstGeom prst="roundRect">
            <a:avLst>
              <a:gd name="adj" fmla="val 3290"/>
            </a:avLst>
          </a:prstGeom>
          <a:solidFill>
            <a:srgbClr val="FFFFFF"/>
          </a:solidFill>
          <a:ln w="19050">
            <a:solidFill>
              <a:srgbClr val="E6DCE4"/>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9875519" y="2944368"/>
            <a:ext cx="118872" cy="118872"/>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076688" y="2944368"/>
            <a:ext cx="118872" cy="118872"/>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277855" y="2944368"/>
            <a:ext cx="118872" cy="118872"/>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11459260" y="2898648"/>
            <a:ext cx="2776118" cy="210312"/>
          </a:xfrm>
          <a:prstGeom prst="roundRect">
            <a:avLst>
              <a:gd name="adj" fmla="val 50000"/>
            </a:avLst>
          </a:prstGeom>
          <a:solidFill>
            <a:srgbClr val="F1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1459260" y="2898648"/>
            <a:ext cx="2776118" cy="210312"/>
          </a:xfrm>
          <a:prstGeom prst="rect">
            <a:avLst/>
          </a:prstGeom>
          <a:noFill/>
        </p:spPr>
        <p:txBody>
          <a:bodyPr wrap="square" lIns="0" rIns="0" tIns="0" bIns="0" anchor="ctr">
            <a:noAutofit/>
          </a:bodyPr>
          <a:lstStyle/>
          <a:p>
            <a:pPr algn="ctr">
              <a:lnSpc>
                <a:spcPct val="100000"/>
              </a:lnSpc>
              <a:spcAft>
                <a:spcPts val="0"/>
              </a:spcAft>
            </a:pPr>
            <a:r>
              <a:rPr sz="1140">
                <a:solidFill>
                  <a:srgbClr val="6B6878"/>
                </a:solidFill>
                <a:latin typeface="Calibri"/>
              </a:rPr>
              <a:t>sealstone.local/vault</a:t>
            </a:r>
          </a:p>
        </p:txBody>
      </p:sp>
      <p:pic>
        <p:nvPicPr>
          <p:cNvPr id="36" name="Picture 35" descr="desktop-vault.jpg"/>
          <p:cNvPicPr>
            <a:picLocks noChangeAspect="1"/>
          </p:cNvPicPr>
          <p:nvPr/>
        </p:nvPicPr>
        <p:blipFill>
          <a:blip r:embed="rId12"/>
          <a:stretch>
            <a:fillRect/>
          </a:stretch>
        </p:blipFill>
        <p:spPr>
          <a:xfrm>
            <a:off x="9729215" y="3163824"/>
            <a:ext cx="6236208" cy="3506155"/>
          </a:xfrm>
          <a:prstGeom prst="rect">
            <a:avLst/>
          </a:prstGeom>
        </p:spPr>
      </p:pic>
      <p:sp>
        <p:nvSpPr>
          <p:cNvPr id="37" name="Rounded Rectangle 36"/>
          <p:cNvSpPr/>
          <p:nvPr/>
        </p:nvSpPr>
        <p:spPr>
          <a:xfrm>
            <a:off x="9692640" y="6999163"/>
            <a:ext cx="6309360" cy="685800"/>
          </a:xfrm>
          <a:prstGeom prst="roundRect">
            <a:avLst>
              <a:gd name="adj" fmla="val 50000"/>
            </a:avLst>
          </a:prstGeom>
          <a:solidFill>
            <a:srgbClr val="DD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692640" y="6999163"/>
            <a:ext cx="6309360" cy="685800"/>
          </a:xfrm>
          <a:prstGeom prst="rect">
            <a:avLst/>
          </a:prstGeom>
          <a:noFill/>
        </p:spPr>
        <p:txBody>
          <a:bodyPr wrap="square" lIns="0" rIns="0" tIns="0" bIns="0" anchor="ctr">
            <a:noAutofit/>
          </a:bodyPr>
          <a:lstStyle/>
          <a:p>
            <a:pPr algn="ctr">
              <a:lnSpc>
                <a:spcPct val="100000"/>
              </a:lnSpc>
              <a:spcAft>
                <a:spcPts val="0"/>
              </a:spcAft>
            </a:pPr>
            <a:r>
              <a:rPr sz="2600" b="1">
                <a:solidFill>
                  <a:srgbClr val="0B7A5B"/>
                </a:solidFill>
                <a:latin typeface="Heading Now 31-38 Bold"/>
              </a:rPr>
              <a:t>Every milestone, and a ledger that reconciles</a:t>
            </a:r>
          </a:p>
        </p:txBody>
      </p:sp>
      <p:sp>
        <p:nvSpPr>
          <p:cNvPr id="39" name="Rounded Rectangle 38"/>
          <p:cNvSpPr/>
          <p:nvPr/>
        </p:nvSpPr>
        <p:spPr>
          <a:xfrm>
            <a:off x="822960" y="8503920"/>
            <a:ext cx="15179040" cy="1188720"/>
          </a:xfrm>
          <a:prstGeom prst="roundRect">
            <a:avLst>
              <a:gd name="adj" fmla="val 15384"/>
            </a:avLst>
          </a:prstGeom>
          <a:solidFill>
            <a:srgbClr val="172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188720" y="8503920"/>
            <a:ext cx="14447520" cy="1188720"/>
          </a:xfrm>
          <a:prstGeom prst="rect">
            <a:avLst/>
          </a:prstGeom>
          <a:noFill/>
        </p:spPr>
        <p:txBody>
          <a:bodyPr wrap="square" lIns="0" rIns="0" tIns="0" bIns="0" anchor="ctr">
            <a:noAutofit/>
          </a:bodyPr>
          <a:lstStyle/>
          <a:p>
            <a:pPr algn="l">
              <a:lnSpc>
                <a:spcPct val="100000"/>
              </a:lnSpc>
              <a:spcAft>
                <a:spcPts val="0"/>
              </a:spcAft>
            </a:pPr>
            <a:r>
              <a:rPr sz="3000" b="1" i="1">
                <a:solidFill>
                  <a:srgbClr val="FAD3AE"/>
                </a:solidFill>
                <a:latin typeface="Georgia"/>
              </a:rPr>
              <a:t>AI informs. Rules decide. </a:t>
            </a:r>
          </a:p>
          <a:p>
            <a:pPr algn="l">
              <a:lnSpc>
                <a:spcPct val="100000"/>
              </a:lnSpc>
              <a:spcAft>
                <a:spcPts val="0"/>
              </a:spcAft>
            </a:pPr>
            <a:r>
              <a:rPr sz="2470">
                <a:solidFill>
                  <a:srgbClr val="FFFFFF"/>
                </a:solidFill>
                <a:latin typeface="Calibri"/>
              </a:rPr>
              <a:t>Every money-moving decision is made in Solidity. AI output never reaches the contract.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479517"/>
            <a:chOff x="0" y="0"/>
            <a:chExt cx="24384000" cy="13972689"/>
          </a:xfrm>
        </p:grpSpPr>
        <p:sp>
          <p:nvSpPr>
            <p:cNvPr id="4" name="Freeform 4"/>
            <p:cNvSpPr/>
            <p:nvPr/>
          </p:nvSpPr>
          <p:spPr>
            <a:xfrm>
              <a:off x="0" y="0"/>
              <a:ext cx="2333397" cy="13147537"/>
            </a:xfrm>
            <a:custGeom>
              <a:avLst/>
              <a:gdLst/>
              <a:ahLst/>
              <a:cxnLst/>
              <a:rect l="l" t="t" r="r" b="b"/>
              <a:pathLst>
                <a:path w="2333397" h="13147537">
                  <a:moveTo>
                    <a:pt x="0" y="0"/>
                  </a:moveTo>
                  <a:lnTo>
                    <a:pt x="2333397" y="0"/>
                  </a:lnTo>
                  <a:lnTo>
                    <a:pt x="2333397" y="13147537"/>
                  </a:lnTo>
                  <a:lnTo>
                    <a:pt x="0" y="13147537"/>
                  </a:lnTo>
                  <a:lnTo>
                    <a:pt x="0" y="0"/>
                  </a:lnTo>
                  <a:close/>
                </a:path>
              </a:pathLst>
            </a:custGeom>
            <a:blipFill>
              <a:blip r:embed="rId3"/>
              <a:stretch>
                <a:fillRect/>
              </a:stretch>
            </a:blipFill>
          </p:spPr>
        </p:sp>
        <p:sp>
          <p:nvSpPr>
            <p:cNvPr id="5" name="Freeform 5"/>
            <p:cNvSpPr/>
            <p:nvPr/>
          </p:nvSpPr>
          <p:spPr>
            <a:xfrm>
              <a:off x="19148440" y="8847622"/>
              <a:ext cx="2333397" cy="2303005"/>
            </a:xfrm>
            <a:custGeom>
              <a:avLst/>
              <a:gdLst/>
              <a:ahLst/>
              <a:cxnLst/>
              <a:rect l="l" t="t" r="r" b="b"/>
              <a:pathLst>
                <a:path w="2333397" h="2303005">
                  <a:moveTo>
                    <a:pt x="0" y="0"/>
                  </a:moveTo>
                  <a:lnTo>
                    <a:pt x="2333397" y="0"/>
                  </a:lnTo>
                  <a:lnTo>
                    <a:pt x="2333397" y="2303005"/>
                  </a:lnTo>
                  <a:lnTo>
                    <a:pt x="0" y="2303005"/>
                  </a:lnTo>
                  <a:lnTo>
                    <a:pt x="0" y="0"/>
                  </a:lnTo>
                  <a:close/>
                </a:path>
              </a:pathLst>
            </a:custGeom>
            <a:blipFill>
              <a:blip r:embed="rId4"/>
              <a:stretch>
                <a:fillRect/>
              </a:stretch>
            </a:blipFill>
          </p:spPr>
        </p:sp>
        <p:sp>
          <p:nvSpPr>
            <p:cNvPr id="6" name="Freeform 6"/>
            <p:cNvSpPr/>
            <p:nvPr/>
          </p:nvSpPr>
          <p:spPr>
            <a:xfrm>
              <a:off x="17412976" y="9395831"/>
              <a:ext cx="6971024" cy="4342033"/>
            </a:xfrm>
            <a:custGeom>
              <a:avLst/>
              <a:gdLst/>
              <a:ahLst/>
              <a:cxnLst/>
              <a:rect l="l" t="t" r="r" b="b"/>
              <a:pathLst>
                <a:path w="6971024" h="4342033">
                  <a:moveTo>
                    <a:pt x="0" y="0"/>
                  </a:moveTo>
                  <a:lnTo>
                    <a:pt x="6971024" y="0"/>
                  </a:lnTo>
                  <a:lnTo>
                    <a:pt x="6971024" y="4342033"/>
                  </a:lnTo>
                  <a:lnTo>
                    <a:pt x="0" y="4342033"/>
                  </a:lnTo>
                  <a:lnTo>
                    <a:pt x="0" y="0"/>
                  </a:lnTo>
                  <a:close/>
                </a:path>
              </a:pathLst>
            </a:custGeom>
            <a:blipFill>
              <a:blip r:embed="rId5"/>
              <a:stretch>
                <a:fillRect t="-5743"/>
              </a:stretch>
            </a:blipFill>
          </p:spPr>
        </p:sp>
        <p:sp>
          <p:nvSpPr>
            <p:cNvPr id="7" name="Freeform 7"/>
            <p:cNvSpPr/>
            <p:nvPr/>
          </p:nvSpPr>
          <p:spPr>
            <a:xfrm>
              <a:off x="0" y="9395831"/>
              <a:ext cx="1750048" cy="4576859"/>
            </a:xfrm>
            <a:custGeom>
              <a:avLst/>
              <a:gdLst/>
              <a:ahLst/>
              <a:cxnLst/>
              <a:rect l="l" t="t" r="r" b="b"/>
              <a:pathLst>
                <a:path w="1750048" h="4576859">
                  <a:moveTo>
                    <a:pt x="0" y="0"/>
                  </a:moveTo>
                  <a:lnTo>
                    <a:pt x="1750048" y="0"/>
                  </a:lnTo>
                  <a:lnTo>
                    <a:pt x="1750048" y="4576858"/>
                  </a:lnTo>
                  <a:lnTo>
                    <a:pt x="0" y="4576858"/>
                  </a:lnTo>
                  <a:lnTo>
                    <a:pt x="0" y="0"/>
                  </a:lnTo>
                  <a:close/>
                </a:path>
              </a:pathLst>
            </a:custGeom>
            <a:blipFill>
              <a:blip r:embed="rId6"/>
              <a:stretch>
                <a:fillRect/>
              </a:stretch>
            </a:blipFill>
          </p:spPr>
        </p:sp>
        <p:sp>
          <p:nvSpPr>
            <p:cNvPr id="8" name="Freeform 8"/>
            <p:cNvSpPr/>
            <p:nvPr/>
          </p:nvSpPr>
          <p:spPr>
            <a:xfrm>
              <a:off x="22633952" y="7273416"/>
              <a:ext cx="1750048" cy="5451418"/>
            </a:xfrm>
            <a:custGeom>
              <a:avLst/>
              <a:gdLst/>
              <a:ahLst/>
              <a:cxnLst/>
              <a:rect l="l" t="t" r="r" b="b"/>
              <a:pathLst>
                <a:path w="1750048" h="5451418">
                  <a:moveTo>
                    <a:pt x="0" y="0"/>
                  </a:moveTo>
                  <a:lnTo>
                    <a:pt x="1750048" y="0"/>
                  </a:lnTo>
                  <a:lnTo>
                    <a:pt x="1750048" y="5451417"/>
                  </a:lnTo>
                  <a:lnTo>
                    <a:pt x="0" y="5451417"/>
                  </a:lnTo>
                  <a:lnTo>
                    <a:pt x="0" y="0"/>
                  </a:lnTo>
                  <a:close/>
                </a:path>
              </a:pathLst>
            </a:custGeom>
            <a:blipFill>
              <a:blip r:embed="rId7"/>
              <a:stretch>
                <a:fillRect/>
              </a:stretch>
            </a:blipFill>
          </p:spPr>
        </p:sp>
        <p:sp>
          <p:nvSpPr>
            <p:cNvPr id="9" name="Freeform 9"/>
            <p:cNvSpPr/>
            <p:nvPr/>
          </p:nvSpPr>
          <p:spPr>
            <a:xfrm>
              <a:off x="22275922" y="9395831"/>
              <a:ext cx="1472957" cy="3162988"/>
            </a:xfrm>
            <a:custGeom>
              <a:avLst/>
              <a:gdLst/>
              <a:ahLst/>
              <a:cxnLst/>
              <a:rect l="l" t="t" r="r" b="b"/>
              <a:pathLst>
                <a:path w="1472957" h="3162988">
                  <a:moveTo>
                    <a:pt x="0" y="0"/>
                  </a:moveTo>
                  <a:lnTo>
                    <a:pt x="1472956" y="0"/>
                  </a:lnTo>
                  <a:lnTo>
                    <a:pt x="1472956" y="3162988"/>
                  </a:lnTo>
                  <a:lnTo>
                    <a:pt x="0" y="3162988"/>
                  </a:lnTo>
                  <a:lnTo>
                    <a:pt x="0" y="0"/>
                  </a:lnTo>
                  <a:close/>
                </a:path>
              </a:pathLst>
            </a:custGeom>
            <a:blipFill>
              <a:blip r:embed="rId8"/>
              <a:stretch>
                <a:fillRect/>
              </a:stretch>
            </a:blipFill>
          </p:spPr>
        </p:sp>
      </p:grpSp>
      <p:sp>
        <p:nvSpPr>
          <p:cNvPr id="10" name="TextBox 10"/>
          <p:cNvSpPr txBox="1"/>
          <p:nvPr/>
        </p:nvSpPr>
        <p:spPr>
          <a:xfrm>
            <a:off x="338328" y="146304"/>
            <a:ext cx="14630400" cy="1200150"/>
          </a:xfrm>
          <a:prstGeom prst="rect">
            <a:avLst/>
          </a:prstGeom>
        </p:spPr>
        <p:txBody>
          <a:bodyPr lIns="0" tIns="0" rIns="0" bIns="0" rtlCol="0" anchor="t">
            <a:spAutoFit/>
          </a:bodyPr>
          <a:lstStyle/>
          <a:p>
            <a:pPr algn="l">
              <a:lnSpc>
                <a:spcPts val="7500"/>
              </a:lnSpc>
            </a:pPr>
            <a:r>
              <a:rPr lang="en-US" sz="7500" b="1" spc="150">
                <a:solidFill>
                  <a:srgbClr val="172243"/>
                </a:solidFill>
                <a:latin typeface="Heading Now 31-38 Bold"/>
                <a:ea typeface="Heading Now 31-38 Bold"/>
                <a:cs typeface="Heading Now 31-38 Bold"/>
                <a:sym typeface="Heading Now 31-38 Bold"/>
              </a:rPr>
              <a:t>PRODUCT IN ACTION</a:t>
            </a:r>
          </a:p>
        </p:txBody>
      </p:sp>
      <p:sp>
        <p:nvSpPr>
          <p:cNvPr id="11" name="Freeform 11"/>
          <p:cNvSpPr/>
          <p:nvPr/>
        </p:nvSpPr>
        <p:spPr>
          <a:xfrm>
            <a:off x="255295" y="1188720"/>
            <a:ext cx="5606186" cy="535667"/>
          </a:xfrm>
          <a:custGeom>
            <a:avLst/>
            <a:gdLst/>
            <a:ahLst/>
            <a:cxnLst/>
            <a:rect l="l" t="t" r="r" b="b"/>
            <a:pathLst>
              <a:path w="5020450" h="535667">
                <a:moveTo>
                  <a:pt x="0" y="0"/>
                </a:moveTo>
                <a:lnTo>
                  <a:pt x="5020450" y="0"/>
                </a:lnTo>
                <a:lnTo>
                  <a:pt x="5020450" y="535667"/>
                </a:lnTo>
                <a:lnTo>
                  <a:pt x="0" y="535667"/>
                </a:lnTo>
                <a:lnTo>
                  <a:pt x="0" y="0"/>
                </a:lnTo>
                <a:close/>
              </a:path>
            </a:pathLst>
          </a:custGeom>
          <a:blipFill>
            <a:blip r:embed="rId9"/>
            <a:stretch>
              <a:fillRect l="-11250" r="-11250"/>
            </a:stretch>
          </a:blipFill>
        </p:spPr>
      </p:sp>
      <p:sp>
        <p:nvSpPr>
          <p:cNvPr id="12" name="Freeform 12"/>
          <p:cNvSpPr/>
          <p:nvPr/>
        </p:nvSpPr>
        <p:spPr>
          <a:xfrm>
            <a:off x="16178937" y="216170"/>
            <a:ext cx="2160727" cy="2160727"/>
          </a:xfrm>
          <a:custGeom>
            <a:avLst/>
            <a:gdLst/>
            <a:ahLst/>
            <a:cxnLst/>
            <a:rect l="l" t="t" r="r" b="b"/>
            <a:pathLst>
              <a:path w="2160727" h="2160727">
                <a:moveTo>
                  <a:pt x="0" y="0"/>
                </a:moveTo>
                <a:lnTo>
                  <a:pt x="2160726" y="0"/>
                </a:lnTo>
                <a:lnTo>
                  <a:pt x="2160726" y="2160727"/>
                </a:lnTo>
                <a:lnTo>
                  <a:pt x="0" y="2160727"/>
                </a:lnTo>
                <a:lnTo>
                  <a:pt x="0" y="0"/>
                </a:lnTo>
                <a:close/>
              </a:path>
            </a:pathLst>
          </a:custGeom>
          <a:blipFill>
            <a:blip r:embed="rId10"/>
            <a:stretch>
              <a:fillRect/>
            </a:stretch>
          </a:blipFill>
        </p:spPr>
      </p:sp>
      <p:sp>
        <p:nvSpPr>
          <p:cNvPr id="13" name="Freeform 13"/>
          <p:cNvSpPr/>
          <p:nvPr/>
        </p:nvSpPr>
        <p:spPr>
          <a:xfrm>
            <a:off x="13923818" y="2160727"/>
            <a:ext cx="4364182" cy="2153601"/>
          </a:xfrm>
          <a:custGeom>
            <a:avLst/>
            <a:gdLst/>
            <a:ahLst/>
            <a:cxnLst/>
            <a:rect l="l" t="t" r="r" b="b"/>
            <a:pathLst>
              <a:path w="4364182" h="2153601">
                <a:moveTo>
                  <a:pt x="0" y="0"/>
                </a:moveTo>
                <a:lnTo>
                  <a:pt x="4364182" y="0"/>
                </a:lnTo>
                <a:lnTo>
                  <a:pt x="4364182" y="2153601"/>
                </a:lnTo>
                <a:lnTo>
                  <a:pt x="0" y="2153601"/>
                </a:lnTo>
                <a:lnTo>
                  <a:pt x="0" y="0"/>
                </a:lnTo>
                <a:close/>
              </a:path>
            </a:pathLst>
          </a:custGeom>
          <a:blipFill>
            <a:blip r:embed="rId11">
              <a:alphaModFix amt="68000"/>
            </a:blip>
            <a:stretch>
              <a:fillRect/>
            </a:stretch>
          </a:blipFill>
        </p:spPr>
      </p:sp>
      <p:sp>
        <p:nvSpPr>
          <p:cNvPr id="14" name="Claim"/>
          <p:cNvSpPr txBox="1"/>
          <p:nvPr/>
        </p:nvSpPr>
        <p:spPr>
          <a:xfrm>
            <a:off x="777240" y="1828800"/>
            <a:ext cx="15179040" cy="914400"/>
          </a:xfrm>
          <a:prstGeom prst="rect">
            <a:avLst/>
          </a:prstGeom>
          <a:noFill/>
        </p:spPr>
        <p:txBody>
          <a:bodyPr wrap="square" lIns="0" rIns="0" tIns="0" bIns="0" anchor="ctr">
            <a:noAutofit/>
          </a:bodyPr>
          <a:lstStyle/>
          <a:p>
            <a:pPr algn="l">
              <a:lnSpc>
                <a:spcPct val="100000"/>
              </a:lnSpc>
              <a:spcAft>
                <a:spcPts val="0"/>
              </a:spcAft>
            </a:pPr>
            <a:r>
              <a:rPr sz="4720" b="1">
                <a:solidFill>
                  <a:srgbClr val="172243"/>
                </a:solidFill>
                <a:latin typeface="Heading Now 31-38 Bold"/>
              </a:rPr>
              <a:t>A working product, not a mock-up: </a:t>
            </a:r>
            <a:r>
              <a:rPr sz="2879" i="1">
                <a:solidFill>
                  <a:srgbClr val="4E4A76"/>
                </a:solidFill>
                <a:latin typeface="Georgia"/>
              </a:rPr>
              <a:t>judges can try every step live.</a:t>
            </a:r>
          </a:p>
        </p:txBody>
      </p:sp>
      <p:sp>
        <p:nvSpPr>
          <p:cNvPr id="15" name="Rounded Rectangle 14"/>
          <p:cNvSpPr/>
          <p:nvPr/>
        </p:nvSpPr>
        <p:spPr>
          <a:xfrm>
            <a:off x="822960" y="2926080"/>
            <a:ext cx="3611880" cy="2374582"/>
          </a:xfrm>
          <a:prstGeom prst="roundRect">
            <a:avLst>
              <a:gd name="adj" fmla="val 5391"/>
            </a:avLst>
          </a:prstGeom>
          <a:solidFill>
            <a:srgbClr val="FFFFFF"/>
          </a:solidFill>
          <a:ln w="19050">
            <a:solidFill>
              <a:srgbClr val="E6DCE4"/>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005840" y="3035808"/>
            <a:ext cx="118872" cy="118872"/>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207008" y="3035808"/>
            <a:ext cx="118872" cy="118872"/>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408176" y="3035808"/>
            <a:ext cx="118872" cy="118872"/>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1834286" y="2990088"/>
            <a:ext cx="1589227" cy="210312"/>
          </a:xfrm>
          <a:prstGeom prst="roundRect">
            <a:avLst>
              <a:gd name="adj" fmla="val 50000"/>
            </a:avLst>
          </a:prstGeom>
          <a:solidFill>
            <a:srgbClr val="F1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834286" y="2990088"/>
            <a:ext cx="1589227" cy="210312"/>
          </a:xfrm>
          <a:prstGeom prst="rect">
            <a:avLst/>
          </a:prstGeom>
          <a:noFill/>
        </p:spPr>
        <p:txBody>
          <a:bodyPr wrap="square" lIns="0" rIns="0" tIns="0" bIns="0" anchor="ctr">
            <a:noAutofit/>
          </a:bodyPr>
          <a:lstStyle/>
          <a:p>
            <a:pPr algn="ctr">
              <a:lnSpc>
                <a:spcPct val="100000"/>
              </a:lnSpc>
              <a:spcAft>
                <a:spcPts val="0"/>
              </a:spcAft>
            </a:pPr>
            <a:r>
              <a:rPr sz="1140">
                <a:solidFill>
                  <a:srgbClr val="6B6878"/>
                </a:solidFill>
                <a:latin typeface="Calibri"/>
              </a:rPr>
              <a:t>sealstone.local/agreement</a:t>
            </a:r>
          </a:p>
        </p:txBody>
      </p:sp>
      <p:pic>
        <p:nvPicPr>
          <p:cNvPr id="21" name="Picture 20" descr="studio-resolve.jpg"/>
          <p:cNvPicPr>
            <a:picLocks noChangeAspect="1"/>
          </p:cNvPicPr>
          <p:nvPr/>
        </p:nvPicPr>
        <p:blipFill>
          <a:blip r:embed="rId12"/>
          <a:stretch>
            <a:fillRect/>
          </a:stretch>
        </p:blipFill>
        <p:spPr>
          <a:xfrm>
            <a:off x="859536" y="3255264"/>
            <a:ext cx="3538728" cy="1990534"/>
          </a:xfrm>
          <a:prstGeom prst="rect">
            <a:avLst/>
          </a:prstGeom>
        </p:spPr>
      </p:pic>
      <p:sp>
        <p:nvSpPr>
          <p:cNvPr id="22" name="Oval 21"/>
          <p:cNvSpPr/>
          <p:nvPr/>
        </p:nvSpPr>
        <p:spPr>
          <a:xfrm>
            <a:off x="658368" y="2761488"/>
            <a:ext cx="566928" cy="566928"/>
          </a:xfrm>
          <a:prstGeom prst="ellipse">
            <a:avLst/>
          </a:prstGeom>
          <a:solidFill>
            <a:srgbClr val="EE7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58368" y="2761488"/>
            <a:ext cx="566928" cy="566928"/>
          </a:xfrm>
          <a:prstGeom prst="rect">
            <a:avLst/>
          </a:prstGeom>
          <a:noFill/>
        </p:spPr>
        <p:txBody>
          <a:bodyPr wrap="square" lIns="0" rIns="0" tIns="0" bIns="0" anchor="ctr">
            <a:noAutofit/>
          </a:bodyPr>
          <a:lstStyle/>
          <a:p>
            <a:pPr algn="ctr">
              <a:lnSpc>
                <a:spcPct val="100000"/>
              </a:lnSpc>
              <a:spcAft>
                <a:spcPts val="0"/>
              </a:spcAft>
            </a:pPr>
            <a:r>
              <a:rPr sz="3070">
                <a:solidFill>
                  <a:srgbClr val="172243"/>
                </a:solidFill>
                <a:latin typeface="Heading Now 31-38 Bold"/>
              </a:rPr>
              <a:t>1</a:t>
            </a:r>
          </a:p>
        </p:txBody>
      </p:sp>
      <p:sp>
        <p:nvSpPr>
          <p:cNvPr id="24" name="TextBox 23"/>
          <p:cNvSpPr txBox="1"/>
          <p:nvPr/>
        </p:nvSpPr>
        <p:spPr>
          <a:xfrm>
            <a:off x="822960" y="5483542"/>
            <a:ext cx="3611880" cy="502920"/>
          </a:xfrm>
          <a:prstGeom prst="rect">
            <a:avLst/>
          </a:prstGeom>
          <a:noFill/>
        </p:spPr>
        <p:txBody>
          <a:bodyPr wrap="square" lIns="0" rIns="0" tIns="0" bIns="0" anchor="t">
            <a:noAutofit/>
          </a:bodyPr>
          <a:lstStyle/>
          <a:p>
            <a:pPr algn="l">
              <a:lnSpc>
                <a:spcPct val="100000"/>
              </a:lnSpc>
              <a:spcAft>
                <a:spcPts val="0"/>
              </a:spcAft>
            </a:pPr>
            <a:r>
              <a:rPr sz="3070" b="1">
                <a:solidFill>
                  <a:srgbClr val="172243"/>
                </a:solidFill>
                <a:latin typeface="Heading Now 31-38 Bold"/>
              </a:rPr>
              <a:t>AI proposes and flags</a:t>
            </a:r>
          </a:p>
        </p:txBody>
      </p:sp>
      <p:sp>
        <p:nvSpPr>
          <p:cNvPr id="25" name="TextBox 24"/>
          <p:cNvSpPr txBox="1"/>
          <p:nvPr/>
        </p:nvSpPr>
        <p:spPr>
          <a:xfrm>
            <a:off x="822960" y="6032182"/>
            <a:ext cx="3611880" cy="1188720"/>
          </a:xfrm>
          <a:prstGeom prst="rect">
            <a:avLst/>
          </a:prstGeom>
          <a:noFill/>
        </p:spPr>
        <p:txBody>
          <a:bodyPr wrap="square" lIns="0" rIns="0" tIns="0" bIns="0" anchor="t">
            <a:noAutofit/>
          </a:bodyPr>
          <a:lstStyle/>
          <a:p>
            <a:pPr algn="l">
              <a:lnSpc>
                <a:spcPct val="100000"/>
              </a:lnSpc>
              <a:spcAft>
                <a:spcPts val="0"/>
              </a:spcAft>
            </a:pPr>
            <a:r>
              <a:rPr sz="1989">
                <a:solidFill>
                  <a:srgbClr val="161F3E"/>
                </a:solidFill>
                <a:latin typeface="Calibri"/>
              </a:rPr>
              <a:t>Unclear terms are highlighted. Confirm stays locked until each is resolved.</a:t>
            </a:r>
          </a:p>
        </p:txBody>
      </p:sp>
      <p:sp>
        <p:nvSpPr>
          <p:cNvPr id="26" name="Rounded Rectangle 25"/>
          <p:cNvSpPr/>
          <p:nvPr/>
        </p:nvSpPr>
        <p:spPr>
          <a:xfrm>
            <a:off x="4681728" y="2926080"/>
            <a:ext cx="3611880" cy="2374582"/>
          </a:xfrm>
          <a:prstGeom prst="roundRect">
            <a:avLst>
              <a:gd name="adj" fmla="val 5391"/>
            </a:avLst>
          </a:prstGeom>
          <a:solidFill>
            <a:srgbClr val="FFFFFF"/>
          </a:solidFill>
          <a:ln w="19050">
            <a:solidFill>
              <a:srgbClr val="E6DCE4"/>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4864608" y="3035808"/>
            <a:ext cx="118872" cy="118872"/>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5065776" y="3035808"/>
            <a:ext cx="118872" cy="118872"/>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5266944" y="3035808"/>
            <a:ext cx="118872" cy="118872"/>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5693054" y="2990088"/>
            <a:ext cx="1589227" cy="210312"/>
          </a:xfrm>
          <a:prstGeom prst="roundRect">
            <a:avLst>
              <a:gd name="adj" fmla="val 50000"/>
            </a:avLst>
          </a:prstGeom>
          <a:solidFill>
            <a:srgbClr val="F1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693054" y="2990088"/>
            <a:ext cx="1589227" cy="210312"/>
          </a:xfrm>
          <a:prstGeom prst="rect">
            <a:avLst/>
          </a:prstGeom>
          <a:noFill/>
        </p:spPr>
        <p:txBody>
          <a:bodyPr wrap="square" lIns="0" rIns="0" tIns="0" bIns="0" anchor="ctr">
            <a:noAutofit/>
          </a:bodyPr>
          <a:lstStyle/>
          <a:p>
            <a:pPr algn="ctr">
              <a:lnSpc>
                <a:spcPct val="100000"/>
              </a:lnSpc>
              <a:spcAft>
                <a:spcPts val="0"/>
              </a:spcAft>
            </a:pPr>
            <a:r>
              <a:rPr sz="1140">
                <a:solidFill>
                  <a:srgbClr val="6B6878"/>
                </a:solidFill>
                <a:latin typeface="Calibri"/>
              </a:rPr>
              <a:t>sealstone.local/dashboard</a:t>
            </a:r>
          </a:p>
        </p:txBody>
      </p:sp>
      <p:sp>
        <p:nvSpPr>
          <p:cNvPr id="32" name="PLACEHOLDER dashboard screenshot"/>
          <p:cNvSpPr/>
          <p:nvPr/>
        </p:nvSpPr>
        <p:spPr>
          <a:xfrm>
            <a:off x="4718304" y="3255264"/>
            <a:ext cx="3538728" cy="1990534"/>
          </a:xfrm>
          <a:prstGeom prst="roundRect">
            <a:avLst>
              <a:gd name="adj" fmla="val 1837"/>
            </a:avLst>
          </a:prstGeom>
          <a:solidFill>
            <a:srgbClr val="EFEBFF"/>
          </a:solidFill>
          <a:ln w="31750">
            <a:solidFill>
              <a:srgbClr val="5B45E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956048" y="3812613"/>
            <a:ext cx="3063240" cy="548640"/>
          </a:xfrm>
          <a:prstGeom prst="rect">
            <a:avLst/>
          </a:prstGeom>
          <a:noFill/>
        </p:spPr>
        <p:txBody>
          <a:bodyPr wrap="square" lIns="0" rIns="0" tIns="0" bIns="0" anchor="t">
            <a:noAutofit/>
          </a:bodyPr>
          <a:lstStyle/>
          <a:p>
            <a:pPr algn="ctr">
              <a:lnSpc>
                <a:spcPct val="100000"/>
              </a:lnSpc>
              <a:spcAft>
                <a:spcPts val="0"/>
              </a:spcAft>
            </a:pPr>
            <a:r>
              <a:rPr sz="3070" b="1">
                <a:solidFill>
                  <a:srgbClr val="5B45E6"/>
                </a:solidFill>
                <a:latin typeface="Heading Now 31-38 Bold"/>
              </a:rPr>
              <a:t>DASHBOARD SCREENSHOT</a:t>
            </a:r>
          </a:p>
        </p:txBody>
      </p:sp>
      <p:sp>
        <p:nvSpPr>
          <p:cNvPr id="34" name="TextBox 33"/>
          <p:cNvSpPr txBox="1"/>
          <p:nvPr/>
        </p:nvSpPr>
        <p:spPr>
          <a:xfrm>
            <a:off x="4956048" y="4406973"/>
            <a:ext cx="3063240" cy="822960"/>
          </a:xfrm>
          <a:prstGeom prst="rect">
            <a:avLst/>
          </a:prstGeom>
          <a:noFill/>
        </p:spPr>
        <p:txBody>
          <a:bodyPr wrap="square" lIns="0" rIns="0" tIns="0" bIns="0" anchor="t">
            <a:noAutofit/>
          </a:bodyPr>
          <a:lstStyle/>
          <a:p>
            <a:pPr algn="ctr">
              <a:lnSpc>
                <a:spcPct val="100000"/>
              </a:lnSpc>
              <a:spcAft>
                <a:spcPts val="0"/>
              </a:spcAft>
            </a:pPr>
            <a:r>
              <a:rPr sz="1710">
                <a:solidFill>
                  <a:srgbClr val="4E4A76"/>
                </a:solidFill>
                <a:latin typeface="Calibri"/>
              </a:rPr>
              <a:t>Placeholder: the final dashboard capture goes here</a:t>
            </a:r>
          </a:p>
        </p:txBody>
      </p:sp>
      <p:sp>
        <p:nvSpPr>
          <p:cNvPr id="35" name="Oval 34"/>
          <p:cNvSpPr/>
          <p:nvPr/>
        </p:nvSpPr>
        <p:spPr>
          <a:xfrm>
            <a:off x="4517136" y="2761488"/>
            <a:ext cx="566928" cy="566928"/>
          </a:xfrm>
          <a:prstGeom prst="ellipse">
            <a:avLst/>
          </a:prstGeom>
          <a:solidFill>
            <a:srgbClr val="EE7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17136" y="2761488"/>
            <a:ext cx="566928" cy="566928"/>
          </a:xfrm>
          <a:prstGeom prst="rect">
            <a:avLst/>
          </a:prstGeom>
          <a:noFill/>
        </p:spPr>
        <p:txBody>
          <a:bodyPr wrap="square" lIns="0" rIns="0" tIns="0" bIns="0" anchor="ctr">
            <a:noAutofit/>
          </a:bodyPr>
          <a:lstStyle/>
          <a:p>
            <a:pPr algn="ctr">
              <a:lnSpc>
                <a:spcPct val="100000"/>
              </a:lnSpc>
              <a:spcAft>
                <a:spcPts val="0"/>
              </a:spcAft>
            </a:pPr>
            <a:r>
              <a:rPr sz="3070">
                <a:solidFill>
                  <a:srgbClr val="172243"/>
                </a:solidFill>
                <a:latin typeface="Heading Now 31-38 Bold"/>
              </a:rPr>
              <a:t>2</a:t>
            </a:r>
          </a:p>
        </p:txBody>
      </p:sp>
      <p:sp>
        <p:nvSpPr>
          <p:cNvPr id="37" name="TextBox 36"/>
          <p:cNvSpPr txBox="1"/>
          <p:nvPr/>
        </p:nvSpPr>
        <p:spPr>
          <a:xfrm>
            <a:off x="4681728" y="5483542"/>
            <a:ext cx="3611880" cy="502920"/>
          </a:xfrm>
          <a:prstGeom prst="rect">
            <a:avLst/>
          </a:prstGeom>
          <a:noFill/>
        </p:spPr>
        <p:txBody>
          <a:bodyPr wrap="square" lIns="0" rIns="0" tIns="0" bIns="0" anchor="t">
            <a:noAutofit/>
          </a:bodyPr>
          <a:lstStyle/>
          <a:p>
            <a:pPr algn="l">
              <a:lnSpc>
                <a:spcPct val="100000"/>
              </a:lnSpc>
              <a:spcAft>
                <a:spcPts val="0"/>
              </a:spcAft>
            </a:pPr>
            <a:r>
              <a:rPr sz="3070" b="1">
                <a:solidFill>
                  <a:srgbClr val="172243"/>
                </a:solidFill>
                <a:latin typeface="Heading Now 31-38 Bold"/>
              </a:rPr>
              <a:t>One dashboard, every vault</a:t>
            </a:r>
          </a:p>
        </p:txBody>
      </p:sp>
      <p:sp>
        <p:nvSpPr>
          <p:cNvPr id="38" name="TextBox 37"/>
          <p:cNvSpPr txBox="1"/>
          <p:nvPr/>
        </p:nvSpPr>
        <p:spPr>
          <a:xfrm>
            <a:off x="4681728" y="6032182"/>
            <a:ext cx="3611880" cy="1188720"/>
          </a:xfrm>
          <a:prstGeom prst="rect">
            <a:avLst/>
          </a:prstGeom>
          <a:noFill/>
        </p:spPr>
        <p:txBody>
          <a:bodyPr wrap="square" lIns="0" rIns="0" tIns="0" bIns="0" anchor="t">
            <a:noAutofit/>
          </a:bodyPr>
          <a:lstStyle/>
          <a:p>
            <a:pPr algn="l">
              <a:lnSpc>
                <a:spcPct val="100000"/>
              </a:lnSpc>
              <a:spcAft>
                <a:spcPts val="0"/>
              </a:spcAft>
            </a:pPr>
            <a:r>
              <a:rPr sz="1989">
                <a:solidFill>
                  <a:srgbClr val="161F3E"/>
                </a:solidFill>
                <a:latin typeface="Calibri"/>
              </a:rPr>
              <a:t>What's locked, owed and waiting, with the ledger reconciled.</a:t>
            </a:r>
          </a:p>
        </p:txBody>
      </p:sp>
      <p:sp>
        <p:nvSpPr>
          <p:cNvPr id="39" name="Rounded Rectangle 38"/>
          <p:cNvSpPr/>
          <p:nvPr/>
        </p:nvSpPr>
        <p:spPr>
          <a:xfrm>
            <a:off x="8540496" y="2926080"/>
            <a:ext cx="3611880" cy="2374582"/>
          </a:xfrm>
          <a:prstGeom prst="roundRect">
            <a:avLst>
              <a:gd name="adj" fmla="val 5391"/>
            </a:avLst>
          </a:prstGeom>
          <a:solidFill>
            <a:srgbClr val="FFFFFF"/>
          </a:solidFill>
          <a:ln w="19050">
            <a:solidFill>
              <a:srgbClr val="E6DCE4"/>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8723376" y="3035808"/>
            <a:ext cx="118872" cy="118872"/>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8924544" y="3035808"/>
            <a:ext cx="118872" cy="118872"/>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9125712" y="3035808"/>
            <a:ext cx="118872" cy="118872"/>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ounded Rectangle 42"/>
          <p:cNvSpPr/>
          <p:nvPr/>
        </p:nvSpPr>
        <p:spPr>
          <a:xfrm>
            <a:off x="9551822" y="2990088"/>
            <a:ext cx="1589227" cy="210312"/>
          </a:xfrm>
          <a:prstGeom prst="roundRect">
            <a:avLst>
              <a:gd name="adj" fmla="val 50000"/>
            </a:avLst>
          </a:prstGeom>
          <a:solidFill>
            <a:srgbClr val="F1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551822" y="2990088"/>
            <a:ext cx="1589227" cy="210312"/>
          </a:xfrm>
          <a:prstGeom prst="rect">
            <a:avLst/>
          </a:prstGeom>
          <a:noFill/>
        </p:spPr>
        <p:txBody>
          <a:bodyPr wrap="square" lIns="0" rIns="0" tIns="0" bIns="0" anchor="ctr">
            <a:noAutofit/>
          </a:bodyPr>
          <a:lstStyle/>
          <a:p>
            <a:pPr algn="ctr">
              <a:lnSpc>
                <a:spcPct val="100000"/>
              </a:lnSpc>
              <a:spcAft>
                <a:spcPts val="0"/>
              </a:spcAft>
            </a:pPr>
            <a:r>
              <a:rPr sz="1140">
                <a:solidFill>
                  <a:srgbClr val="6B6878"/>
                </a:solidFill>
                <a:latin typeface="Calibri"/>
              </a:rPr>
              <a:t>sealstone.local/vault</a:t>
            </a:r>
          </a:p>
        </p:txBody>
      </p:sp>
      <p:pic>
        <p:nvPicPr>
          <p:cNvPr id="45" name="Picture 44" descr="approve-different.jpg"/>
          <p:cNvPicPr>
            <a:picLocks noChangeAspect="1"/>
          </p:cNvPicPr>
          <p:nvPr/>
        </p:nvPicPr>
        <p:blipFill>
          <a:blip r:embed="rId13"/>
          <a:stretch>
            <a:fillRect/>
          </a:stretch>
        </p:blipFill>
        <p:spPr>
          <a:xfrm>
            <a:off x="8577072" y="3255264"/>
            <a:ext cx="3538728" cy="1990534"/>
          </a:xfrm>
          <a:prstGeom prst="rect">
            <a:avLst/>
          </a:prstGeom>
        </p:spPr>
      </p:pic>
      <p:sp>
        <p:nvSpPr>
          <p:cNvPr id="46" name="Oval 45"/>
          <p:cNvSpPr/>
          <p:nvPr/>
        </p:nvSpPr>
        <p:spPr>
          <a:xfrm>
            <a:off x="8375904" y="2761488"/>
            <a:ext cx="566928" cy="566928"/>
          </a:xfrm>
          <a:prstGeom prst="ellipse">
            <a:avLst/>
          </a:prstGeom>
          <a:solidFill>
            <a:srgbClr val="EE7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8375904" y="2761488"/>
            <a:ext cx="566928" cy="566928"/>
          </a:xfrm>
          <a:prstGeom prst="rect">
            <a:avLst/>
          </a:prstGeom>
          <a:noFill/>
        </p:spPr>
        <p:txBody>
          <a:bodyPr wrap="square" lIns="0" rIns="0" tIns="0" bIns="0" anchor="ctr">
            <a:noAutofit/>
          </a:bodyPr>
          <a:lstStyle/>
          <a:p>
            <a:pPr algn="ctr">
              <a:lnSpc>
                <a:spcPct val="100000"/>
              </a:lnSpc>
              <a:spcAft>
                <a:spcPts val="0"/>
              </a:spcAft>
            </a:pPr>
            <a:r>
              <a:rPr sz="3070">
                <a:solidFill>
                  <a:srgbClr val="172243"/>
                </a:solidFill>
                <a:latin typeface="Heading Now 31-38 Bold"/>
              </a:rPr>
              <a:t>3</a:t>
            </a:r>
          </a:p>
        </p:txBody>
      </p:sp>
      <p:sp>
        <p:nvSpPr>
          <p:cNvPr id="48" name="TextBox 47"/>
          <p:cNvSpPr txBox="1"/>
          <p:nvPr/>
        </p:nvSpPr>
        <p:spPr>
          <a:xfrm>
            <a:off x="8540496" y="5483542"/>
            <a:ext cx="3611880" cy="502920"/>
          </a:xfrm>
          <a:prstGeom prst="rect">
            <a:avLst/>
          </a:prstGeom>
          <a:noFill/>
        </p:spPr>
        <p:txBody>
          <a:bodyPr wrap="square" lIns="0" rIns="0" tIns="0" bIns="0" anchor="t">
            <a:noAutofit/>
          </a:bodyPr>
          <a:lstStyle/>
          <a:p>
            <a:pPr algn="l">
              <a:lnSpc>
                <a:spcPct val="100000"/>
              </a:lnSpc>
              <a:spcAft>
                <a:spcPts val="0"/>
              </a:spcAft>
            </a:pPr>
            <a:r>
              <a:rPr sz="3070" b="1">
                <a:solidFill>
                  <a:srgbClr val="172243"/>
                </a:solidFill>
                <a:latin typeface="Heading Now 31-38 Bold"/>
              </a:rPr>
              <a:t>A swapped file is refused</a:t>
            </a:r>
          </a:p>
        </p:txBody>
      </p:sp>
      <p:sp>
        <p:nvSpPr>
          <p:cNvPr id="49" name="TextBox 48"/>
          <p:cNvSpPr txBox="1"/>
          <p:nvPr/>
        </p:nvSpPr>
        <p:spPr>
          <a:xfrm>
            <a:off x="8540496" y="6032182"/>
            <a:ext cx="3611880" cy="1188720"/>
          </a:xfrm>
          <a:prstGeom prst="rect">
            <a:avLst/>
          </a:prstGeom>
          <a:noFill/>
        </p:spPr>
        <p:txBody>
          <a:bodyPr wrap="square" lIns="0" rIns="0" tIns="0" bIns="0" anchor="t">
            <a:noAutofit/>
          </a:bodyPr>
          <a:lstStyle/>
          <a:p>
            <a:pPr algn="l">
              <a:lnSpc>
                <a:spcPct val="100000"/>
              </a:lnSpc>
              <a:spcAft>
                <a:spcPts val="0"/>
              </a:spcAft>
            </a:pPr>
            <a:r>
              <a:rPr sz="1989">
                <a:solidFill>
                  <a:srgbClr val="161F3E"/>
                </a:solidFill>
                <a:latin typeface="Calibri"/>
              </a:rPr>
              <a:t>Two different seals. The contract reverts and funds don't move.</a:t>
            </a:r>
          </a:p>
        </p:txBody>
      </p:sp>
      <p:sp>
        <p:nvSpPr>
          <p:cNvPr id="50" name="Rounded Rectangle 49"/>
          <p:cNvSpPr/>
          <p:nvPr/>
        </p:nvSpPr>
        <p:spPr>
          <a:xfrm>
            <a:off x="12399264" y="2926080"/>
            <a:ext cx="3611880" cy="2373611"/>
          </a:xfrm>
          <a:prstGeom prst="roundRect">
            <a:avLst>
              <a:gd name="adj" fmla="val 5393"/>
            </a:avLst>
          </a:prstGeom>
          <a:solidFill>
            <a:srgbClr val="FFFFFF"/>
          </a:solidFill>
          <a:ln w="19050">
            <a:solidFill>
              <a:srgbClr val="E6DCE4"/>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Oval 50"/>
          <p:cNvSpPr/>
          <p:nvPr/>
        </p:nvSpPr>
        <p:spPr>
          <a:xfrm>
            <a:off x="12582144" y="3035808"/>
            <a:ext cx="118872" cy="118872"/>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12783312" y="3035808"/>
            <a:ext cx="118872" cy="118872"/>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Oval 52"/>
          <p:cNvSpPr/>
          <p:nvPr/>
        </p:nvSpPr>
        <p:spPr>
          <a:xfrm>
            <a:off x="12984480" y="3035808"/>
            <a:ext cx="118872" cy="118872"/>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ed Rectangle 53"/>
          <p:cNvSpPr/>
          <p:nvPr/>
        </p:nvSpPr>
        <p:spPr>
          <a:xfrm>
            <a:off x="13410590" y="2990088"/>
            <a:ext cx="1589227" cy="210312"/>
          </a:xfrm>
          <a:prstGeom prst="roundRect">
            <a:avLst>
              <a:gd name="adj" fmla="val 50000"/>
            </a:avLst>
          </a:prstGeom>
          <a:solidFill>
            <a:srgbClr val="F1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13410590" y="2990088"/>
            <a:ext cx="1589227" cy="210312"/>
          </a:xfrm>
          <a:prstGeom prst="rect">
            <a:avLst/>
          </a:prstGeom>
          <a:noFill/>
        </p:spPr>
        <p:txBody>
          <a:bodyPr wrap="square" lIns="0" rIns="0" tIns="0" bIns="0" anchor="ctr">
            <a:noAutofit/>
          </a:bodyPr>
          <a:lstStyle/>
          <a:p>
            <a:pPr algn="ctr">
              <a:lnSpc>
                <a:spcPct val="100000"/>
              </a:lnSpc>
              <a:spcAft>
                <a:spcPts val="0"/>
              </a:spcAft>
            </a:pPr>
            <a:r>
              <a:rPr sz="1140">
                <a:solidFill>
                  <a:srgbClr val="6B6878"/>
                </a:solidFill>
                <a:latin typeface="Calibri"/>
              </a:rPr>
              <a:t>sealstone.local/attack-lab</a:t>
            </a:r>
          </a:p>
        </p:txBody>
      </p:sp>
      <p:pic>
        <p:nvPicPr>
          <p:cNvPr id="56" name="Picture 55" descr="desktop-lab.jpg"/>
          <p:cNvPicPr>
            <a:picLocks noChangeAspect="1"/>
          </p:cNvPicPr>
          <p:nvPr/>
        </p:nvPicPr>
        <p:blipFill>
          <a:blip r:embed="rId14"/>
          <a:stretch>
            <a:fillRect/>
          </a:stretch>
        </p:blipFill>
        <p:spPr>
          <a:xfrm>
            <a:off x="12435840" y="3255264"/>
            <a:ext cx="3538728" cy="1989563"/>
          </a:xfrm>
          <a:prstGeom prst="rect">
            <a:avLst/>
          </a:prstGeom>
        </p:spPr>
      </p:pic>
      <p:sp>
        <p:nvSpPr>
          <p:cNvPr id="57" name="Oval 56"/>
          <p:cNvSpPr/>
          <p:nvPr/>
        </p:nvSpPr>
        <p:spPr>
          <a:xfrm>
            <a:off x="12234672" y="2761488"/>
            <a:ext cx="566928" cy="566928"/>
          </a:xfrm>
          <a:prstGeom prst="ellipse">
            <a:avLst/>
          </a:prstGeom>
          <a:solidFill>
            <a:srgbClr val="EE7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12234672" y="2761488"/>
            <a:ext cx="566928" cy="566928"/>
          </a:xfrm>
          <a:prstGeom prst="rect">
            <a:avLst/>
          </a:prstGeom>
          <a:noFill/>
        </p:spPr>
        <p:txBody>
          <a:bodyPr wrap="square" lIns="0" rIns="0" tIns="0" bIns="0" anchor="ctr">
            <a:noAutofit/>
          </a:bodyPr>
          <a:lstStyle/>
          <a:p>
            <a:pPr algn="ctr">
              <a:lnSpc>
                <a:spcPct val="100000"/>
              </a:lnSpc>
              <a:spcAft>
                <a:spcPts val="0"/>
              </a:spcAft>
            </a:pPr>
            <a:r>
              <a:rPr sz="3070">
                <a:solidFill>
                  <a:srgbClr val="172243"/>
                </a:solidFill>
                <a:latin typeface="Heading Now 31-38 Bold"/>
              </a:rPr>
              <a:t>4</a:t>
            </a:r>
          </a:p>
        </p:txBody>
      </p:sp>
      <p:sp>
        <p:nvSpPr>
          <p:cNvPr id="59" name="TextBox 58"/>
          <p:cNvSpPr txBox="1"/>
          <p:nvPr/>
        </p:nvSpPr>
        <p:spPr>
          <a:xfrm>
            <a:off x="12399264" y="5482571"/>
            <a:ext cx="3611880" cy="502920"/>
          </a:xfrm>
          <a:prstGeom prst="rect">
            <a:avLst/>
          </a:prstGeom>
          <a:noFill/>
        </p:spPr>
        <p:txBody>
          <a:bodyPr wrap="square" lIns="0" rIns="0" tIns="0" bIns="0" anchor="t">
            <a:noAutofit/>
          </a:bodyPr>
          <a:lstStyle/>
          <a:p>
            <a:pPr algn="l">
              <a:lnSpc>
                <a:spcPct val="100000"/>
              </a:lnSpc>
              <a:spcAft>
                <a:spcPts val="0"/>
              </a:spcAft>
            </a:pPr>
            <a:r>
              <a:rPr sz="3070" b="1">
                <a:solidFill>
                  <a:srgbClr val="172243"/>
                </a:solidFill>
                <a:latin typeface="Heading Now 31-38 Bold"/>
              </a:rPr>
              <a:t>12 real attacks, one click</a:t>
            </a:r>
          </a:p>
        </p:txBody>
      </p:sp>
      <p:sp>
        <p:nvSpPr>
          <p:cNvPr id="60" name="TextBox 59"/>
          <p:cNvSpPr txBox="1"/>
          <p:nvPr/>
        </p:nvSpPr>
        <p:spPr>
          <a:xfrm>
            <a:off x="12399264" y="6031211"/>
            <a:ext cx="3611880" cy="1188720"/>
          </a:xfrm>
          <a:prstGeom prst="rect">
            <a:avLst/>
          </a:prstGeom>
          <a:noFill/>
        </p:spPr>
        <p:txBody>
          <a:bodyPr wrap="square" lIns="0" rIns="0" tIns="0" bIns="0" anchor="t">
            <a:noAutofit/>
          </a:bodyPr>
          <a:lstStyle/>
          <a:p>
            <a:pPr algn="l">
              <a:lnSpc>
                <a:spcPct val="100000"/>
              </a:lnSpc>
              <a:spcAft>
                <a:spcPts val="0"/>
              </a:spcAft>
            </a:pPr>
            <a:r>
              <a:rPr sz="1989">
                <a:solidFill>
                  <a:srgbClr val="161F3E"/>
                </a:solidFill>
                <a:latin typeface="Calibri"/>
              </a:rPr>
              <a:t>Each is blocked, and the ledger reconciles after every one.</a:t>
            </a:r>
          </a:p>
        </p:txBody>
      </p:sp>
      <p:sp>
        <p:nvSpPr>
          <p:cNvPr id="61" name="TextBox 60"/>
          <p:cNvSpPr txBox="1"/>
          <p:nvPr/>
        </p:nvSpPr>
        <p:spPr>
          <a:xfrm>
            <a:off x="822960" y="7360920"/>
            <a:ext cx="8229600" cy="548640"/>
          </a:xfrm>
          <a:prstGeom prst="rect">
            <a:avLst/>
          </a:prstGeom>
          <a:noFill/>
        </p:spPr>
        <p:txBody>
          <a:bodyPr wrap="square" lIns="0" rIns="0" tIns="0" bIns="0" anchor="t">
            <a:noAutofit/>
          </a:bodyPr>
          <a:lstStyle/>
          <a:p>
            <a:pPr algn="l">
              <a:lnSpc>
                <a:spcPct val="100000"/>
              </a:lnSpc>
              <a:spcAft>
                <a:spcPts val="0"/>
              </a:spcAft>
            </a:pPr>
            <a:r>
              <a:rPr sz="2400" spc="250" b="1">
                <a:solidFill>
                  <a:srgbClr val="172243"/>
                </a:solidFill>
                <a:latin typeface="Calibri"/>
              </a:rPr>
              <a:t>LIVE DEMO PATH</a:t>
            </a:r>
            <a:r>
              <a:rPr sz="2600" i="1">
                <a:solidFill>
                  <a:srgbClr val="4E4A76"/>
                </a:solidFill>
                <a:latin typeface="Georgia"/>
              </a:rPr>
              <a:t>   about 5 minutes</a:t>
            </a:r>
          </a:p>
        </p:txBody>
      </p:sp>
      <p:sp>
        <p:nvSpPr>
          <p:cNvPr id="62" name="Rounded Rectangle 61"/>
          <p:cNvSpPr/>
          <p:nvPr/>
        </p:nvSpPr>
        <p:spPr>
          <a:xfrm>
            <a:off x="822960" y="8046720"/>
            <a:ext cx="2331720" cy="1325880"/>
          </a:xfrm>
          <a:prstGeom prst="roundRect">
            <a:avLst>
              <a:gd name="adj" fmla="val 11034"/>
            </a:avLst>
          </a:prstGeom>
          <a:solidFill>
            <a:srgbClr val="FFFFFF"/>
          </a:solidFill>
          <a:ln w="19050">
            <a:solidFill>
              <a:srgbClr val="E6DCE4"/>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Oval 62"/>
          <p:cNvSpPr/>
          <p:nvPr/>
        </p:nvSpPr>
        <p:spPr>
          <a:xfrm>
            <a:off x="1005840" y="8211312"/>
            <a:ext cx="502920" cy="502920"/>
          </a:xfrm>
          <a:prstGeom prst="ellipse">
            <a:avLst/>
          </a:prstGeom>
          <a:solidFill>
            <a:srgbClr val="172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1005840" y="8211312"/>
            <a:ext cx="502920" cy="502920"/>
          </a:xfrm>
          <a:prstGeom prst="rect">
            <a:avLst/>
          </a:prstGeom>
          <a:noFill/>
        </p:spPr>
        <p:txBody>
          <a:bodyPr wrap="square" lIns="0" rIns="0" tIns="0" bIns="0" anchor="ctr">
            <a:noAutofit/>
          </a:bodyPr>
          <a:lstStyle/>
          <a:p>
            <a:pPr algn="ctr">
              <a:lnSpc>
                <a:spcPct val="100000"/>
              </a:lnSpc>
              <a:spcAft>
                <a:spcPts val="0"/>
              </a:spcAft>
            </a:pPr>
            <a:r>
              <a:rPr sz="2600">
                <a:solidFill>
                  <a:srgbClr val="FFFFFF"/>
                </a:solidFill>
                <a:latin typeface="Heading Now 31-38 Bold"/>
              </a:rPr>
              <a:t>1</a:t>
            </a:r>
          </a:p>
        </p:txBody>
      </p:sp>
      <p:sp>
        <p:nvSpPr>
          <p:cNvPr id="65" name="TextBox 64"/>
          <p:cNvSpPr txBox="1"/>
          <p:nvPr/>
        </p:nvSpPr>
        <p:spPr>
          <a:xfrm>
            <a:off x="1005840" y="8796528"/>
            <a:ext cx="2057400" cy="548640"/>
          </a:xfrm>
          <a:prstGeom prst="rect">
            <a:avLst/>
          </a:prstGeom>
          <a:noFill/>
        </p:spPr>
        <p:txBody>
          <a:bodyPr wrap="square" lIns="0" rIns="0" tIns="0" bIns="0" anchor="t">
            <a:noAutofit/>
          </a:bodyPr>
          <a:lstStyle/>
          <a:p>
            <a:pPr algn="l">
              <a:lnSpc>
                <a:spcPct val="100000"/>
              </a:lnSpc>
              <a:spcAft>
                <a:spcPts val="0"/>
              </a:spcAft>
            </a:pPr>
            <a:r>
              <a:rPr sz="2480" b="1">
                <a:solidFill>
                  <a:srgbClr val="172243"/>
                </a:solidFill>
                <a:latin typeface="Heading Now 31-38 Bold"/>
              </a:rPr>
              <a:t>Extract</a:t>
            </a:r>
          </a:p>
        </p:txBody>
      </p:sp>
      <p:cxnSp>
        <p:nvCxnSpPr>
          <p:cNvPr id="66" name="Connector 65"/>
          <p:cNvCxnSpPr/>
          <p:nvPr/>
        </p:nvCxnSpPr>
        <p:spPr>
          <a:xfrm>
            <a:off x="3172968" y="8705088"/>
            <a:ext cx="201168" cy="0"/>
          </a:xfrm>
          <a:prstGeom prst="line">
            <a:avLst/>
          </a:prstGeom>
          <a:ln w="38100">
            <a:solidFill>
              <a:srgbClr val="4E4A76"/>
            </a:solidFill>
            <a:tailEnd type="triangle" w="lg" len="lg"/>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3392423" y="8046720"/>
            <a:ext cx="2331720" cy="1325880"/>
          </a:xfrm>
          <a:prstGeom prst="roundRect">
            <a:avLst>
              <a:gd name="adj" fmla="val 11034"/>
            </a:avLst>
          </a:prstGeom>
          <a:solidFill>
            <a:srgbClr val="FFFFFF"/>
          </a:solidFill>
          <a:ln w="19050">
            <a:solidFill>
              <a:srgbClr val="E6DCE4"/>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Oval 67"/>
          <p:cNvSpPr/>
          <p:nvPr/>
        </p:nvSpPr>
        <p:spPr>
          <a:xfrm>
            <a:off x="3575303" y="8211312"/>
            <a:ext cx="502920" cy="502920"/>
          </a:xfrm>
          <a:prstGeom prst="ellipse">
            <a:avLst/>
          </a:prstGeom>
          <a:solidFill>
            <a:srgbClr val="172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3575303" y="8211312"/>
            <a:ext cx="502920" cy="502920"/>
          </a:xfrm>
          <a:prstGeom prst="rect">
            <a:avLst/>
          </a:prstGeom>
          <a:noFill/>
        </p:spPr>
        <p:txBody>
          <a:bodyPr wrap="square" lIns="0" rIns="0" tIns="0" bIns="0" anchor="ctr">
            <a:noAutofit/>
          </a:bodyPr>
          <a:lstStyle/>
          <a:p>
            <a:pPr algn="ctr">
              <a:lnSpc>
                <a:spcPct val="100000"/>
              </a:lnSpc>
              <a:spcAft>
                <a:spcPts val="0"/>
              </a:spcAft>
            </a:pPr>
            <a:r>
              <a:rPr sz="2600">
                <a:solidFill>
                  <a:srgbClr val="FFFFFF"/>
                </a:solidFill>
                <a:latin typeface="Heading Now 31-38 Bold"/>
              </a:rPr>
              <a:t>2</a:t>
            </a:r>
          </a:p>
        </p:txBody>
      </p:sp>
      <p:sp>
        <p:nvSpPr>
          <p:cNvPr id="70" name="TextBox 69"/>
          <p:cNvSpPr txBox="1"/>
          <p:nvPr/>
        </p:nvSpPr>
        <p:spPr>
          <a:xfrm>
            <a:off x="3575303" y="8796528"/>
            <a:ext cx="2057400" cy="548640"/>
          </a:xfrm>
          <a:prstGeom prst="rect">
            <a:avLst/>
          </a:prstGeom>
          <a:noFill/>
        </p:spPr>
        <p:txBody>
          <a:bodyPr wrap="square" lIns="0" rIns="0" tIns="0" bIns="0" anchor="t">
            <a:noAutofit/>
          </a:bodyPr>
          <a:lstStyle/>
          <a:p>
            <a:pPr algn="l">
              <a:lnSpc>
                <a:spcPct val="100000"/>
              </a:lnSpc>
              <a:spcAft>
                <a:spcPts val="0"/>
              </a:spcAft>
            </a:pPr>
            <a:r>
              <a:rPr sz="2480" b="1">
                <a:solidFill>
                  <a:srgbClr val="172243"/>
                </a:solidFill>
                <a:latin typeface="Heading Now 31-38 Bold"/>
              </a:rPr>
              <a:t>Resolve flags</a:t>
            </a:r>
          </a:p>
        </p:txBody>
      </p:sp>
      <p:cxnSp>
        <p:nvCxnSpPr>
          <p:cNvPr id="71" name="Connector 70"/>
          <p:cNvCxnSpPr/>
          <p:nvPr/>
        </p:nvCxnSpPr>
        <p:spPr>
          <a:xfrm>
            <a:off x="5742431" y="8705088"/>
            <a:ext cx="201169" cy="0"/>
          </a:xfrm>
          <a:prstGeom prst="line">
            <a:avLst/>
          </a:prstGeom>
          <a:ln w="38100">
            <a:solidFill>
              <a:srgbClr val="4E4A76"/>
            </a:solidFill>
            <a:tailEnd type="triangle" w="lg" len="lg"/>
          </a:ln>
        </p:spPr>
        <p:style>
          <a:lnRef idx="2">
            <a:schemeClr val="accent1"/>
          </a:lnRef>
          <a:fillRef idx="0">
            <a:schemeClr val="accent1"/>
          </a:fillRef>
          <a:effectRef idx="1">
            <a:schemeClr val="accent1"/>
          </a:effectRef>
          <a:fontRef idx="minor">
            <a:schemeClr val="tx1"/>
          </a:fontRef>
        </p:style>
      </p:cxnSp>
      <p:sp>
        <p:nvSpPr>
          <p:cNvPr id="72" name="Rounded Rectangle 71"/>
          <p:cNvSpPr/>
          <p:nvPr/>
        </p:nvSpPr>
        <p:spPr>
          <a:xfrm>
            <a:off x="5961888" y="8046720"/>
            <a:ext cx="2331720" cy="1325880"/>
          </a:xfrm>
          <a:prstGeom prst="roundRect">
            <a:avLst>
              <a:gd name="adj" fmla="val 11034"/>
            </a:avLst>
          </a:prstGeom>
          <a:solidFill>
            <a:srgbClr val="FFFFFF"/>
          </a:solidFill>
          <a:ln w="19050">
            <a:solidFill>
              <a:srgbClr val="E6DCE4"/>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Oval 72"/>
          <p:cNvSpPr/>
          <p:nvPr/>
        </p:nvSpPr>
        <p:spPr>
          <a:xfrm>
            <a:off x="6144768" y="8211312"/>
            <a:ext cx="502920" cy="502920"/>
          </a:xfrm>
          <a:prstGeom prst="ellipse">
            <a:avLst/>
          </a:prstGeom>
          <a:solidFill>
            <a:srgbClr val="172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6144768" y="8211312"/>
            <a:ext cx="502920" cy="502920"/>
          </a:xfrm>
          <a:prstGeom prst="rect">
            <a:avLst/>
          </a:prstGeom>
          <a:noFill/>
        </p:spPr>
        <p:txBody>
          <a:bodyPr wrap="square" lIns="0" rIns="0" tIns="0" bIns="0" anchor="ctr">
            <a:noAutofit/>
          </a:bodyPr>
          <a:lstStyle/>
          <a:p>
            <a:pPr algn="ctr">
              <a:lnSpc>
                <a:spcPct val="100000"/>
              </a:lnSpc>
              <a:spcAft>
                <a:spcPts val="0"/>
              </a:spcAft>
            </a:pPr>
            <a:r>
              <a:rPr sz="2600">
                <a:solidFill>
                  <a:srgbClr val="FFFFFF"/>
                </a:solidFill>
                <a:latin typeface="Heading Now 31-38 Bold"/>
              </a:rPr>
              <a:t>3</a:t>
            </a:r>
          </a:p>
        </p:txBody>
      </p:sp>
      <p:sp>
        <p:nvSpPr>
          <p:cNvPr id="75" name="TextBox 74"/>
          <p:cNvSpPr txBox="1"/>
          <p:nvPr/>
        </p:nvSpPr>
        <p:spPr>
          <a:xfrm>
            <a:off x="6144768" y="8796528"/>
            <a:ext cx="2057400" cy="548640"/>
          </a:xfrm>
          <a:prstGeom prst="rect">
            <a:avLst/>
          </a:prstGeom>
          <a:noFill/>
        </p:spPr>
        <p:txBody>
          <a:bodyPr wrap="square" lIns="0" rIns="0" tIns="0" bIns="0" anchor="t">
            <a:noAutofit/>
          </a:bodyPr>
          <a:lstStyle/>
          <a:p>
            <a:pPr algn="l">
              <a:lnSpc>
                <a:spcPct val="100000"/>
              </a:lnSpc>
              <a:spcAft>
                <a:spcPts val="0"/>
              </a:spcAft>
            </a:pPr>
            <a:r>
              <a:rPr sz="2480" b="1">
                <a:solidFill>
                  <a:srgbClr val="172243"/>
                </a:solidFill>
                <a:latin typeface="Heading Now 31-38 Bold"/>
              </a:rPr>
              <a:t>Confirm + sign</a:t>
            </a:r>
          </a:p>
        </p:txBody>
      </p:sp>
      <p:cxnSp>
        <p:nvCxnSpPr>
          <p:cNvPr id="76" name="Connector 75"/>
          <p:cNvCxnSpPr/>
          <p:nvPr/>
        </p:nvCxnSpPr>
        <p:spPr>
          <a:xfrm>
            <a:off x="8311896" y="8705088"/>
            <a:ext cx="201168" cy="0"/>
          </a:xfrm>
          <a:prstGeom prst="line">
            <a:avLst/>
          </a:prstGeom>
          <a:ln w="38100">
            <a:solidFill>
              <a:srgbClr val="4E4A76"/>
            </a:solidFill>
            <a:tailEnd type="triangle" w="lg" len="lg"/>
          </a:ln>
        </p:spPr>
        <p:style>
          <a:lnRef idx="2">
            <a:schemeClr val="accent1"/>
          </a:lnRef>
          <a:fillRef idx="0">
            <a:schemeClr val="accent1"/>
          </a:fillRef>
          <a:effectRef idx="1">
            <a:schemeClr val="accent1"/>
          </a:effectRef>
          <a:fontRef idx="minor">
            <a:schemeClr val="tx1"/>
          </a:fontRef>
        </p:style>
      </p:cxnSp>
      <p:sp>
        <p:nvSpPr>
          <p:cNvPr id="77" name="Rounded Rectangle 76"/>
          <p:cNvSpPr/>
          <p:nvPr/>
        </p:nvSpPr>
        <p:spPr>
          <a:xfrm>
            <a:off x="8531352" y="8046720"/>
            <a:ext cx="2331720" cy="1325880"/>
          </a:xfrm>
          <a:prstGeom prst="roundRect">
            <a:avLst>
              <a:gd name="adj" fmla="val 11034"/>
            </a:avLst>
          </a:prstGeom>
          <a:solidFill>
            <a:srgbClr val="FFFFFF"/>
          </a:solidFill>
          <a:ln w="19050">
            <a:solidFill>
              <a:srgbClr val="E6DCE4"/>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Oval 77"/>
          <p:cNvSpPr/>
          <p:nvPr/>
        </p:nvSpPr>
        <p:spPr>
          <a:xfrm>
            <a:off x="8714232" y="8211312"/>
            <a:ext cx="502920" cy="502920"/>
          </a:xfrm>
          <a:prstGeom prst="ellipse">
            <a:avLst/>
          </a:prstGeom>
          <a:solidFill>
            <a:srgbClr val="172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8714232" y="8211312"/>
            <a:ext cx="502920" cy="502920"/>
          </a:xfrm>
          <a:prstGeom prst="rect">
            <a:avLst/>
          </a:prstGeom>
          <a:noFill/>
        </p:spPr>
        <p:txBody>
          <a:bodyPr wrap="square" lIns="0" rIns="0" tIns="0" bIns="0" anchor="ctr">
            <a:noAutofit/>
          </a:bodyPr>
          <a:lstStyle/>
          <a:p>
            <a:pPr algn="ctr">
              <a:lnSpc>
                <a:spcPct val="100000"/>
              </a:lnSpc>
              <a:spcAft>
                <a:spcPts val="0"/>
              </a:spcAft>
            </a:pPr>
            <a:r>
              <a:rPr sz="2600">
                <a:solidFill>
                  <a:srgbClr val="FFFFFF"/>
                </a:solidFill>
                <a:latin typeface="Heading Now 31-38 Bold"/>
              </a:rPr>
              <a:t>4</a:t>
            </a:r>
          </a:p>
        </p:txBody>
      </p:sp>
      <p:sp>
        <p:nvSpPr>
          <p:cNvPr id="80" name="TextBox 79"/>
          <p:cNvSpPr txBox="1"/>
          <p:nvPr/>
        </p:nvSpPr>
        <p:spPr>
          <a:xfrm>
            <a:off x="8714232" y="8796528"/>
            <a:ext cx="2057400" cy="548640"/>
          </a:xfrm>
          <a:prstGeom prst="rect">
            <a:avLst/>
          </a:prstGeom>
          <a:noFill/>
        </p:spPr>
        <p:txBody>
          <a:bodyPr wrap="square" lIns="0" rIns="0" tIns="0" bIns="0" anchor="t">
            <a:noAutofit/>
          </a:bodyPr>
          <a:lstStyle/>
          <a:p>
            <a:pPr algn="l">
              <a:lnSpc>
                <a:spcPct val="100000"/>
              </a:lnSpc>
              <a:spcAft>
                <a:spcPts val="0"/>
              </a:spcAft>
            </a:pPr>
            <a:r>
              <a:rPr sz="2480" b="1">
                <a:solidFill>
                  <a:srgbClr val="172243"/>
                </a:solidFill>
                <a:latin typeface="Heading Now 31-38 Bold"/>
              </a:rPr>
              <a:t>Submit file</a:t>
            </a:r>
          </a:p>
        </p:txBody>
      </p:sp>
      <p:cxnSp>
        <p:nvCxnSpPr>
          <p:cNvPr id="81" name="Connector 80"/>
          <p:cNvCxnSpPr/>
          <p:nvPr/>
        </p:nvCxnSpPr>
        <p:spPr>
          <a:xfrm>
            <a:off x="10881359" y="8705088"/>
            <a:ext cx="201169" cy="0"/>
          </a:xfrm>
          <a:prstGeom prst="line">
            <a:avLst/>
          </a:prstGeom>
          <a:ln w="38100">
            <a:solidFill>
              <a:srgbClr val="4E4A76"/>
            </a:solidFill>
            <a:tailEnd type="triangle" w="lg" len="lg"/>
          </a:ln>
        </p:spPr>
        <p:style>
          <a:lnRef idx="2">
            <a:schemeClr val="accent1"/>
          </a:lnRef>
          <a:fillRef idx="0">
            <a:schemeClr val="accent1"/>
          </a:fillRef>
          <a:effectRef idx="1">
            <a:schemeClr val="accent1"/>
          </a:effectRef>
          <a:fontRef idx="minor">
            <a:schemeClr val="tx1"/>
          </a:fontRef>
        </p:style>
      </p:cxnSp>
      <p:sp>
        <p:nvSpPr>
          <p:cNvPr id="82" name="Rounded Rectangle 81"/>
          <p:cNvSpPr/>
          <p:nvPr/>
        </p:nvSpPr>
        <p:spPr>
          <a:xfrm>
            <a:off x="11100815" y="8046720"/>
            <a:ext cx="2331720" cy="1325880"/>
          </a:xfrm>
          <a:prstGeom prst="roundRect">
            <a:avLst>
              <a:gd name="adj" fmla="val 11034"/>
            </a:avLst>
          </a:prstGeom>
          <a:solidFill>
            <a:srgbClr val="FFFFFF"/>
          </a:solidFill>
          <a:ln w="19050">
            <a:solidFill>
              <a:srgbClr val="E6DCE4"/>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Oval 82"/>
          <p:cNvSpPr/>
          <p:nvPr/>
        </p:nvSpPr>
        <p:spPr>
          <a:xfrm>
            <a:off x="11283695" y="8211312"/>
            <a:ext cx="502920" cy="502920"/>
          </a:xfrm>
          <a:prstGeom prst="ellipse">
            <a:avLst/>
          </a:prstGeom>
          <a:solidFill>
            <a:srgbClr val="172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11283695" y="8211312"/>
            <a:ext cx="502920" cy="502920"/>
          </a:xfrm>
          <a:prstGeom prst="rect">
            <a:avLst/>
          </a:prstGeom>
          <a:noFill/>
        </p:spPr>
        <p:txBody>
          <a:bodyPr wrap="square" lIns="0" rIns="0" tIns="0" bIns="0" anchor="ctr">
            <a:noAutofit/>
          </a:bodyPr>
          <a:lstStyle/>
          <a:p>
            <a:pPr algn="ctr">
              <a:lnSpc>
                <a:spcPct val="100000"/>
              </a:lnSpc>
              <a:spcAft>
                <a:spcPts val="0"/>
              </a:spcAft>
            </a:pPr>
            <a:r>
              <a:rPr sz="2600">
                <a:solidFill>
                  <a:srgbClr val="FFFFFF"/>
                </a:solidFill>
                <a:latin typeface="Heading Now 31-38 Bold"/>
              </a:rPr>
              <a:t>5</a:t>
            </a:r>
          </a:p>
        </p:txBody>
      </p:sp>
      <p:sp>
        <p:nvSpPr>
          <p:cNvPr id="85" name="TextBox 84"/>
          <p:cNvSpPr txBox="1"/>
          <p:nvPr/>
        </p:nvSpPr>
        <p:spPr>
          <a:xfrm>
            <a:off x="11283695" y="8796528"/>
            <a:ext cx="2057400" cy="548640"/>
          </a:xfrm>
          <a:prstGeom prst="rect">
            <a:avLst/>
          </a:prstGeom>
          <a:noFill/>
        </p:spPr>
        <p:txBody>
          <a:bodyPr wrap="square" lIns="0" rIns="0" tIns="0" bIns="0" anchor="t">
            <a:noAutofit/>
          </a:bodyPr>
          <a:lstStyle/>
          <a:p>
            <a:pPr algn="l">
              <a:lnSpc>
                <a:spcPct val="100000"/>
              </a:lnSpc>
              <a:spcAft>
                <a:spcPts val="0"/>
              </a:spcAft>
            </a:pPr>
            <a:r>
              <a:rPr sz="2480" b="1">
                <a:solidFill>
                  <a:srgbClr val="172243"/>
                </a:solidFill>
                <a:latin typeface="Heading Now 31-38 Bold"/>
              </a:rPr>
              <a:t>Swap it: refused</a:t>
            </a:r>
          </a:p>
        </p:txBody>
      </p:sp>
      <p:cxnSp>
        <p:nvCxnSpPr>
          <p:cNvPr id="86" name="Connector 85"/>
          <p:cNvCxnSpPr/>
          <p:nvPr/>
        </p:nvCxnSpPr>
        <p:spPr>
          <a:xfrm>
            <a:off x="13450823" y="8705088"/>
            <a:ext cx="201168" cy="0"/>
          </a:xfrm>
          <a:prstGeom prst="line">
            <a:avLst/>
          </a:prstGeom>
          <a:ln w="38100">
            <a:solidFill>
              <a:srgbClr val="4E4A76"/>
            </a:solidFill>
            <a:tailEnd type="triangle" w="lg" len="lg"/>
          </a:ln>
        </p:spPr>
        <p:style>
          <a:lnRef idx="2">
            <a:schemeClr val="accent1"/>
          </a:lnRef>
          <a:fillRef idx="0">
            <a:schemeClr val="accent1"/>
          </a:fillRef>
          <a:effectRef idx="1">
            <a:schemeClr val="accent1"/>
          </a:effectRef>
          <a:fontRef idx="minor">
            <a:schemeClr val="tx1"/>
          </a:fontRef>
        </p:style>
      </p:cxnSp>
      <p:sp>
        <p:nvSpPr>
          <p:cNvPr id="87" name="Rounded Rectangle 86"/>
          <p:cNvSpPr/>
          <p:nvPr/>
        </p:nvSpPr>
        <p:spPr>
          <a:xfrm>
            <a:off x="13670279" y="8046720"/>
            <a:ext cx="2331720" cy="1325880"/>
          </a:xfrm>
          <a:prstGeom prst="roundRect">
            <a:avLst>
              <a:gd name="adj" fmla="val 11034"/>
            </a:avLst>
          </a:prstGeom>
          <a:solidFill>
            <a:srgbClr val="FFFFFF"/>
          </a:solidFill>
          <a:ln w="19050">
            <a:solidFill>
              <a:srgbClr val="E6DCE4"/>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Oval 87"/>
          <p:cNvSpPr/>
          <p:nvPr/>
        </p:nvSpPr>
        <p:spPr>
          <a:xfrm>
            <a:off x="13853159" y="8211312"/>
            <a:ext cx="502920" cy="502920"/>
          </a:xfrm>
          <a:prstGeom prst="ellipse">
            <a:avLst/>
          </a:prstGeom>
          <a:solidFill>
            <a:srgbClr val="172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13853159" y="8211312"/>
            <a:ext cx="502920" cy="502920"/>
          </a:xfrm>
          <a:prstGeom prst="rect">
            <a:avLst/>
          </a:prstGeom>
          <a:noFill/>
        </p:spPr>
        <p:txBody>
          <a:bodyPr wrap="square" lIns="0" rIns="0" tIns="0" bIns="0" anchor="ctr">
            <a:noAutofit/>
          </a:bodyPr>
          <a:lstStyle/>
          <a:p>
            <a:pPr algn="ctr">
              <a:lnSpc>
                <a:spcPct val="100000"/>
              </a:lnSpc>
              <a:spcAft>
                <a:spcPts val="0"/>
              </a:spcAft>
            </a:pPr>
            <a:r>
              <a:rPr sz="2600">
                <a:solidFill>
                  <a:srgbClr val="FFFFFF"/>
                </a:solidFill>
                <a:latin typeface="Heading Now 31-38 Bold"/>
              </a:rPr>
              <a:t>6</a:t>
            </a:r>
          </a:p>
        </p:txBody>
      </p:sp>
      <p:sp>
        <p:nvSpPr>
          <p:cNvPr id="90" name="TextBox 89"/>
          <p:cNvSpPr txBox="1"/>
          <p:nvPr/>
        </p:nvSpPr>
        <p:spPr>
          <a:xfrm>
            <a:off x="13853159" y="8796528"/>
            <a:ext cx="2057400" cy="548640"/>
          </a:xfrm>
          <a:prstGeom prst="rect">
            <a:avLst/>
          </a:prstGeom>
          <a:noFill/>
        </p:spPr>
        <p:txBody>
          <a:bodyPr wrap="square" lIns="0" rIns="0" tIns="0" bIns="0" anchor="t">
            <a:noAutofit/>
          </a:bodyPr>
          <a:lstStyle/>
          <a:p>
            <a:pPr algn="l">
              <a:lnSpc>
                <a:spcPct val="100000"/>
              </a:lnSpc>
              <a:spcAft>
                <a:spcPts val="0"/>
              </a:spcAft>
            </a:pPr>
            <a:r>
              <a:rPr sz="2480" b="1">
                <a:solidFill>
                  <a:srgbClr val="172243"/>
                </a:solidFill>
                <a:latin typeface="Heading Now 31-38 Bold"/>
              </a:rPr>
              <a:t>Run 12 attacks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5469" y="0"/>
            <a:ext cx="18288000" cy="10479517"/>
            <a:chOff x="0" y="0"/>
            <a:chExt cx="24384000" cy="13972689"/>
          </a:xfrm>
        </p:grpSpPr>
        <p:sp>
          <p:nvSpPr>
            <p:cNvPr id="4" name="Freeform 4"/>
            <p:cNvSpPr/>
            <p:nvPr/>
          </p:nvSpPr>
          <p:spPr>
            <a:xfrm>
              <a:off x="0" y="0"/>
              <a:ext cx="2333397" cy="13147537"/>
            </a:xfrm>
            <a:custGeom>
              <a:avLst/>
              <a:gdLst/>
              <a:ahLst/>
              <a:cxnLst/>
              <a:rect l="l" t="t" r="r" b="b"/>
              <a:pathLst>
                <a:path w="2333397" h="13147537">
                  <a:moveTo>
                    <a:pt x="0" y="0"/>
                  </a:moveTo>
                  <a:lnTo>
                    <a:pt x="2333397" y="0"/>
                  </a:lnTo>
                  <a:lnTo>
                    <a:pt x="2333397" y="13147537"/>
                  </a:lnTo>
                  <a:lnTo>
                    <a:pt x="0" y="13147537"/>
                  </a:lnTo>
                  <a:lnTo>
                    <a:pt x="0" y="0"/>
                  </a:lnTo>
                  <a:close/>
                </a:path>
              </a:pathLst>
            </a:custGeom>
            <a:blipFill>
              <a:blip r:embed="rId3"/>
              <a:stretch>
                <a:fillRect/>
              </a:stretch>
            </a:blipFill>
          </p:spPr>
        </p:sp>
        <p:sp>
          <p:nvSpPr>
            <p:cNvPr id="5" name="Freeform 5"/>
            <p:cNvSpPr/>
            <p:nvPr/>
          </p:nvSpPr>
          <p:spPr>
            <a:xfrm>
              <a:off x="19148440" y="8847622"/>
              <a:ext cx="2333397" cy="2303005"/>
            </a:xfrm>
            <a:custGeom>
              <a:avLst/>
              <a:gdLst/>
              <a:ahLst/>
              <a:cxnLst/>
              <a:rect l="l" t="t" r="r" b="b"/>
              <a:pathLst>
                <a:path w="2333397" h="2303005">
                  <a:moveTo>
                    <a:pt x="0" y="0"/>
                  </a:moveTo>
                  <a:lnTo>
                    <a:pt x="2333397" y="0"/>
                  </a:lnTo>
                  <a:lnTo>
                    <a:pt x="2333397" y="2303005"/>
                  </a:lnTo>
                  <a:lnTo>
                    <a:pt x="0" y="2303005"/>
                  </a:lnTo>
                  <a:lnTo>
                    <a:pt x="0" y="0"/>
                  </a:lnTo>
                  <a:close/>
                </a:path>
              </a:pathLst>
            </a:custGeom>
            <a:blipFill>
              <a:blip r:embed="rId4"/>
              <a:stretch>
                <a:fillRect/>
              </a:stretch>
            </a:blipFill>
          </p:spPr>
        </p:sp>
        <p:sp>
          <p:nvSpPr>
            <p:cNvPr id="6" name="Freeform 6"/>
            <p:cNvSpPr/>
            <p:nvPr/>
          </p:nvSpPr>
          <p:spPr>
            <a:xfrm>
              <a:off x="17412976" y="9395831"/>
              <a:ext cx="6971024" cy="4342033"/>
            </a:xfrm>
            <a:custGeom>
              <a:avLst/>
              <a:gdLst/>
              <a:ahLst/>
              <a:cxnLst/>
              <a:rect l="l" t="t" r="r" b="b"/>
              <a:pathLst>
                <a:path w="6971024" h="4342033">
                  <a:moveTo>
                    <a:pt x="0" y="0"/>
                  </a:moveTo>
                  <a:lnTo>
                    <a:pt x="6971024" y="0"/>
                  </a:lnTo>
                  <a:lnTo>
                    <a:pt x="6971024" y="4342033"/>
                  </a:lnTo>
                  <a:lnTo>
                    <a:pt x="0" y="4342033"/>
                  </a:lnTo>
                  <a:lnTo>
                    <a:pt x="0" y="0"/>
                  </a:lnTo>
                  <a:close/>
                </a:path>
              </a:pathLst>
            </a:custGeom>
            <a:blipFill>
              <a:blip r:embed="rId5"/>
              <a:stretch>
                <a:fillRect t="-5743"/>
              </a:stretch>
            </a:blipFill>
          </p:spPr>
        </p:sp>
        <p:sp>
          <p:nvSpPr>
            <p:cNvPr id="7" name="Freeform 7"/>
            <p:cNvSpPr/>
            <p:nvPr/>
          </p:nvSpPr>
          <p:spPr>
            <a:xfrm>
              <a:off x="0" y="9395831"/>
              <a:ext cx="1750048" cy="4576859"/>
            </a:xfrm>
            <a:custGeom>
              <a:avLst/>
              <a:gdLst/>
              <a:ahLst/>
              <a:cxnLst/>
              <a:rect l="l" t="t" r="r" b="b"/>
              <a:pathLst>
                <a:path w="1750048" h="4576859">
                  <a:moveTo>
                    <a:pt x="0" y="0"/>
                  </a:moveTo>
                  <a:lnTo>
                    <a:pt x="1750048" y="0"/>
                  </a:lnTo>
                  <a:lnTo>
                    <a:pt x="1750048" y="4576858"/>
                  </a:lnTo>
                  <a:lnTo>
                    <a:pt x="0" y="4576858"/>
                  </a:lnTo>
                  <a:lnTo>
                    <a:pt x="0" y="0"/>
                  </a:lnTo>
                  <a:close/>
                </a:path>
              </a:pathLst>
            </a:custGeom>
            <a:blipFill>
              <a:blip r:embed="rId6"/>
              <a:stretch>
                <a:fillRect/>
              </a:stretch>
            </a:blipFill>
          </p:spPr>
        </p:sp>
        <p:sp>
          <p:nvSpPr>
            <p:cNvPr id="8" name="Freeform 8"/>
            <p:cNvSpPr/>
            <p:nvPr/>
          </p:nvSpPr>
          <p:spPr>
            <a:xfrm>
              <a:off x="22633952" y="7273416"/>
              <a:ext cx="1750048" cy="5451418"/>
            </a:xfrm>
            <a:custGeom>
              <a:avLst/>
              <a:gdLst/>
              <a:ahLst/>
              <a:cxnLst/>
              <a:rect l="l" t="t" r="r" b="b"/>
              <a:pathLst>
                <a:path w="1750048" h="5451418">
                  <a:moveTo>
                    <a:pt x="0" y="0"/>
                  </a:moveTo>
                  <a:lnTo>
                    <a:pt x="1750048" y="0"/>
                  </a:lnTo>
                  <a:lnTo>
                    <a:pt x="1750048" y="5451417"/>
                  </a:lnTo>
                  <a:lnTo>
                    <a:pt x="0" y="5451417"/>
                  </a:lnTo>
                  <a:lnTo>
                    <a:pt x="0" y="0"/>
                  </a:lnTo>
                  <a:close/>
                </a:path>
              </a:pathLst>
            </a:custGeom>
            <a:blipFill>
              <a:blip r:embed="rId7"/>
              <a:stretch>
                <a:fillRect/>
              </a:stretch>
            </a:blipFill>
          </p:spPr>
        </p:sp>
        <p:sp>
          <p:nvSpPr>
            <p:cNvPr id="9" name="Freeform 9"/>
            <p:cNvSpPr/>
            <p:nvPr/>
          </p:nvSpPr>
          <p:spPr>
            <a:xfrm>
              <a:off x="22275922" y="9395831"/>
              <a:ext cx="1472957" cy="3162988"/>
            </a:xfrm>
            <a:custGeom>
              <a:avLst/>
              <a:gdLst/>
              <a:ahLst/>
              <a:cxnLst/>
              <a:rect l="l" t="t" r="r" b="b"/>
              <a:pathLst>
                <a:path w="1472957" h="3162988">
                  <a:moveTo>
                    <a:pt x="0" y="0"/>
                  </a:moveTo>
                  <a:lnTo>
                    <a:pt x="1472956" y="0"/>
                  </a:lnTo>
                  <a:lnTo>
                    <a:pt x="1472956" y="3162988"/>
                  </a:lnTo>
                  <a:lnTo>
                    <a:pt x="0" y="3162988"/>
                  </a:lnTo>
                  <a:lnTo>
                    <a:pt x="0" y="0"/>
                  </a:lnTo>
                  <a:close/>
                </a:path>
              </a:pathLst>
            </a:custGeom>
            <a:blipFill>
              <a:blip r:embed="rId8"/>
              <a:stretch>
                <a:fillRect/>
              </a:stretch>
            </a:blipFill>
          </p:spPr>
        </p:sp>
      </p:grpSp>
      <p:sp>
        <p:nvSpPr>
          <p:cNvPr id="10" name="TextBox 10"/>
          <p:cNvSpPr txBox="1"/>
          <p:nvPr/>
        </p:nvSpPr>
        <p:spPr>
          <a:xfrm>
            <a:off x="338328" y="146304"/>
            <a:ext cx="14630400" cy="1200150"/>
          </a:xfrm>
          <a:prstGeom prst="rect">
            <a:avLst/>
          </a:prstGeom>
        </p:spPr>
        <p:txBody>
          <a:bodyPr lIns="0" tIns="0" rIns="0" bIns="0" rtlCol="0" anchor="t">
            <a:spAutoFit/>
          </a:bodyPr>
          <a:lstStyle/>
          <a:p>
            <a:pPr algn="l">
              <a:lnSpc>
                <a:spcPts val="7500"/>
              </a:lnSpc>
            </a:pPr>
            <a:r>
              <a:rPr lang="en-US" sz="7500" b="1" spc="150">
                <a:solidFill>
                  <a:srgbClr val="172243"/>
                </a:solidFill>
                <a:latin typeface="Heading Now 31-38 Bold"/>
                <a:ea typeface="Heading Now 31-38 Bold"/>
                <a:cs typeface="Heading Now 31-38 Bold"/>
                <a:sym typeface="Heading Now 31-38 Bold"/>
              </a:rPr>
              <a:t>TECHNICAL APPROACH 1/3</a:t>
            </a:r>
          </a:p>
        </p:txBody>
      </p:sp>
      <p:sp>
        <p:nvSpPr>
          <p:cNvPr id="11" name="Freeform 11"/>
          <p:cNvSpPr/>
          <p:nvPr/>
        </p:nvSpPr>
        <p:spPr>
          <a:xfrm>
            <a:off x="257365" y="1188720"/>
            <a:ext cx="7174382" cy="535667"/>
          </a:xfrm>
          <a:custGeom>
            <a:avLst/>
            <a:gdLst/>
            <a:ahLst/>
            <a:cxnLst/>
            <a:rect l="l" t="t" r="r" b="b"/>
            <a:pathLst>
              <a:path w="5020450" h="535667">
                <a:moveTo>
                  <a:pt x="0" y="0"/>
                </a:moveTo>
                <a:lnTo>
                  <a:pt x="5020450" y="0"/>
                </a:lnTo>
                <a:lnTo>
                  <a:pt x="5020450" y="535667"/>
                </a:lnTo>
                <a:lnTo>
                  <a:pt x="0" y="535667"/>
                </a:lnTo>
                <a:lnTo>
                  <a:pt x="0" y="0"/>
                </a:lnTo>
                <a:close/>
              </a:path>
            </a:pathLst>
          </a:custGeom>
          <a:blipFill>
            <a:blip r:embed="rId9"/>
            <a:stretch>
              <a:fillRect l="-11250" r="-11250"/>
            </a:stretch>
          </a:blipFill>
        </p:spPr>
      </p:sp>
      <p:sp>
        <p:nvSpPr>
          <p:cNvPr id="12" name="Freeform 12"/>
          <p:cNvSpPr/>
          <p:nvPr/>
        </p:nvSpPr>
        <p:spPr>
          <a:xfrm>
            <a:off x="13923818" y="2160727"/>
            <a:ext cx="4364182" cy="2153601"/>
          </a:xfrm>
          <a:custGeom>
            <a:avLst/>
            <a:gdLst/>
            <a:ahLst/>
            <a:cxnLst/>
            <a:rect l="l" t="t" r="r" b="b"/>
            <a:pathLst>
              <a:path w="4364182" h="2153601">
                <a:moveTo>
                  <a:pt x="0" y="0"/>
                </a:moveTo>
                <a:lnTo>
                  <a:pt x="4364182" y="0"/>
                </a:lnTo>
                <a:lnTo>
                  <a:pt x="4364182" y="2153601"/>
                </a:lnTo>
                <a:lnTo>
                  <a:pt x="0" y="2153601"/>
                </a:lnTo>
                <a:lnTo>
                  <a:pt x="0" y="0"/>
                </a:lnTo>
                <a:close/>
              </a:path>
            </a:pathLst>
          </a:custGeom>
          <a:blipFill>
            <a:blip r:embed="rId10">
              <a:alphaModFix amt="68000"/>
            </a:blip>
            <a:stretch>
              <a:fillRect/>
            </a:stretch>
          </a:blipFill>
        </p:spPr>
      </p:sp>
      <p:sp>
        <p:nvSpPr>
          <p:cNvPr id="13" name="Freeform 13"/>
          <p:cNvSpPr/>
          <p:nvPr/>
        </p:nvSpPr>
        <p:spPr>
          <a:xfrm>
            <a:off x="16178937" y="216170"/>
            <a:ext cx="2160727" cy="2160727"/>
          </a:xfrm>
          <a:custGeom>
            <a:avLst/>
            <a:gdLst/>
            <a:ahLst/>
            <a:cxnLst/>
            <a:rect l="l" t="t" r="r" b="b"/>
            <a:pathLst>
              <a:path w="2160727" h="2160727">
                <a:moveTo>
                  <a:pt x="0" y="0"/>
                </a:moveTo>
                <a:lnTo>
                  <a:pt x="2160726" y="0"/>
                </a:lnTo>
                <a:lnTo>
                  <a:pt x="2160726" y="2160727"/>
                </a:lnTo>
                <a:lnTo>
                  <a:pt x="0" y="2160727"/>
                </a:lnTo>
                <a:lnTo>
                  <a:pt x="0" y="0"/>
                </a:lnTo>
                <a:close/>
              </a:path>
            </a:pathLst>
          </a:custGeom>
          <a:blipFill>
            <a:blip r:embed="rId11"/>
            <a:stretch>
              <a:fillRect/>
            </a:stretch>
          </a:blipFill>
        </p:spPr>
      </p:sp>
      <p:sp>
        <p:nvSpPr>
          <p:cNvPr id="14" name="Claim"/>
          <p:cNvSpPr txBox="1"/>
          <p:nvPr/>
        </p:nvSpPr>
        <p:spPr>
          <a:xfrm>
            <a:off x="777240" y="1828800"/>
            <a:ext cx="15179040" cy="914400"/>
          </a:xfrm>
          <a:prstGeom prst="rect">
            <a:avLst/>
          </a:prstGeom>
          <a:noFill/>
        </p:spPr>
        <p:txBody>
          <a:bodyPr wrap="square" lIns="0" rIns="0" tIns="0" bIns="0" anchor="ctr">
            <a:noAutofit/>
          </a:bodyPr>
          <a:lstStyle/>
          <a:p>
            <a:pPr algn="l">
              <a:lnSpc>
                <a:spcPct val="100000"/>
              </a:lnSpc>
              <a:spcAft>
                <a:spcPts val="0"/>
              </a:spcAft>
            </a:pPr>
            <a:r>
              <a:rPr sz="4250" b="1">
                <a:solidFill>
                  <a:srgbClr val="172243"/>
                </a:solidFill>
                <a:latin typeface="Heading Now 31-38 Bold"/>
              </a:rPr>
              <a:t>From a paragraph to a protected payment: </a:t>
            </a:r>
            <a:r>
              <a:rPr sz="2592" i="1">
                <a:solidFill>
                  <a:srgbClr val="4E4A76"/>
                </a:solidFill>
                <a:latin typeface="Georgia"/>
              </a:rPr>
              <a:t>AI proposes, rules decide, people confirm.</a:t>
            </a:r>
          </a:p>
        </p:txBody>
      </p:sp>
      <p:sp>
        <p:nvSpPr>
          <p:cNvPr id="15" name="TextBox 14"/>
          <p:cNvSpPr txBox="1"/>
          <p:nvPr/>
        </p:nvSpPr>
        <p:spPr>
          <a:xfrm>
            <a:off x="822960" y="2697480"/>
            <a:ext cx="8229600" cy="411480"/>
          </a:xfrm>
          <a:prstGeom prst="rect">
            <a:avLst/>
          </a:prstGeom>
          <a:noFill/>
        </p:spPr>
        <p:txBody>
          <a:bodyPr wrap="square" lIns="0" rIns="0" tIns="0" bIns="0" anchor="t">
            <a:noAutofit/>
          </a:bodyPr>
          <a:lstStyle/>
          <a:p>
            <a:pPr algn="l">
              <a:lnSpc>
                <a:spcPct val="100000"/>
              </a:lnSpc>
              <a:spcAft>
                <a:spcPts val="0"/>
              </a:spcAft>
            </a:pPr>
            <a:r>
              <a:rPr sz="2000" spc="250" b="1">
                <a:solidFill>
                  <a:srgbClr val="4E4A76"/>
                </a:solidFill>
                <a:latin typeface="Calibri"/>
              </a:rPr>
              <a:t>OFF-CHAIN   </a:t>
            </a:r>
            <a:r>
              <a:rPr sz="2200" i="1">
                <a:solidFill>
                  <a:srgbClr val="4E4A76"/>
                </a:solidFill>
                <a:latin typeface="Georgia"/>
              </a:rPr>
              <a:t>AI proposes, rules and people decide</a:t>
            </a:r>
          </a:p>
        </p:txBody>
      </p:sp>
      <p:sp>
        <p:nvSpPr>
          <p:cNvPr id="16" name="TextBox 15"/>
          <p:cNvSpPr txBox="1"/>
          <p:nvPr/>
        </p:nvSpPr>
        <p:spPr>
          <a:xfrm>
            <a:off x="822960" y="5715000"/>
            <a:ext cx="8229600" cy="411480"/>
          </a:xfrm>
          <a:prstGeom prst="rect">
            <a:avLst/>
          </a:prstGeom>
          <a:noFill/>
        </p:spPr>
        <p:txBody>
          <a:bodyPr wrap="square" lIns="0" rIns="0" tIns="0" bIns="0" anchor="t">
            <a:noAutofit/>
          </a:bodyPr>
          <a:lstStyle/>
          <a:p>
            <a:pPr algn="l">
              <a:lnSpc>
                <a:spcPct val="100000"/>
              </a:lnSpc>
              <a:spcAft>
                <a:spcPts val="0"/>
              </a:spcAft>
            </a:pPr>
            <a:r>
              <a:rPr sz="2000" spc="250" b="1">
                <a:solidFill>
                  <a:srgbClr val="4E4A76"/>
                </a:solidFill>
                <a:latin typeface="Calibri"/>
              </a:rPr>
              <a:t>ON-CHAIN   </a:t>
            </a:r>
            <a:r>
              <a:rPr sz="2200" i="1">
                <a:solidFill>
                  <a:srgbClr val="4E4A76"/>
                </a:solidFill>
                <a:latin typeface="Georgia"/>
              </a:rPr>
              <a:t>Solidity decides</a:t>
            </a:r>
          </a:p>
        </p:txBody>
      </p:sp>
      <p:sp>
        <p:nvSpPr>
          <p:cNvPr id="17" name="Rounded Rectangle 16"/>
          <p:cNvSpPr/>
          <p:nvPr/>
        </p:nvSpPr>
        <p:spPr>
          <a:xfrm>
            <a:off x="822960" y="3154680"/>
            <a:ext cx="2788920" cy="1920240"/>
          </a:xfrm>
          <a:prstGeom prst="roundRect">
            <a:avLst>
              <a:gd name="adj" fmla="val 8571"/>
            </a:avLst>
          </a:prstGeom>
          <a:solidFill>
            <a:srgbClr val="FFFFFF"/>
          </a:solidFill>
          <a:ln w="25400">
            <a:solidFill>
              <a:srgbClr val="172243"/>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969264" y="3319272"/>
            <a:ext cx="530352" cy="530352"/>
          </a:xfrm>
          <a:prstGeom prst="ellipse">
            <a:avLst/>
          </a:prstGeom>
          <a:solidFill>
            <a:srgbClr val="172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3319272"/>
            <a:ext cx="530352" cy="530352"/>
          </a:xfrm>
          <a:prstGeom prst="rect">
            <a:avLst/>
          </a:prstGeom>
          <a:noFill/>
        </p:spPr>
        <p:txBody>
          <a:bodyPr wrap="square" lIns="0" rIns="0" tIns="0" bIns="0" anchor="ctr">
            <a:noAutofit/>
          </a:bodyPr>
          <a:lstStyle/>
          <a:p>
            <a:pPr algn="ctr">
              <a:lnSpc>
                <a:spcPct val="100000"/>
              </a:lnSpc>
              <a:spcAft>
                <a:spcPts val="0"/>
              </a:spcAft>
            </a:pPr>
            <a:r>
              <a:rPr sz="2600">
                <a:solidFill>
                  <a:srgbClr val="FFFFFF"/>
                </a:solidFill>
                <a:latin typeface="Heading Now 31-38 Bold"/>
              </a:rPr>
              <a:t>1</a:t>
            </a:r>
          </a:p>
        </p:txBody>
      </p:sp>
      <p:sp>
        <p:nvSpPr>
          <p:cNvPr id="20" name="TextBox 19"/>
          <p:cNvSpPr txBox="1"/>
          <p:nvPr/>
        </p:nvSpPr>
        <p:spPr>
          <a:xfrm>
            <a:off x="1600200" y="3264408"/>
            <a:ext cx="1920239" cy="640080"/>
          </a:xfrm>
          <a:prstGeom prst="rect">
            <a:avLst/>
          </a:prstGeom>
          <a:noFill/>
        </p:spPr>
        <p:txBody>
          <a:bodyPr wrap="square" lIns="0" rIns="0" tIns="0" bIns="0" anchor="ctr">
            <a:noAutofit/>
          </a:bodyPr>
          <a:lstStyle/>
          <a:p>
            <a:pPr algn="l">
              <a:lnSpc>
                <a:spcPct val="100000"/>
              </a:lnSpc>
              <a:spcAft>
                <a:spcPts val="0"/>
              </a:spcAft>
            </a:pPr>
            <a:r>
              <a:rPr sz="2600" b="1">
                <a:solidFill>
                  <a:srgbClr val="172243"/>
                </a:solidFill>
                <a:latin typeface="Heading Now 31-38 Bold"/>
              </a:rPr>
              <a:t>Agreement text</a:t>
            </a:r>
          </a:p>
        </p:txBody>
      </p:sp>
      <p:sp>
        <p:nvSpPr>
          <p:cNvPr id="21" name="TextBox 20"/>
          <p:cNvSpPr txBox="1"/>
          <p:nvPr/>
        </p:nvSpPr>
        <p:spPr>
          <a:xfrm>
            <a:off x="1005840" y="4023360"/>
            <a:ext cx="2423160" cy="1005840"/>
          </a:xfrm>
          <a:prstGeom prst="rect">
            <a:avLst/>
          </a:prstGeom>
          <a:noFill/>
        </p:spPr>
        <p:txBody>
          <a:bodyPr wrap="square" lIns="0" rIns="0" tIns="0" bIns="0" anchor="t">
            <a:noAutofit/>
          </a:bodyPr>
          <a:lstStyle/>
          <a:p>
            <a:pPr algn="l">
              <a:lnSpc>
                <a:spcPct val="100000"/>
              </a:lnSpc>
              <a:spcAft>
                <a:spcPts val="0"/>
              </a:spcAft>
            </a:pPr>
            <a:r>
              <a:rPr sz="1810">
                <a:solidFill>
                  <a:srgbClr val="161F3E"/>
                </a:solidFill>
                <a:latin typeface="Calibri"/>
              </a:rPr>
              <a:t>pasted prose, any format</a:t>
            </a:r>
          </a:p>
        </p:txBody>
      </p:sp>
      <p:sp>
        <p:nvSpPr>
          <p:cNvPr id="22" name="Rounded Rectangle 21"/>
          <p:cNvSpPr/>
          <p:nvPr/>
        </p:nvSpPr>
        <p:spPr>
          <a:xfrm>
            <a:off x="3922776" y="3154680"/>
            <a:ext cx="2788920" cy="1920240"/>
          </a:xfrm>
          <a:prstGeom prst="roundRect">
            <a:avLst>
              <a:gd name="adj" fmla="val 8571"/>
            </a:avLst>
          </a:prstGeom>
          <a:solidFill>
            <a:srgbClr val="FBEBCF"/>
          </a:solidFill>
          <a:ln w="25400">
            <a:solidFill>
              <a:srgbClr val="9A5B0A"/>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069080" y="3319272"/>
            <a:ext cx="530352" cy="530352"/>
          </a:xfrm>
          <a:prstGeom prst="ellipse">
            <a:avLst/>
          </a:prstGeom>
          <a:solidFill>
            <a:srgbClr val="9A5B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069080" y="3319272"/>
            <a:ext cx="530352" cy="530352"/>
          </a:xfrm>
          <a:prstGeom prst="rect">
            <a:avLst/>
          </a:prstGeom>
          <a:noFill/>
        </p:spPr>
        <p:txBody>
          <a:bodyPr wrap="square" lIns="0" rIns="0" tIns="0" bIns="0" anchor="ctr">
            <a:noAutofit/>
          </a:bodyPr>
          <a:lstStyle/>
          <a:p>
            <a:pPr algn="ctr">
              <a:lnSpc>
                <a:spcPct val="100000"/>
              </a:lnSpc>
              <a:spcAft>
                <a:spcPts val="0"/>
              </a:spcAft>
            </a:pPr>
            <a:r>
              <a:rPr sz="2600">
                <a:solidFill>
                  <a:srgbClr val="FFFFFF"/>
                </a:solidFill>
                <a:latin typeface="Heading Now 31-38 Bold"/>
              </a:rPr>
              <a:t>2</a:t>
            </a:r>
          </a:p>
        </p:txBody>
      </p:sp>
      <p:sp>
        <p:nvSpPr>
          <p:cNvPr id="25" name="TextBox 24"/>
          <p:cNvSpPr txBox="1"/>
          <p:nvPr/>
        </p:nvSpPr>
        <p:spPr>
          <a:xfrm>
            <a:off x="4700016" y="3264408"/>
            <a:ext cx="1920239" cy="640080"/>
          </a:xfrm>
          <a:prstGeom prst="rect">
            <a:avLst/>
          </a:prstGeom>
          <a:noFill/>
        </p:spPr>
        <p:txBody>
          <a:bodyPr wrap="square" lIns="0" rIns="0" tIns="0" bIns="0" anchor="ctr">
            <a:noAutofit/>
          </a:bodyPr>
          <a:lstStyle/>
          <a:p>
            <a:pPr algn="l">
              <a:lnSpc>
                <a:spcPct val="100000"/>
              </a:lnSpc>
              <a:spcAft>
                <a:spcPts val="0"/>
              </a:spcAft>
            </a:pPr>
            <a:r>
              <a:rPr sz="2600" b="1">
                <a:solidFill>
                  <a:srgbClr val="9A5B0A"/>
                </a:solidFill>
                <a:latin typeface="Heading Now 31-38 Bold"/>
              </a:rPr>
              <a:t>AI proposes</a:t>
            </a:r>
          </a:p>
        </p:txBody>
      </p:sp>
      <p:sp>
        <p:nvSpPr>
          <p:cNvPr id="26" name="TextBox 25"/>
          <p:cNvSpPr txBox="1"/>
          <p:nvPr/>
        </p:nvSpPr>
        <p:spPr>
          <a:xfrm>
            <a:off x="4105656" y="4023360"/>
            <a:ext cx="2423160" cy="1005840"/>
          </a:xfrm>
          <a:prstGeom prst="rect">
            <a:avLst/>
          </a:prstGeom>
          <a:noFill/>
        </p:spPr>
        <p:txBody>
          <a:bodyPr wrap="square" lIns="0" rIns="0" tIns="0" bIns="0" anchor="t">
            <a:noAutofit/>
          </a:bodyPr>
          <a:lstStyle/>
          <a:p>
            <a:pPr algn="l">
              <a:lnSpc>
                <a:spcPct val="100000"/>
              </a:lnSpc>
              <a:spcAft>
                <a:spcPts val="0"/>
              </a:spcAft>
            </a:pPr>
            <a:r>
              <a:rPr sz="1810">
                <a:solidFill>
                  <a:srgbClr val="161F3E"/>
                </a:solidFill>
                <a:latin typeface="Calibri"/>
              </a:rPr>
              <a:t>milestones and ambiguities (Ollama, Gemini or rules)</a:t>
            </a:r>
          </a:p>
        </p:txBody>
      </p:sp>
      <p:sp>
        <p:nvSpPr>
          <p:cNvPr id="27" name="Rounded Rectangle 26"/>
          <p:cNvSpPr/>
          <p:nvPr/>
        </p:nvSpPr>
        <p:spPr>
          <a:xfrm>
            <a:off x="7022592" y="3154680"/>
            <a:ext cx="2788920" cy="1920240"/>
          </a:xfrm>
          <a:prstGeom prst="roundRect">
            <a:avLst>
              <a:gd name="adj" fmla="val 8571"/>
            </a:avLst>
          </a:prstGeom>
          <a:solidFill>
            <a:srgbClr val="EFEBFF"/>
          </a:solidFill>
          <a:ln w="25400">
            <a:solidFill>
              <a:srgbClr val="5B45E6"/>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168896" y="3319272"/>
            <a:ext cx="530352" cy="530352"/>
          </a:xfrm>
          <a:prstGeom prst="ellipse">
            <a:avLst/>
          </a:prstGeom>
          <a:solidFill>
            <a:srgbClr val="5B4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168896" y="3319272"/>
            <a:ext cx="530352" cy="530352"/>
          </a:xfrm>
          <a:prstGeom prst="rect">
            <a:avLst/>
          </a:prstGeom>
          <a:noFill/>
        </p:spPr>
        <p:txBody>
          <a:bodyPr wrap="square" lIns="0" rIns="0" tIns="0" bIns="0" anchor="ctr">
            <a:noAutofit/>
          </a:bodyPr>
          <a:lstStyle/>
          <a:p>
            <a:pPr algn="ctr">
              <a:lnSpc>
                <a:spcPct val="100000"/>
              </a:lnSpc>
              <a:spcAft>
                <a:spcPts val="0"/>
              </a:spcAft>
            </a:pPr>
            <a:r>
              <a:rPr sz="2600">
                <a:solidFill>
                  <a:srgbClr val="FFFFFF"/>
                </a:solidFill>
                <a:latin typeface="Heading Now 31-38 Bold"/>
              </a:rPr>
              <a:t>3</a:t>
            </a:r>
          </a:p>
        </p:txBody>
      </p:sp>
      <p:sp>
        <p:nvSpPr>
          <p:cNvPr id="30" name="TextBox 29"/>
          <p:cNvSpPr txBox="1"/>
          <p:nvPr/>
        </p:nvSpPr>
        <p:spPr>
          <a:xfrm>
            <a:off x="7799831" y="3264408"/>
            <a:ext cx="1920239" cy="640080"/>
          </a:xfrm>
          <a:prstGeom prst="rect">
            <a:avLst/>
          </a:prstGeom>
          <a:noFill/>
        </p:spPr>
        <p:txBody>
          <a:bodyPr wrap="square" lIns="0" rIns="0" tIns="0" bIns="0" anchor="ctr">
            <a:noAutofit/>
          </a:bodyPr>
          <a:lstStyle/>
          <a:p>
            <a:pPr algn="l">
              <a:lnSpc>
                <a:spcPct val="100000"/>
              </a:lnSpc>
              <a:spcAft>
                <a:spcPts val="0"/>
              </a:spcAft>
            </a:pPr>
            <a:r>
              <a:rPr sz="2600" b="1">
                <a:solidFill>
                  <a:srgbClr val="5B45E6"/>
                </a:solidFill>
                <a:latin typeface="Heading Now 31-38 Bold"/>
              </a:rPr>
              <a:t>Rules re-check</a:t>
            </a:r>
          </a:p>
        </p:txBody>
      </p:sp>
      <p:sp>
        <p:nvSpPr>
          <p:cNvPr id="31" name="TextBox 30"/>
          <p:cNvSpPr txBox="1"/>
          <p:nvPr/>
        </p:nvSpPr>
        <p:spPr>
          <a:xfrm>
            <a:off x="7205472" y="4023360"/>
            <a:ext cx="2423160" cy="1005840"/>
          </a:xfrm>
          <a:prstGeom prst="rect">
            <a:avLst/>
          </a:prstGeom>
          <a:noFill/>
        </p:spPr>
        <p:txBody>
          <a:bodyPr wrap="square" lIns="0" rIns="0" tIns="0" bIns="0" anchor="t">
            <a:noAutofit/>
          </a:bodyPr>
          <a:lstStyle/>
          <a:p>
            <a:pPr algn="l">
              <a:lnSpc>
                <a:spcPct val="100000"/>
              </a:lnSpc>
              <a:spcAft>
                <a:spcPts val="0"/>
              </a:spcAft>
            </a:pPr>
            <a:r>
              <a:rPr sz="1810">
                <a:solidFill>
                  <a:srgbClr val="161F3E"/>
                </a:solidFill>
                <a:latin typeface="Calibri"/>
              </a:rPr>
              <a:t>wei arithmetic, parties, quotes found in the text</a:t>
            </a:r>
          </a:p>
        </p:txBody>
      </p:sp>
      <p:sp>
        <p:nvSpPr>
          <p:cNvPr id="32" name="Rounded Rectangle 31"/>
          <p:cNvSpPr/>
          <p:nvPr/>
        </p:nvSpPr>
        <p:spPr>
          <a:xfrm>
            <a:off x="10122407" y="3154680"/>
            <a:ext cx="2788920" cy="1920240"/>
          </a:xfrm>
          <a:prstGeom prst="roundRect">
            <a:avLst>
              <a:gd name="adj" fmla="val 8571"/>
            </a:avLst>
          </a:prstGeom>
          <a:solidFill>
            <a:srgbClr val="E0E8FB"/>
          </a:solidFill>
          <a:ln w="25400">
            <a:solidFill>
              <a:srgbClr val="2F56C9"/>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268711" y="3319272"/>
            <a:ext cx="530352" cy="530352"/>
          </a:xfrm>
          <a:prstGeom prst="ellipse">
            <a:avLst/>
          </a:prstGeom>
          <a:solidFill>
            <a:srgbClr val="2F56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268711" y="3319272"/>
            <a:ext cx="530352" cy="530352"/>
          </a:xfrm>
          <a:prstGeom prst="rect">
            <a:avLst/>
          </a:prstGeom>
          <a:noFill/>
        </p:spPr>
        <p:txBody>
          <a:bodyPr wrap="square" lIns="0" rIns="0" tIns="0" bIns="0" anchor="ctr">
            <a:noAutofit/>
          </a:bodyPr>
          <a:lstStyle/>
          <a:p>
            <a:pPr algn="ctr">
              <a:lnSpc>
                <a:spcPct val="100000"/>
              </a:lnSpc>
              <a:spcAft>
                <a:spcPts val="0"/>
              </a:spcAft>
            </a:pPr>
            <a:r>
              <a:rPr sz="2600">
                <a:solidFill>
                  <a:srgbClr val="FFFFFF"/>
                </a:solidFill>
                <a:latin typeface="Heading Now 31-38 Bold"/>
              </a:rPr>
              <a:t>4</a:t>
            </a:r>
          </a:p>
        </p:txBody>
      </p:sp>
      <p:sp>
        <p:nvSpPr>
          <p:cNvPr id="35" name="TextBox 34"/>
          <p:cNvSpPr txBox="1"/>
          <p:nvPr/>
        </p:nvSpPr>
        <p:spPr>
          <a:xfrm>
            <a:off x="10899647" y="3264408"/>
            <a:ext cx="1920239" cy="640080"/>
          </a:xfrm>
          <a:prstGeom prst="rect">
            <a:avLst/>
          </a:prstGeom>
          <a:noFill/>
        </p:spPr>
        <p:txBody>
          <a:bodyPr wrap="square" lIns="0" rIns="0" tIns="0" bIns="0" anchor="ctr">
            <a:noAutofit/>
          </a:bodyPr>
          <a:lstStyle/>
          <a:p>
            <a:pPr algn="l">
              <a:lnSpc>
                <a:spcPct val="100000"/>
              </a:lnSpc>
              <a:spcAft>
                <a:spcPts val="0"/>
              </a:spcAft>
            </a:pPr>
            <a:r>
              <a:rPr sz="2600" b="1">
                <a:solidFill>
                  <a:srgbClr val="2F56C9"/>
                </a:solidFill>
                <a:latin typeface="Heading Now 31-38 Bold"/>
              </a:rPr>
              <a:t>A person resolves</a:t>
            </a:r>
          </a:p>
        </p:txBody>
      </p:sp>
      <p:sp>
        <p:nvSpPr>
          <p:cNvPr id="36" name="TextBox 35"/>
          <p:cNvSpPr txBox="1"/>
          <p:nvPr/>
        </p:nvSpPr>
        <p:spPr>
          <a:xfrm>
            <a:off x="10305287" y="4023360"/>
            <a:ext cx="2423160" cy="1005840"/>
          </a:xfrm>
          <a:prstGeom prst="rect">
            <a:avLst/>
          </a:prstGeom>
          <a:noFill/>
        </p:spPr>
        <p:txBody>
          <a:bodyPr wrap="square" lIns="0" rIns="0" tIns="0" bIns="0" anchor="t">
            <a:noAutofit/>
          </a:bodyPr>
          <a:lstStyle/>
          <a:p>
            <a:pPr algn="l">
              <a:lnSpc>
                <a:spcPct val="100000"/>
              </a:lnSpc>
              <a:spcAft>
                <a:spcPts val="0"/>
              </a:spcAft>
            </a:pPr>
            <a:r>
              <a:rPr sz="1810">
                <a:solidFill>
                  <a:srgbClr val="161F3E"/>
                </a:solidFill>
                <a:latin typeface="Calibri"/>
              </a:rPr>
              <a:t>edit, remove or acknowledge every flag</a:t>
            </a:r>
          </a:p>
        </p:txBody>
      </p:sp>
      <p:sp>
        <p:nvSpPr>
          <p:cNvPr id="37" name="Rounded Rectangle 36"/>
          <p:cNvSpPr/>
          <p:nvPr/>
        </p:nvSpPr>
        <p:spPr>
          <a:xfrm>
            <a:off x="13222224" y="3154680"/>
            <a:ext cx="2788920" cy="1920240"/>
          </a:xfrm>
          <a:prstGeom prst="roundRect">
            <a:avLst>
              <a:gd name="adj" fmla="val 8571"/>
            </a:avLst>
          </a:prstGeom>
          <a:solidFill>
            <a:srgbClr val="DDF3EA"/>
          </a:solidFill>
          <a:ln w="25400">
            <a:solidFill>
              <a:srgbClr val="0B7A5B"/>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3368528" y="3319272"/>
            <a:ext cx="530352" cy="530352"/>
          </a:xfrm>
          <a:prstGeom prst="ellipse">
            <a:avLst/>
          </a:prstGeom>
          <a:solidFill>
            <a:srgbClr val="0B7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3368528" y="3319272"/>
            <a:ext cx="530352" cy="530352"/>
          </a:xfrm>
          <a:prstGeom prst="rect">
            <a:avLst/>
          </a:prstGeom>
          <a:noFill/>
        </p:spPr>
        <p:txBody>
          <a:bodyPr wrap="square" lIns="0" rIns="0" tIns="0" bIns="0" anchor="ctr">
            <a:noAutofit/>
          </a:bodyPr>
          <a:lstStyle/>
          <a:p>
            <a:pPr algn="ctr">
              <a:lnSpc>
                <a:spcPct val="100000"/>
              </a:lnSpc>
              <a:spcAft>
                <a:spcPts val="0"/>
              </a:spcAft>
            </a:pPr>
            <a:r>
              <a:rPr sz="2600">
                <a:solidFill>
                  <a:srgbClr val="FFFFFF"/>
                </a:solidFill>
                <a:latin typeface="Heading Now 31-38 Bold"/>
              </a:rPr>
              <a:t>5</a:t>
            </a:r>
          </a:p>
        </p:txBody>
      </p:sp>
      <p:sp>
        <p:nvSpPr>
          <p:cNvPr id="40" name="TextBox 39"/>
          <p:cNvSpPr txBox="1"/>
          <p:nvPr/>
        </p:nvSpPr>
        <p:spPr>
          <a:xfrm>
            <a:off x="13999463" y="3264408"/>
            <a:ext cx="1920239" cy="640080"/>
          </a:xfrm>
          <a:prstGeom prst="rect">
            <a:avLst/>
          </a:prstGeom>
          <a:noFill/>
        </p:spPr>
        <p:txBody>
          <a:bodyPr wrap="square" lIns="0" rIns="0" tIns="0" bIns="0" anchor="ctr">
            <a:noAutofit/>
          </a:bodyPr>
          <a:lstStyle/>
          <a:p>
            <a:pPr algn="l">
              <a:lnSpc>
                <a:spcPct val="100000"/>
              </a:lnSpc>
              <a:spcAft>
                <a:spcPts val="0"/>
              </a:spcAft>
            </a:pPr>
            <a:r>
              <a:rPr sz="2600" b="1">
                <a:solidFill>
                  <a:srgbClr val="0B7A5B"/>
                </a:solidFill>
                <a:latin typeface="Heading Now 31-38 Bold"/>
              </a:rPr>
              <a:t>Confirmed checklist</a:t>
            </a:r>
          </a:p>
        </p:txBody>
      </p:sp>
      <p:sp>
        <p:nvSpPr>
          <p:cNvPr id="41" name="TextBox 40"/>
          <p:cNvSpPr txBox="1"/>
          <p:nvPr/>
        </p:nvSpPr>
        <p:spPr>
          <a:xfrm>
            <a:off x="13405103" y="4023360"/>
            <a:ext cx="2423160" cy="1005840"/>
          </a:xfrm>
          <a:prstGeom prst="rect">
            <a:avLst/>
          </a:prstGeom>
          <a:noFill/>
        </p:spPr>
        <p:txBody>
          <a:bodyPr wrap="square" lIns="0" rIns="0" tIns="0" bIns="0" anchor="t">
            <a:noAutofit/>
          </a:bodyPr>
          <a:lstStyle/>
          <a:p>
            <a:pPr algn="l">
              <a:lnSpc>
                <a:spcPct val="100000"/>
              </a:lnSpc>
              <a:spcAft>
                <a:spcPts val="0"/>
              </a:spcAft>
            </a:pPr>
            <a:r>
              <a:rPr sz="1810">
                <a:solidFill>
                  <a:srgbClr val="161F3E"/>
                </a:solidFill>
                <a:latin typeface="Calibri"/>
              </a:rPr>
              <a:t>the only version that can be deployed</a:t>
            </a:r>
          </a:p>
        </p:txBody>
      </p:sp>
      <p:sp>
        <p:nvSpPr>
          <p:cNvPr id="42" name="Rounded Rectangle 41"/>
          <p:cNvSpPr/>
          <p:nvPr/>
        </p:nvSpPr>
        <p:spPr>
          <a:xfrm>
            <a:off x="13222224" y="6172200"/>
            <a:ext cx="2788920" cy="1920240"/>
          </a:xfrm>
          <a:prstGeom prst="roundRect">
            <a:avLst>
              <a:gd name="adj" fmla="val 8571"/>
            </a:avLst>
          </a:prstGeom>
          <a:solidFill>
            <a:srgbClr val="DDF3EA"/>
          </a:solidFill>
          <a:ln w="25400">
            <a:solidFill>
              <a:srgbClr val="0B7A5B"/>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13368528" y="6336792"/>
            <a:ext cx="530352" cy="530352"/>
          </a:xfrm>
          <a:prstGeom prst="ellipse">
            <a:avLst/>
          </a:prstGeom>
          <a:solidFill>
            <a:srgbClr val="0B7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3368528" y="6336792"/>
            <a:ext cx="530352" cy="530352"/>
          </a:xfrm>
          <a:prstGeom prst="rect">
            <a:avLst/>
          </a:prstGeom>
          <a:noFill/>
        </p:spPr>
        <p:txBody>
          <a:bodyPr wrap="square" lIns="0" rIns="0" tIns="0" bIns="0" anchor="ctr">
            <a:noAutofit/>
          </a:bodyPr>
          <a:lstStyle/>
          <a:p>
            <a:pPr algn="ctr">
              <a:lnSpc>
                <a:spcPct val="100000"/>
              </a:lnSpc>
              <a:spcAft>
                <a:spcPts val="0"/>
              </a:spcAft>
            </a:pPr>
            <a:r>
              <a:rPr sz="2600">
                <a:solidFill>
                  <a:srgbClr val="FFFFFF"/>
                </a:solidFill>
                <a:latin typeface="Heading Now 31-38 Bold"/>
              </a:rPr>
              <a:t>6</a:t>
            </a:r>
          </a:p>
        </p:txBody>
      </p:sp>
      <p:sp>
        <p:nvSpPr>
          <p:cNvPr id="45" name="TextBox 44"/>
          <p:cNvSpPr txBox="1"/>
          <p:nvPr/>
        </p:nvSpPr>
        <p:spPr>
          <a:xfrm>
            <a:off x="13999463" y="6281928"/>
            <a:ext cx="1920239" cy="640080"/>
          </a:xfrm>
          <a:prstGeom prst="rect">
            <a:avLst/>
          </a:prstGeom>
          <a:noFill/>
        </p:spPr>
        <p:txBody>
          <a:bodyPr wrap="square" lIns="0" rIns="0" tIns="0" bIns="0" anchor="ctr">
            <a:noAutofit/>
          </a:bodyPr>
          <a:lstStyle/>
          <a:p>
            <a:pPr algn="l">
              <a:lnSpc>
                <a:spcPct val="100000"/>
              </a:lnSpc>
              <a:spcAft>
                <a:spcPts val="0"/>
              </a:spcAft>
            </a:pPr>
            <a:r>
              <a:rPr sz="2600" b="1">
                <a:solidFill>
                  <a:srgbClr val="0B7A5B"/>
                </a:solidFill>
                <a:latin typeface="Heading Now 31-38 Bold"/>
              </a:rPr>
              <a:t>Seal on-chain</a:t>
            </a:r>
          </a:p>
        </p:txBody>
      </p:sp>
      <p:sp>
        <p:nvSpPr>
          <p:cNvPr id="46" name="TextBox 45"/>
          <p:cNvSpPr txBox="1"/>
          <p:nvPr/>
        </p:nvSpPr>
        <p:spPr>
          <a:xfrm>
            <a:off x="13405103" y="7040880"/>
            <a:ext cx="2423160" cy="1005840"/>
          </a:xfrm>
          <a:prstGeom prst="rect">
            <a:avLst/>
          </a:prstGeom>
          <a:noFill/>
        </p:spPr>
        <p:txBody>
          <a:bodyPr wrap="square" lIns="0" rIns="0" tIns="0" bIns="0" anchor="t">
            <a:noAutofit/>
          </a:bodyPr>
          <a:lstStyle/>
          <a:p>
            <a:pPr algn="l">
              <a:lnSpc>
                <a:spcPct val="100000"/>
              </a:lnSpc>
              <a:spcAft>
                <a:spcPts val="0"/>
              </a:spcAft>
            </a:pPr>
            <a:r>
              <a:rPr sz="1810">
                <a:solidFill>
                  <a:srgbClr val="161F3E"/>
                </a:solidFill>
                <a:latin typeface="Calibri"/>
              </a:rPr>
              <a:t>keccak256 hash stored, both parties sign</a:t>
            </a:r>
          </a:p>
        </p:txBody>
      </p:sp>
      <p:sp>
        <p:nvSpPr>
          <p:cNvPr id="47" name="Rounded Rectangle 46"/>
          <p:cNvSpPr/>
          <p:nvPr/>
        </p:nvSpPr>
        <p:spPr>
          <a:xfrm>
            <a:off x="10122407" y="6172200"/>
            <a:ext cx="2788920" cy="1920240"/>
          </a:xfrm>
          <a:prstGeom prst="roundRect">
            <a:avLst>
              <a:gd name="adj" fmla="val 8571"/>
            </a:avLst>
          </a:prstGeom>
          <a:solidFill>
            <a:srgbClr val="DDF3EA"/>
          </a:solidFill>
          <a:ln w="25400">
            <a:solidFill>
              <a:srgbClr val="0B7A5B"/>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10268711" y="6336792"/>
            <a:ext cx="530352" cy="530352"/>
          </a:xfrm>
          <a:prstGeom prst="ellipse">
            <a:avLst/>
          </a:prstGeom>
          <a:solidFill>
            <a:srgbClr val="0B7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268711" y="6336792"/>
            <a:ext cx="530352" cy="530352"/>
          </a:xfrm>
          <a:prstGeom prst="rect">
            <a:avLst/>
          </a:prstGeom>
          <a:noFill/>
        </p:spPr>
        <p:txBody>
          <a:bodyPr wrap="square" lIns="0" rIns="0" tIns="0" bIns="0" anchor="ctr">
            <a:noAutofit/>
          </a:bodyPr>
          <a:lstStyle/>
          <a:p>
            <a:pPr algn="ctr">
              <a:lnSpc>
                <a:spcPct val="100000"/>
              </a:lnSpc>
              <a:spcAft>
                <a:spcPts val="0"/>
              </a:spcAft>
            </a:pPr>
            <a:r>
              <a:rPr sz="2600">
                <a:solidFill>
                  <a:srgbClr val="FFFFFF"/>
                </a:solidFill>
                <a:latin typeface="Heading Now 31-38 Bold"/>
              </a:rPr>
              <a:t>7</a:t>
            </a:r>
          </a:p>
        </p:txBody>
      </p:sp>
      <p:sp>
        <p:nvSpPr>
          <p:cNvPr id="50" name="TextBox 49"/>
          <p:cNvSpPr txBox="1"/>
          <p:nvPr/>
        </p:nvSpPr>
        <p:spPr>
          <a:xfrm>
            <a:off x="10899647" y="6281928"/>
            <a:ext cx="1920239" cy="640080"/>
          </a:xfrm>
          <a:prstGeom prst="rect">
            <a:avLst/>
          </a:prstGeom>
          <a:noFill/>
        </p:spPr>
        <p:txBody>
          <a:bodyPr wrap="square" lIns="0" rIns="0" tIns="0" bIns="0" anchor="ctr">
            <a:noAutofit/>
          </a:bodyPr>
          <a:lstStyle/>
          <a:p>
            <a:pPr algn="l">
              <a:lnSpc>
                <a:spcPct val="100000"/>
              </a:lnSpc>
              <a:spcAft>
                <a:spcPts val="0"/>
              </a:spcAft>
            </a:pPr>
            <a:r>
              <a:rPr sz="2600" b="1">
                <a:solidFill>
                  <a:srgbClr val="0B7A5B"/>
                </a:solidFill>
                <a:latin typeface="Heading Now 31-38 Bold"/>
              </a:rPr>
              <a:t>Fund exactly</a:t>
            </a:r>
          </a:p>
        </p:txBody>
      </p:sp>
      <p:sp>
        <p:nvSpPr>
          <p:cNvPr id="51" name="TextBox 50"/>
          <p:cNvSpPr txBox="1"/>
          <p:nvPr/>
        </p:nvSpPr>
        <p:spPr>
          <a:xfrm>
            <a:off x="10305287" y="7040880"/>
            <a:ext cx="2423160" cy="1005840"/>
          </a:xfrm>
          <a:prstGeom prst="rect">
            <a:avLst/>
          </a:prstGeom>
          <a:noFill/>
        </p:spPr>
        <p:txBody>
          <a:bodyPr wrap="square" lIns="0" rIns="0" tIns="0" bIns="0" anchor="t">
            <a:noAutofit/>
          </a:bodyPr>
          <a:lstStyle/>
          <a:p>
            <a:pPr algn="l">
              <a:lnSpc>
                <a:spcPct val="100000"/>
              </a:lnSpc>
              <a:spcAft>
                <a:spcPts val="0"/>
              </a:spcAft>
            </a:pPr>
            <a:r>
              <a:rPr sz="1810">
                <a:solidFill>
                  <a:srgbClr val="161F3E"/>
                </a:solidFill>
                <a:latin typeface="Calibri"/>
              </a:rPr>
              <a:t>the client deposits the exact total</a:t>
            </a:r>
          </a:p>
        </p:txBody>
      </p:sp>
      <p:sp>
        <p:nvSpPr>
          <p:cNvPr id="52" name="Rounded Rectangle 51"/>
          <p:cNvSpPr/>
          <p:nvPr/>
        </p:nvSpPr>
        <p:spPr>
          <a:xfrm>
            <a:off x="7022592" y="6172200"/>
            <a:ext cx="2788920" cy="1920240"/>
          </a:xfrm>
          <a:prstGeom prst="roundRect">
            <a:avLst>
              <a:gd name="adj" fmla="val 8571"/>
            </a:avLst>
          </a:prstGeom>
          <a:solidFill>
            <a:srgbClr val="DDF3EA"/>
          </a:solidFill>
          <a:ln w="25400">
            <a:solidFill>
              <a:srgbClr val="0B7A5B"/>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Oval 52"/>
          <p:cNvSpPr/>
          <p:nvPr/>
        </p:nvSpPr>
        <p:spPr>
          <a:xfrm>
            <a:off x="7168896" y="6336792"/>
            <a:ext cx="530352" cy="530352"/>
          </a:xfrm>
          <a:prstGeom prst="ellipse">
            <a:avLst/>
          </a:prstGeom>
          <a:solidFill>
            <a:srgbClr val="0B7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7168896" y="6336792"/>
            <a:ext cx="530352" cy="530352"/>
          </a:xfrm>
          <a:prstGeom prst="rect">
            <a:avLst/>
          </a:prstGeom>
          <a:noFill/>
        </p:spPr>
        <p:txBody>
          <a:bodyPr wrap="square" lIns="0" rIns="0" tIns="0" bIns="0" anchor="ctr">
            <a:noAutofit/>
          </a:bodyPr>
          <a:lstStyle/>
          <a:p>
            <a:pPr algn="ctr">
              <a:lnSpc>
                <a:spcPct val="100000"/>
              </a:lnSpc>
              <a:spcAft>
                <a:spcPts val="0"/>
              </a:spcAft>
            </a:pPr>
            <a:r>
              <a:rPr sz="2600">
                <a:solidFill>
                  <a:srgbClr val="FFFFFF"/>
                </a:solidFill>
                <a:latin typeface="Heading Now 31-38 Bold"/>
              </a:rPr>
              <a:t>8</a:t>
            </a:r>
          </a:p>
        </p:txBody>
      </p:sp>
      <p:sp>
        <p:nvSpPr>
          <p:cNvPr id="55" name="TextBox 54"/>
          <p:cNvSpPr txBox="1"/>
          <p:nvPr/>
        </p:nvSpPr>
        <p:spPr>
          <a:xfrm>
            <a:off x="7799831" y="6281928"/>
            <a:ext cx="1920239" cy="640080"/>
          </a:xfrm>
          <a:prstGeom prst="rect">
            <a:avLst/>
          </a:prstGeom>
          <a:noFill/>
        </p:spPr>
        <p:txBody>
          <a:bodyPr wrap="square" lIns="0" rIns="0" tIns="0" bIns="0" anchor="ctr">
            <a:noAutofit/>
          </a:bodyPr>
          <a:lstStyle/>
          <a:p>
            <a:pPr algn="l">
              <a:lnSpc>
                <a:spcPct val="100000"/>
              </a:lnSpc>
              <a:spcAft>
                <a:spcPts val="0"/>
              </a:spcAft>
            </a:pPr>
            <a:r>
              <a:rPr sz="2600" b="1">
                <a:solidFill>
                  <a:srgbClr val="0B7A5B"/>
                </a:solidFill>
                <a:latin typeface="Heading Now 31-38 Bold"/>
              </a:rPr>
              <a:t>Deliver</a:t>
            </a:r>
          </a:p>
        </p:txBody>
      </p:sp>
      <p:sp>
        <p:nvSpPr>
          <p:cNvPr id="56" name="TextBox 55"/>
          <p:cNvSpPr txBox="1"/>
          <p:nvPr/>
        </p:nvSpPr>
        <p:spPr>
          <a:xfrm>
            <a:off x="7205472" y="7040880"/>
            <a:ext cx="2423160" cy="1005840"/>
          </a:xfrm>
          <a:prstGeom prst="rect">
            <a:avLst/>
          </a:prstGeom>
          <a:noFill/>
        </p:spPr>
        <p:txBody>
          <a:bodyPr wrap="square" lIns="0" rIns="0" tIns="0" bIns="0" anchor="t">
            <a:noAutofit/>
          </a:bodyPr>
          <a:lstStyle/>
          <a:p>
            <a:pPr algn="l">
              <a:lnSpc>
                <a:spcPct val="100000"/>
              </a:lnSpc>
              <a:spcAft>
                <a:spcPts val="0"/>
              </a:spcAft>
            </a:pPr>
            <a:r>
              <a:rPr sz="1810">
                <a:solidFill>
                  <a:srgbClr val="161F3E"/>
                </a:solidFill>
                <a:latin typeface="Calibri"/>
              </a:rPr>
              <a:t>the provider commits the file's SHA-256</a:t>
            </a:r>
          </a:p>
        </p:txBody>
      </p:sp>
      <p:sp>
        <p:nvSpPr>
          <p:cNvPr id="57" name="Rounded Rectangle 56"/>
          <p:cNvSpPr/>
          <p:nvPr/>
        </p:nvSpPr>
        <p:spPr>
          <a:xfrm>
            <a:off x="3922776" y="6172200"/>
            <a:ext cx="2788920" cy="1920240"/>
          </a:xfrm>
          <a:prstGeom prst="roundRect">
            <a:avLst>
              <a:gd name="adj" fmla="val 8571"/>
            </a:avLst>
          </a:prstGeom>
          <a:solidFill>
            <a:srgbClr val="DDF3EA"/>
          </a:solidFill>
          <a:ln w="25400">
            <a:solidFill>
              <a:srgbClr val="0B7A5B"/>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Oval 57"/>
          <p:cNvSpPr/>
          <p:nvPr/>
        </p:nvSpPr>
        <p:spPr>
          <a:xfrm>
            <a:off x="4069080" y="6336792"/>
            <a:ext cx="530352" cy="530352"/>
          </a:xfrm>
          <a:prstGeom prst="ellipse">
            <a:avLst/>
          </a:prstGeom>
          <a:solidFill>
            <a:srgbClr val="0B7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4069080" y="6336792"/>
            <a:ext cx="530352" cy="530352"/>
          </a:xfrm>
          <a:prstGeom prst="rect">
            <a:avLst/>
          </a:prstGeom>
          <a:noFill/>
        </p:spPr>
        <p:txBody>
          <a:bodyPr wrap="square" lIns="0" rIns="0" tIns="0" bIns="0" anchor="ctr">
            <a:noAutofit/>
          </a:bodyPr>
          <a:lstStyle/>
          <a:p>
            <a:pPr algn="ctr">
              <a:lnSpc>
                <a:spcPct val="100000"/>
              </a:lnSpc>
              <a:spcAft>
                <a:spcPts val="0"/>
              </a:spcAft>
            </a:pPr>
            <a:r>
              <a:rPr sz="2600">
                <a:solidFill>
                  <a:srgbClr val="FFFFFF"/>
                </a:solidFill>
                <a:latin typeface="Heading Now 31-38 Bold"/>
              </a:rPr>
              <a:t>9</a:t>
            </a:r>
          </a:p>
        </p:txBody>
      </p:sp>
      <p:sp>
        <p:nvSpPr>
          <p:cNvPr id="60" name="TextBox 59"/>
          <p:cNvSpPr txBox="1"/>
          <p:nvPr/>
        </p:nvSpPr>
        <p:spPr>
          <a:xfrm>
            <a:off x="4700016" y="6281928"/>
            <a:ext cx="1920239" cy="640080"/>
          </a:xfrm>
          <a:prstGeom prst="rect">
            <a:avLst/>
          </a:prstGeom>
          <a:noFill/>
        </p:spPr>
        <p:txBody>
          <a:bodyPr wrap="square" lIns="0" rIns="0" tIns="0" bIns="0" anchor="ctr">
            <a:noAutofit/>
          </a:bodyPr>
          <a:lstStyle/>
          <a:p>
            <a:pPr algn="l">
              <a:lnSpc>
                <a:spcPct val="100000"/>
              </a:lnSpc>
              <a:spcAft>
                <a:spcPts val="0"/>
              </a:spcAft>
            </a:pPr>
            <a:r>
              <a:rPr sz="2600" b="1">
                <a:solidFill>
                  <a:srgbClr val="0B7A5B"/>
                </a:solidFill>
                <a:latin typeface="Heading Now 31-38 Bold"/>
              </a:rPr>
              <a:t>Approve exact hash</a:t>
            </a:r>
          </a:p>
        </p:txBody>
      </p:sp>
      <p:sp>
        <p:nvSpPr>
          <p:cNvPr id="61" name="TextBox 60"/>
          <p:cNvSpPr txBox="1"/>
          <p:nvPr/>
        </p:nvSpPr>
        <p:spPr>
          <a:xfrm>
            <a:off x="4105656" y="7040880"/>
            <a:ext cx="2423160" cy="1005840"/>
          </a:xfrm>
          <a:prstGeom prst="rect">
            <a:avLst/>
          </a:prstGeom>
          <a:noFill/>
        </p:spPr>
        <p:txBody>
          <a:bodyPr wrap="square" lIns="0" rIns="0" tIns="0" bIns="0" anchor="t">
            <a:noAutofit/>
          </a:bodyPr>
          <a:lstStyle/>
          <a:p>
            <a:pPr algn="l">
              <a:lnSpc>
                <a:spcPct val="100000"/>
              </a:lnSpc>
              <a:spcAft>
                <a:spcPts val="0"/>
              </a:spcAft>
            </a:pPr>
            <a:r>
              <a:rPr sz="1810">
                <a:solidFill>
                  <a:srgbClr val="161F3E"/>
                </a:solidFill>
                <a:latin typeface="Calibri"/>
              </a:rPr>
              <a:t>or dispute: the arbiter decides</a:t>
            </a:r>
          </a:p>
        </p:txBody>
      </p:sp>
      <p:sp>
        <p:nvSpPr>
          <p:cNvPr id="62" name="Rounded Rectangle 61"/>
          <p:cNvSpPr/>
          <p:nvPr/>
        </p:nvSpPr>
        <p:spPr>
          <a:xfrm>
            <a:off x="822960" y="6172200"/>
            <a:ext cx="2788920" cy="1920240"/>
          </a:xfrm>
          <a:prstGeom prst="roundRect">
            <a:avLst>
              <a:gd name="adj" fmla="val 8571"/>
            </a:avLst>
          </a:prstGeom>
          <a:solidFill>
            <a:srgbClr val="DDF3EA"/>
          </a:solidFill>
          <a:ln w="25400">
            <a:solidFill>
              <a:srgbClr val="0B7A5B"/>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Oval 62"/>
          <p:cNvSpPr/>
          <p:nvPr/>
        </p:nvSpPr>
        <p:spPr>
          <a:xfrm>
            <a:off x="969264" y="6336792"/>
            <a:ext cx="530352" cy="530352"/>
          </a:xfrm>
          <a:prstGeom prst="ellipse">
            <a:avLst/>
          </a:prstGeom>
          <a:solidFill>
            <a:srgbClr val="0B7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969264" y="6336792"/>
            <a:ext cx="530352" cy="530352"/>
          </a:xfrm>
          <a:prstGeom prst="rect">
            <a:avLst/>
          </a:prstGeom>
          <a:noFill/>
        </p:spPr>
        <p:txBody>
          <a:bodyPr wrap="square" lIns="0" rIns="0" tIns="0" bIns="0" anchor="ctr">
            <a:noAutofit/>
          </a:bodyPr>
          <a:lstStyle/>
          <a:p>
            <a:pPr algn="ctr">
              <a:lnSpc>
                <a:spcPct val="100000"/>
              </a:lnSpc>
              <a:spcAft>
                <a:spcPts val="0"/>
              </a:spcAft>
            </a:pPr>
            <a:r>
              <a:rPr sz="2600">
                <a:solidFill>
                  <a:srgbClr val="FFFFFF"/>
                </a:solidFill>
                <a:latin typeface="Heading Now 31-38 Bold"/>
              </a:rPr>
              <a:t>10</a:t>
            </a:r>
          </a:p>
        </p:txBody>
      </p:sp>
      <p:sp>
        <p:nvSpPr>
          <p:cNvPr id="65" name="TextBox 64"/>
          <p:cNvSpPr txBox="1"/>
          <p:nvPr/>
        </p:nvSpPr>
        <p:spPr>
          <a:xfrm>
            <a:off x="1600200" y="6281928"/>
            <a:ext cx="1920239" cy="640080"/>
          </a:xfrm>
          <a:prstGeom prst="rect">
            <a:avLst/>
          </a:prstGeom>
          <a:noFill/>
        </p:spPr>
        <p:txBody>
          <a:bodyPr wrap="square" lIns="0" rIns="0" tIns="0" bIns="0" anchor="ctr">
            <a:noAutofit/>
          </a:bodyPr>
          <a:lstStyle/>
          <a:p>
            <a:pPr algn="l">
              <a:lnSpc>
                <a:spcPct val="100000"/>
              </a:lnSpc>
              <a:spcAft>
                <a:spcPts val="0"/>
              </a:spcAft>
            </a:pPr>
            <a:r>
              <a:rPr sz="2600" b="1">
                <a:solidFill>
                  <a:srgbClr val="0B7A5B"/>
                </a:solidFill>
                <a:latin typeface="Heading Now 31-38 Bold"/>
              </a:rPr>
              <a:t>Pull and reconcile</a:t>
            </a:r>
          </a:p>
        </p:txBody>
      </p:sp>
      <p:sp>
        <p:nvSpPr>
          <p:cNvPr id="66" name="TextBox 65"/>
          <p:cNvSpPr txBox="1"/>
          <p:nvPr/>
        </p:nvSpPr>
        <p:spPr>
          <a:xfrm>
            <a:off x="1005840" y="7040880"/>
            <a:ext cx="2423160" cy="1005840"/>
          </a:xfrm>
          <a:prstGeom prst="rect">
            <a:avLst/>
          </a:prstGeom>
          <a:noFill/>
        </p:spPr>
        <p:txBody>
          <a:bodyPr wrap="square" lIns="0" rIns="0" tIns="0" bIns="0" anchor="t">
            <a:noAutofit/>
          </a:bodyPr>
          <a:lstStyle/>
          <a:p>
            <a:pPr algn="l">
              <a:lnSpc>
                <a:spcPct val="100000"/>
              </a:lnSpc>
              <a:spcAft>
                <a:spcPts val="0"/>
              </a:spcAft>
            </a:pPr>
            <a:r>
              <a:rPr sz="1810">
                <a:solidFill>
                  <a:srgbClr val="161F3E"/>
                </a:solidFill>
                <a:latin typeface="Calibri"/>
              </a:rPr>
              <a:t>withdraw, then the ledger checks itself</a:t>
            </a:r>
          </a:p>
        </p:txBody>
      </p:sp>
      <p:cxnSp>
        <p:nvCxnSpPr>
          <p:cNvPr id="67" name="Connector 66"/>
          <p:cNvCxnSpPr/>
          <p:nvPr/>
        </p:nvCxnSpPr>
        <p:spPr>
          <a:xfrm>
            <a:off x="3630168" y="4114800"/>
            <a:ext cx="274320" cy="0"/>
          </a:xfrm>
          <a:prstGeom prst="line">
            <a:avLst/>
          </a:prstGeom>
          <a:ln w="44450">
            <a:solidFill>
              <a:srgbClr val="172243"/>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6729983" y="4114800"/>
            <a:ext cx="274321" cy="0"/>
          </a:xfrm>
          <a:prstGeom prst="line">
            <a:avLst/>
          </a:prstGeom>
          <a:ln w="44450">
            <a:solidFill>
              <a:srgbClr val="172243"/>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829800" y="4114800"/>
            <a:ext cx="274319" cy="0"/>
          </a:xfrm>
          <a:prstGeom prst="line">
            <a:avLst/>
          </a:prstGeom>
          <a:ln w="44450">
            <a:solidFill>
              <a:srgbClr val="172243"/>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2929615" y="4114800"/>
            <a:ext cx="274321" cy="0"/>
          </a:xfrm>
          <a:prstGeom prst="line">
            <a:avLst/>
          </a:prstGeom>
          <a:ln w="44450">
            <a:solidFill>
              <a:srgbClr val="172243"/>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4616684" y="5093208"/>
            <a:ext cx="0" cy="1060704"/>
          </a:xfrm>
          <a:prstGeom prst="line">
            <a:avLst/>
          </a:prstGeom>
          <a:ln w="63500">
            <a:solidFill>
              <a:srgbClr val="EE7A6B"/>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12929615" y="7132320"/>
            <a:ext cx="274321" cy="0"/>
          </a:xfrm>
          <a:prstGeom prst="line">
            <a:avLst/>
          </a:prstGeom>
          <a:ln w="44450">
            <a:solidFill>
              <a:srgbClr val="172243"/>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9829800" y="7132320"/>
            <a:ext cx="274319" cy="0"/>
          </a:xfrm>
          <a:prstGeom prst="line">
            <a:avLst/>
          </a:prstGeom>
          <a:ln w="44450">
            <a:solidFill>
              <a:srgbClr val="172243"/>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6729983" y="7132320"/>
            <a:ext cx="274321" cy="0"/>
          </a:xfrm>
          <a:prstGeom prst="line">
            <a:avLst/>
          </a:prstGeom>
          <a:ln w="44450">
            <a:solidFill>
              <a:srgbClr val="172243"/>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3630168" y="7132320"/>
            <a:ext cx="274320" cy="0"/>
          </a:xfrm>
          <a:prstGeom prst="line">
            <a:avLst/>
          </a:prstGeom>
          <a:ln w="44450">
            <a:solidFill>
              <a:srgbClr val="172243"/>
            </a:solidFill>
            <a:tailEnd type="triangle" w="lg" len="lg"/>
          </a:ln>
        </p:spPr>
        <p:style>
          <a:lnRef idx="2">
            <a:schemeClr val="accent1"/>
          </a:lnRef>
          <a:fillRef idx="0">
            <a:schemeClr val="accent1"/>
          </a:fillRef>
          <a:effectRef idx="1">
            <a:schemeClr val="accent1"/>
          </a:effectRef>
          <a:fontRef idx="minor">
            <a:schemeClr val="tx1"/>
          </a:fontRef>
        </p:style>
      </p:cxnSp>
      <p:sp>
        <p:nvSpPr>
          <p:cNvPr id="76" name="Rounded Rectangle 75"/>
          <p:cNvSpPr/>
          <p:nvPr/>
        </p:nvSpPr>
        <p:spPr>
          <a:xfrm>
            <a:off x="7315200" y="5212080"/>
            <a:ext cx="6675120" cy="548640"/>
          </a:xfrm>
          <a:prstGeom prst="roundRect">
            <a:avLst>
              <a:gd name="adj" fmla="val 50000"/>
            </a:avLst>
          </a:prstGeom>
          <a:solidFill>
            <a:srgbClr val="EE7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7315200" y="5212080"/>
            <a:ext cx="6675120" cy="548640"/>
          </a:xfrm>
          <a:prstGeom prst="rect">
            <a:avLst/>
          </a:prstGeom>
          <a:noFill/>
        </p:spPr>
        <p:txBody>
          <a:bodyPr wrap="square" lIns="0" rIns="0" tIns="0" bIns="0" anchor="ctr">
            <a:noAutofit/>
          </a:bodyPr>
          <a:lstStyle/>
          <a:p>
            <a:pPr algn="ctr">
              <a:lnSpc>
                <a:spcPct val="100000"/>
              </a:lnSpc>
              <a:spcAft>
                <a:spcPts val="0"/>
              </a:spcAft>
            </a:pPr>
            <a:r>
              <a:rPr sz="2360" b="1">
                <a:solidFill>
                  <a:srgbClr val="172243"/>
                </a:solidFill>
                <a:latin typeface="Heading Now 31-38 Bold"/>
              </a:rPr>
              <a:t>AI BOUNDARY: only the confirmed, hashed version crosses</a:t>
            </a:r>
          </a:p>
        </p:txBody>
      </p:sp>
      <p:sp>
        <p:nvSpPr>
          <p:cNvPr id="78" name="TextBox 77"/>
          <p:cNvSpPr txBox="1"/>
          <p:nvPr/>
        </p:nvSpPr>
        <p:spPr>
          <a:xfrm>
            <a:off x="822960" y="8366760"/>
            <a:ext cx="4572000" cy="411480"/>
          </a:xfrm>
          <a:prstGeom prst="rect">
            <a:avLst/>
          </a:prstGeom>
          <a:noFill/>
        </p:spPr>
        <p:txBody>
          <a:bodyPr wrap="square" lIns="0" rIns="0" tIns="0" bIns="0" anchor="t">
            <a:noAutofit/>
          </a:bodyPr>
          <a:lstStyle/>
          <a:p>
            <a:pPr algn="l">
              <a:lnSpc>
                <a:spcPct val="100000"/>
              </a:lnSpc>
              <a:spcAft>
                <a:spcPts val="0"/>
              </a:spcAft>
            </a:pPr>
            <a:r>
              <a:rPr sz="1800" spc="250" b="1">
                <a:solidFill>
                  <a:srgbClr val="4E4A76"/>
                </a:solidFill>
                <a:latin typeface="Calibri"/>
              </a:rPr>
              <a:t>COLOUR KEY</a:t>
            </a:r>
          </a:p>
        </p:txBody>
      </p:sp>
      <p:sp>
        <p:nvSpPr>
          <p:cNvPr id="79" name="Rounded Rectangle 78"/>
          <p:cNvSpPr/>
          <p:nvPr/>
        </p:nvSpPr>
        <p:spPr>
          <a:xfrm>
            <a:off x="822960" y="8869680"/>
            <a:ext cx="2331720" cy="566928"/>
          </a:xfrm>
          <a:prstGeom prst="roundRect">
            <a:avLst>
              <a:gd name="adj" fmla="val 50000"/>
            </a:avLst>
          </a:prstGeom>
          <a:solidFill>
            <a:srgbClr val="FBEBCF"/>
          </a:solidFill>
          <a:ln w="19050">
            <a:solidFill>
              <a:srgbClr val="9A5B0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822960" y="8869680"/>
            <a:ext cx="2331720" cy="566928"/>
          </a:xfrm>
          <a:prstGeom prst="rect">
            <a:avLst/>
          </a:prstGeom>
          <a:noFill/>
        </p:spPr>
        <p:txBody>
          <a:bodyPr wrap="square" lIns="0" rIns="0" tIns="0" bIns="0" anchor="ctr">
            <a:noAutofit/>
          </a:bodyPr>
          <a:lstStyle/>
          <a:p>
            <a:pPr algn="ctr">
              <a:lnSpc>
                <a:spcPct val="100000"/>
              </a:lnSpc>
              <a:spcAft>
                <a:spcPts val="0"/>
              </a:spcAft>
            </a:pPr>
            <a:r>
              <a:rPr sz="2360" b="1">
                <a:solidFill>
                  <a:srgbClr val="9A5B0A"/>
                </a:solidFill>
                <a:latin typeface="Heading Now 31-38 Bold"/>
              </a:rPr>
              <a:t>AI-proposed</a:t>
            </a:r>
          </a:p>
        </p:txBody>
      </p:sp>
      <p:sp>
        <p:nvSpPr>
          <p:cNvPr id="81" name="Rounded Rectangle 80"/>
          <p:cNvSpPr/>
          <p:nvPr/>
        </p:nvSpPr>
        <p:spPr>
          <a:xfrm>
            <a:off x="3337560" y="8869680"/>
            <a:ext cx="2331720" cy="566928"/>
          </a:xfrm>
          <a:prstGeom prst="roundRect">
            <a:avLst>
              <a:gd name="adj" fmla="val 50000"/>
            </a:avLst>
          </a:prstGeom>
          <a:solidFill>
            <a:srgbClr val="EFEBFF"/>
          </a:solidFill>
          <a:ln w="19050">
            <a:solidFill>
              <a:srgbClr val="5B45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3337560" y="8869680"/>
            <a:ext cx="2331720" cy="566928"/>
          </a:xfrm>
          <a:prstGeom prst="rect">
            <a:avLst/>
          </a:prstGeom>
          <a:noFill/>
        </p:spPr>
        <p:txBody>
          <a:bodyPr wrap="square" lIns="0" rIns="0" tIns="0" bIns="0" anchor="ctr">
            <a:noAutofit/>
          </a:bodyPr>
          <a:lstStyle/>
          <a:p>
            <a:pPr algn="ctr">
              <a:lnSpc>
                <a:spcPct val="100000"/>
              </a:lnSpc>
              <a:spcAft>
                <a:spcPts val="0"/>
              </a:spcAft>
            </a:pPr>
            <a:r>
              <a:rPr sz="2360" b="1">
                <a:solidFill>
                  <a:srgbClr val="5B45E6"/>
                </a:solidFill>
                <a:latin typeface="Heading Now 31-38 Bold"/>
              </a:rPr>
              <a:t>Rules</a:t>
            </a:r>
          </a:p>
        </p:txBody>
      </p:sp>
      <p:sp>
        <p:nvSpPr>
          <p:cNvPr id="83" name="Rounded Rectangle 82"/>
          <p:cNvSpPr/>
          <p:nvPr/>
        </p:nvSpPr>
        <p:spPr>
          <a:xfrm>
            <a:off x="5852160" y="8869680"/>
            <a:ext cx="2331720" cy="566928"/>
          </a:xfrm>
          <a:prstGeom prst="roundRect">
            <a:avLst>
              <a:gd name="adj" fmla="val 50000"/>
            </a:avLst>
          </a:prstGeom>
          <a:solidFill>
            <a:srgbClr val="E0E8FB"/>
          </a:solidFill>
          <a:ln w="19050">
            <a:solidFill>
              <a:srgbClr val="2F56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5852160" y="8869680"/>
            <a:ext cx="2331720" cy="566928"/>
          </a:xfrm>
          <a:prstGeom prst="rect">
            <a:avLst/>
          </a:prstGeom>
          <a:noFill/>
        </p:spPr>
        <p:txBody>
          <a:bodyPr wrap="square" lIns="0" rIns="0" tIns="0" bIns="0" anchor="ctr">
            <a:noAutofit/>
          </a:bodyPr>
          <a:lstStyle/>
          <a:p>
            <a:pPr algn="ctr">
              <a:lnSpc>
                <a:spcPct val="100000"/>
              </a:lnSpc>
              <a:spcAft>
                <a:spcPts val="0"/>
              </a:spcAft>
            </a:pPr>
            <a:r>
              <a:rPr sz="2360" b="1">
                <a:solidFill>
                  <a:srgbClr val="2F56C9"/>
                </a:solidFill>
                <a:latin typeface="Heading Now 31-38 Bold"/>
              </a:rPr>
              <a:t>Person</a:t>
            </a:r>
          </a:p>
        </p:txBody>
      </p:sp>
      <p:sp>
        <p:nvSpPr>
          <p:cNvPr id="85" name="Rounded Rectangle 84"/>
          <p:cNvSpPr/>
          <p:nvPr/>
        </p:nvSpPr>
        <p:spPr>
          <a:xfrm>
            <a:off x="8366760" y="8869680"/>
            <a:ext cx="2331720" cy="566928"/>
          </a:xfrm>
          <a:prstGeom prst="roundRect">
            <a:avLst>
              <a:gd name="adj" fmla="val 50000"/>
            </a:avLst>
          </a:prstGeom>
          <a:solidFill>
            <a:srgbClr val="DDF3EA"/>
          </a:solidFill>
          <a:ln w="19050">
            <a:solidFill>
              <a:srgbClr val="0B7A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Box 85"/>
          <p:cNvSpPr txBox="1"/>
          <p:nvPr/>
        </p:nvSpPr>
        <p:spPr>
          <a:xfrm>
            <a:off x="8366760" y="8869680"/>
            <a:ext cx="2331720" cy="566928"/>
          </a:xfrm>
          <a:prstGeom prst="rect">
            <a:avLst/>
          </a:prstGeom>
          <a:noFill/>
        </p:spPr>
        <p:txBody>
          <a:bodyPr wrap="square" lIns="0" rIns="0" tIns="0" bIns="0" anchor="ctr">
            <a:noAutofit/>
          </a:bodyPr>
          <a:lstStyle/>
          <a:p>
            <a:pPr algn="ctr">
              <a:lnSpc>
                <a:spcPct val="100000"/>
              </a:lnSpc>
              <a:spcAft>
                <a:spcPts val="0"/>
              </a:spcAft>
            </a:pPr>
            <a:r>
              <a:rPr sz="2360" b="1">
                <a:solidFill>
                  <a:srgbClr val="0B7A5B"/>
                </a:solidFill>
                <a:latin typeface="Heading Now 31-38 Bold"/>
              </a:rPr>
              <a:t>On-chain</a:t>
            </a:r>
          </a:p>
        </p:txBody>
      </p:sp>
      <p:sp>
        <p:nvSpPr>
          <p:cNvPr id="87" name="TextBox 86"/>
          <p:cNvSpPr txBox="1"/>
          <p:nvPr/>
        </p:nvSpPr>
        <p:spPr>
          <a:xfrm>
            <a:off x="11064240" y="8823960"/>
            <a:ext cx="4937760" cy="731520"/>
          </a:xfrm>
          <a:prstGeom prst="rect">
            <a:avLst/>
          </a:prstGeom>
          <a:noFill/>
        </p:spPr>
        <p:txBody>
          <a:bodyPr wrap="square" lIns="0" rIns="0" tIns="0" bIns="0" anchor="t">
            <a:noAutofit/>
          </a:bodyPr>
          <a:lstStyle/>
          <a:p>
            <a:pPr algn="l">
              <a:lnSpc>
                <a:spcPct val="100000"/>
              </a:lnSpc>
              <a:spcAft>
                <a:spcPts val="0"/>
              </a:spcAft>
            </a:pPr>
            <a:r>
              <a:rPr sz="1900">
                <a:solidFill>
                  <a:srgbClr val="161F3E"/>
                </a:solidFill>
                <a:latin typeface="Calibri"/>
              </a:rPr>
              <a:t>Every refusal is a named error, and a refused call changes nothing.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479517"/>
            <a:chOff x="0" y="0"/>
            <a:chExt cx="24384000" cy="13972689"/>
          </a:xfrm>
        </p:grpSpPr>
        <p:sp>
          <p:nvSpPr>
            <p:cNvPr id="4" name="Freeform 4"/>
            <p:cNvSpPr/>
            <p:nvPr/>
          </p:nvSpPr>
          <p:spPr>
            <a:xfrm>
              <a:off x="0" y="0"/>
              <a:ext cx="2333397" cy="13147537"/>
            </a:xfrm>
            <a:custGeom>
              <a:avLst/>
              <a:gdLst/>
              <a:ahLst/>
              <a:cxnLst/>
              <a:rect l="l" t="t" r="r" b="b"/>
              <a:pathLst>
                <a:path w="2333397" h="13147537">
                  <a:moveTo>
                    <a:pt x="0" y="0"/>
                  </a:moveTo>
                  <a:lnTo>
                    <a:pt x="2333397" y="0"/>
                  </a:lnTo>
                  <a:lnTo>
                    <a:pt x="2333397" y="13147537"/>
                  </a:lnTo>
                  <a:lnTo>
                    <a:pt x="0" y="13147537"/>
                  </a:lnTo>
                  <a:lnTo>
                    <a:pt x="0" y="0"/>
                  </a:lnTo>
                  <a:close/>
                </a:path>
              </a:pathLst>
            </a:custGeom>
            <a:blipFill>
              <a:blip r:embed="rId3"/>
              <a:stretch>
                <a:fillRect/>
              </a:stretch>
            </a:blipFill>
          </p:spPr>
        </p:sp>
        <p:sp>
          <p:nvSpPr>
            <p:cNvPr id="5" name="Freeform 5"/>
            <p:cNvSpPr/>
            <p:nvPr/>
          </p:nvSpPr>
          <p:spPr>
            <a:xfrm>
              <a:off x="19148440" y="8847622"/>
              <a:ext cx="2333397" cy="2303005"/>
            </a:xfrm>
            <a:custGeom>
              <a:avLst/>
              <a:gdLst/>
              <a:ahLst/>
              <a:cxnLst/>
              <a:rect l="l" t="t" r="r" b="b"/>
              <a:pathLst>
                <a:path w="2333397" h="2303005">
                  <a:moveTo>
                    <a:pt x="0" y="0"/>
                  </a:moveTo>
                  <a:lnTo>
                    <a:pt x="2333397" y="0"/>
                  </a:lnTo>
                  <a:lnTo>
                    <a:pt x="2333397" y="2303005"/>
                  </a:lnTo>
                  <a:lnTo>
                    <a:pt x="0" y="2303005"/>
                  </a:lnTo>
                  <a:lnTo>
                    <a:pt x="0" y="0"/>
                  </a:lnTo>
                  <a:close/>
                </a:path>
              </a:pathLst>
            </a:custGeom>
            <a:blipFill>
              <a:blip r:embed="rId4"/>
              <a:stretch>
                <a:fillRect/>
              </a:stretch>
            </a:blipFill>
          </p:spPr>
        </p:sp>
        <p:sp>
          <p:nvSpPr>
            <p:cNvPr id="6" name="Freeform 6"/>
            <p:cNvSpPr/>
            <p:nvPr/>
          </p:nvSpPr>
          <p:spPr>
            <a:xfrm>
              <a:off x="17412976" y="9395831"/>
              <a:ext cx="6971024" cy="4342033"/>
            </a:xfrm>
            <a:custGeom>
              <a:avLst/>
              <a:gdLst/>
              <a:ahLst/>
              <a:cxnLst/>
              <a:rect l="l" t="t" r="r" b="b"/>
              <a:pathLst>
                <a:path w="6971024" h="4342033">
                  <a:moveTo>
                    <a:pt x="0" y="0"/>
                  </a:moveTo>
                  <a:lnTo>
                    <a:pt x="6971024" y="0"/>
                  </a:lnTo>
                  <a:lnTo>
                    <a:pt x="6971024" y="4342033"/>
                  </a:lnTo>
                  <a:lnTo>
                    <a:pt x="0" y="4342033"/>
                  </a:lnTo>
                  <a:lnTo>
                    <a:pt x="0" y="0"/>
                  </a:lnTo>
                  <a:close/>
                </a:path>
              </a:pathLst>
            </a:custGeom>
            <a:blipFill>
              <a:blip r:embed="rId5"/>
              <a:stretch>
                <a:fillRect t="-5743"/>
              </a:stretch>
            </a:blipFill>
          </p:spPr>
        </p:sp>
        <p:sp>
          <p:nvSpPr>
            <p:cNvPr id="7" name="Freeform 7"/>
            <p:cNvSpPr/>
            <p:nvPr/>
          </p:nvSpPr>
          <p:spPr>
            <a:xfrm>
              <a:off x="0" y="9395831"/>
              <a:ext cx="1750048" cy="4576859"/>
            </a:xfrm>
            <a:custGeom>
              <a:avLst/>
              <a:gdLst/>
              <a:ahLst/>
              <a:cxnLst/>
              <a:rect l="l" t="t" r="r" b="b"/>
              <a:pathLst>
                <a:path w="1750048" h="4576859">
                  <a:moveTo>
                    <a:pt x="0" y="0"/>
                  </a:moveTo>
                  <a:lnTo>
                    <a:pt x="1750048" y="0"/>
                  </a:lnTo>
                  <a:lnTo>
                    <a:pt x="1750048" y="4576858"/>
                  </a:lnTo>
                  <a:lnTo>
                    <a:pt x="0" y="4576858"/>
                  </a:lnTo>
                  <a:lnTo>
                    <a:pt x="0" y="0"/>
                  </a:lnTo>
                  <a:close/>
                </a:path>
              </a:pathLst>
            </a:custGeom>
            <a:blipFill>
              <a:blip r:embed="rId6"/>
              <a:stretch>
                <a:fillRect/>
              </a:stretch>
            </a:blipFill>
          </p:spPr>
        </p:sp>
        <p:sp>
          <p:nvSpPr>
            <p:cNvPr id="8" name="Freeform 8"/>
            <p:cNvSpPr/>
            <p:nvPr/>
          </p:nvSpPr>
          <p:spPr>
            <a:xfrm>
              <a:off x="22633952" y="7273416"/>
              <a:ext cx="1750048" cy="5451418"/>
            </a:xfrm>
            <a:custGeom>
              <a:avLst/>
              <a:gdLst/>
              <a:ahLst/>
              <a:cxnLst/>
              <a:rect l="l" t="t" r="r" b="b"/>
              <a:pathLst>
                <a:path w="1750048" h="5451418">
                  <a:moveTo>
                    <a:pt x="0" y="0"/>
                  </a:moveTo>
                  <a:lnTo>
                    <a:pt x="1750048" y="0"/>
                  </a:lnTo>
                  <a:lnTo>
                    <a:pt x="1750048" y="5451417"/>
                  </a:lnTo>
                  <a:lnTo>
                    <a:pt x="0" y="5451417"/>
                  </a:lnTo>
                  <a:lnTo>
                    <a:pt x="0" y="0"/>
                  </a:lnTo>
                  <a:close/>
                </a:path>
              </a:pathLst>
            </a:custGeom>
            <a:blipFill>
              <a:blip r:embed="rId7"/>
              <a:stretch>
                <a:fillRect/>
              </a:stretch>
            </a:blipFill>
          </p:spPr>
        </p:sp>
        <p:sp>
          <p:nvSpPr>
            <p:cNvPr id="9" name="Freeform 9"/>
            <p:cNvSpPr/>
            <p:nvPr/>
          </p:nvSpPr>
          <p:spPr>
            <a:xfrm>
              <a:off x="22275922" y="9395831"/>
              <a:ext cx="1472957" cy="3162988"/>
            </a:xfrm>
            <a:custGeom>
              <a:avLst/>
              <a:gdLst/>
              <a:ahLst/>
              <a:cxnLst/>
              <a:rect l="l" t="t" r="r" b="b"/>
              <a:pathLst>
                <a:path w="1472957" h="3162988">
                  <a:moveTo>
                    <a:pt x="0" y="0"/>
                  </a:moveTo>
                  <a:lnTo>
                    <a:pt x="1472956" y="0"/>
                  </a:lnTo>
                  <a:lnTo>
                    <a:pt x="1472956" y="3162988"/>
                  </a:lnTo>
                  <a:lnTo>
                    <a:pt x="0" y="3162988"/>
                  </a:lnTo>
                  <a:lnTo>
                    <a:pt x="0" y="0"/>
                  </a:lnTo>
                  <a:close/>
                </a:path>
              </a:pathLst>
            </a:custGeom>
            <a:blipFill>
              <a:blip r:embed="rId8"/>
              <a:stretch>
                <a:fillRect/>
              </a:stretch>
            </a:blipFill>
          </p:spPr>
        </p:sp>
      </p:grpSp>
      <p:sp>
        <p:nvSpPr>
          <p:cNvPr id="10" name="TextBox 10"/>
          <p:cNvSpPr txBox="1"/>
          <p:nvPr/>
        </p:nvSpPr>
        <p:spPr>
          <a:xfrm>
            <a:off x="338328" y="146304"/>
            <a:ext cx="14630400" cy="1200150"/>
          </a:xfrm>
          <a:prstGeom prst="rect">
            <a:avLst/>
          </a:prstGeom>
        </p:spPr>
        <p:txBody>
          <a:bodyPr lIns="0" tIns="0" rIns="0" bIns="0" rtlCol="0" anchor="t">
            <a:spAutoFit/>
          </a:bodyPr>
          <a:lstStyle/>
          <a:p>
            <a:pPr algn="l">
              <a:lnSpc>
                <a:spcPts val="7500"/>
              </a:lnSpc>
            </a:pPr>
            <a:r>
              <a:rPr lang="en-US" sz="7500" b="1" spc="150">
                <a:solidFill>
                  <a:srgbClr val="172243"/>
                </a:solidFill>
                <a:latin typeface="Heading Now 31-38 Bold"/>
                <a:ea typeface="Heading Now 31-38 Bold"/>
                <a:cs typeface="Heading Now 31-38 Bold"/>
                <a:sym typeface="Heading Now 31-38 Bold"/>
              </a:rPr>
              <a:t>TECHNICAL APPROACH 2/3</a:t>
            </a:r>
          </a:p>
        </p:txBody>
      </p:sp>
      <p:sp>
        <p:nvSpPr>
          <p:cNvPr id="11" name="Freeform 11"/>
          <p:cNvSpPr/>
          <p:nvPr/>
        </p:nvSpPr>
        <p:spPr>
          <a:xfrm>
            <a:off x="255295" y="1188720"/>
            <a:ext cx="7174382" cy="535667"/>
          </a:xfrm>
          <a:custGeom>
            <a:avLst/>
            <a:gdLst/>
            <a:ahLst/>
            <a:cxnLst/>
            <a:rect l="l" t="t" r="r" b="b"/>
            <a:pathLst>
              <a:path w="5020450" h="535667">
                <a:moveTo>
                  <a:pt x="0" y="0"/>
                </a:moveTo>
                <a:lnTo>
                  <a:pt x="5020450" y="0"/>
                </a:lnTo>
                <a:lnTo>
                  <a:pt x="5020450" y="535667"/>
                </a:lnTo>
                <a:lnTo>
                  <a:pt x="0" y="535667"/>
                </a:lnTo>
                <a:lnTo>
                  <a:pt x="0" y="0"/>
                </a:lnTo>
                <a:close/>
              </a:path>
            </a:pathLst>
          </a:custGeom>
          <a:blipFill>
            <a:blip r:embed="rId9"/>
            <a:stretch>
              <a:fillRect l="-11250" r="-11250"/>
            </a:stretch>
          </a:blipFill>
        </p:spPr>
      </p:sp>
      <p:sp>
        <p:nvSpPr>
          <p:cNvPr id="12" name="Freeform 12"/>
          <p:cNvSpPr/>
          <p:nvPr/>
        </p:nvSpPr>
        <p:spPr>
          <a:xfrm>
            <a:off x="16178937" y="216170"/>
            <a:ext cx="2160727" cy="2160727"/>
          </a:xfrm>
          <a:custGeom>
            <a:avLst/>
            <a:gdLst/>
            <a:ahLst/>
            <a:cxnLst/>
            <a:rect l="l" t="t" r="r" b="b"/>
            <a:pathLst>
              <a:path w="2160727" h="2160727">
                <a:moveTo>
                  <a:pt x="0" y="0"/>
                </a:moveTo>
                <a:lnTo>
                  <a:pt x="2160726" y="0"/>
                </a:lnTo>
                <a:lnTo>
                  <a:pt x="2160726" y="2160727"/>
                </a:lnTo>
                <a:lnTo>
                  <a:pt x="0" y="2160727"/>
                </a:lnTo>
                <a:lnTo>
                  <a:pt x="0" y="0"/>
                </a:lnTo>
                <a:close/>
              </a:path>
            </a:pathLst>
          </a:custGeom>
          <a:blipFill>
            <a:blip r:embed="rId10"/>
            <a:stretch>
              <a:fillRect/>
            </a:stretch>
          </a:blipFill>
        </p:spPr>
      </p:sp>
      <p:sp>
        <p:nvSpPr>
          <p:cNvPr id="13" name="Freeform 13"/>
          <p:cNvSpPr/>
          <p:nvPr/>
        </p:nvSpPr>
        <p:spPr>
          <a:xfrm>
            <a:off x="13923818" y="2160727"/>
            <a:ext cx="4364182" cy="2153601"/>
          </a:xfrm>
          <a:custGeom>
            <a:avLst/>
            <a:gdLst/>
            <a:ahLst/>
            <a:cxnLst/>
            <a:rect l="l" t="t" r="r" b="b"/>
            <a:pathLst>
              <a:path w="4364182" h="2153601">
                <a:moveTo>
                  <a:pt x="0" y="0"/>
                </a:moveTo>
                <a:lnTo>
                  <a:pt x="4364182" y="0"/>
                </a:lnTo>
                <a:lnTo>
                  <a:pt x="4364182" y="2153601"/>
                </a:lnTo>
                <a:lnTo>
                  <a:pt x="0" y="2153601"/>
                </a:lnTo>
                <a:lnTo>
                  <a:pt x="0" y="0"/>
                </a:lnTo>
                <a:close/>
              </a:path>
            </a:pathLst>
          </a:custGeom>
          <a:blipFill>
            <a:blip r:embed="rId11">
              <a:alphaModFix amt="68000"/>
            </a:blip>
            <a:stretch>
              <a:fillRect/>
            </a:stretch>
          </a:blipFill>
        </p:spPr>
      </p:sp>
      <p:sp>
        <p:nvSpPr>
          <p:cNvPr id="14" name="Claim"/>
          <p:cNvSpPr txBox="1"/>
          <p:nvPr/>
        </p:nvSpPr>
        <p:spPr>
          <a:xfrm>
            <a:off x="777240" y="1828800"/>
            <a:ext cx="15179040" cy="914400"/>
          </a:xfrm>
          <a:prstGeom prst="rect">
            <a:avLst/>
          </a:prstGeom>
          <a:noFill/>
        </p:spPr>
        <p:txBody>
          <a:bodyPr wrap="square" lIns="0" rIns="0" tIns="0" bIns="0" anchor="ctr">
            <a:noAutofit/>
          </a:bodyPr>
          <a:lstStyle/>
          <a:p>
            <a:pPr algn="l">
              <a:lnSpc>
                <a:spcPct val="100000"/>
              </a:lnSpc>
              <a:spcAft>
                <a:spcPts val="0"/>
              </a:spcAft>
            </a:pPr>
            <a:r>
              <a:rPr sz="4250" b="1">
                <a:solidFill>
                  <a:srgbClr val="172243"/>
                </a:solidFill>
                <a:latin typeface="Heading Now 31-38 Bold"/>
              </a:rPr>
              <a:t>One state machine per milestone. </a:t>
            </a:r>
            <a:r>
              <a:rPr sz="2592" i="1">
                <a:solidFill>
                  <a:srgbClr val="4E4A76"/>
                </a:solidFill>
                <a:latin typeface="Georgia"/>
              </a:rPr>
              <a:t>Anything not on the map reverts with a named error.</a:t>
            </a:r>
          </a:p>
        </p:txBody>
      </p:sp>
      <p:sp>
        <p:nvSpPr>
          <p:cNvPr id="15" name="State PENDING"/>
          <p:cNvSpPr/>
          <p:nvPr/>
        </p:nvSpPr>
        <p:spPr>
          <a:xfrm>
            <a:off x="822960" y="3611880"/>
            <a:ext cx="2651760" cy="1280160"/>
          </a:xfrm>
          <a:prstGeom prst="roundRect">
            <a:avLst>
              <a:gd name="adj" fmla="val 14285"/>
            </a:avLst>
          </a:prstGeom>
          <a:solidFill>
            <a:srgbClr val="ECEAF3"/>
          </a:solidFill>
          <a:ln w="31750">
            <a:solidFill>
              <a:srgbClr val="6B6878"/>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2960" y="3721608"/>
            <a:ext cx="2651760" cy="594360"/>
          </a:xfrm>
          <a:prstGeom prst="rect">
            <a:avLst/>
          </a:prstGeom>
          <a:noFill/>
        </p:spPr>
        <p:txBody>
          <a:bodyPr wrap="square" lIns="0" rIns="0" tIns="0" bIns="0" anchor="t">
            <a:noAutofit/>
          </a:bodyPr>
          <a:lstStyle/>
          <a:p>
            <a:pPr algn="ctr">
              <a:lnSpc>
                <a:spcPct val="100000"/>
              </a:lnSpc>
              <a:spcAft>
                <a:spcPts val="0"/>
              </a:spcAft>
            </a:pPr>
            <a:r>
              <a:rPr sz="3300" b="1">
                <a:solidFill>
                  <a:srgbClr val="6B6878"/>
                </a:solidFill>
                <a:latin typeface="Heading Now 31-38 Bold"/>
              </a:rPr>
              <a:t>PENDING</a:t>
            </a:r>
          </a:p>
        </p:txBody>
      </p:sp>
      <p:sp>
        <p:nvSpPr>
          <p:cNvPr id="17" name="TextBox 16"/>
          <p:cNvSpPr txBox="1"/>
          <p:nvPr/>
        </p:nvSpPr>
        <p:spPr>
          <a:xfrm>
            <a:off x="914400" y="4361688"/>
            <a:ext cx="2468879" cy="457200"/>
          </a:xfrm>
          <a:prstGeom prst="rect">
            <a:avLst/>
          </a:prstGeom>
          <a:noFill/>
        </p:spPr>
        <p:txBody>
          <a:bodyPr wrap="square" lIns="0" rIns="0" tIns="0" bIns="0" anchor="t">
            <a:noAutofit/>
          </a:bodyPr>
          <a:lstStyle/>
          <a:p>
            <a:pPr algn="ctr">
              <a:lnSpc>
                <a:spcPct val="100000"/>
              </a:lnSpc>
              <a:spcAft>
                <a:spcPts val="0"/>
              </a:spcAft>
            </a:pPr>
            <a:r>
              <a:rPr sz="1810">
                <a:solidFill>
                  <a:srgbClr val="161F3E"/>
                </a:solidFill>
                <a:latin typeface="Calibri"/>
              </a:rPr>
              <a:t>work not yet submitted</a:t>
            </a:r>
          </a:p>
        </p:txBody>
      </p:sp>
      <p:sp>
        <p:nvSpPr>
          <p:cNvPr id="18" name="State COMPLETED"/>
          <p:cNvSpPr/>
          <p:nvPr/>
        </p:nvSpPr>
        <p:spPr>
          <a:xfrm>
            <a:off x="6583680" y="3611880"/>
            <a:ext cx="2651760" cy="1280160"/>
          </a:xfrm>
          <a:prstGeom prst="roundRect">
            <a:avLst>
              <a:gd name="adj" fmla="val 14285"/>
            </a:avLst>
          </a:prstGeom>
          <a:solidFill>
            <a:srgbClr val="FBEBCF"/>
          </a:solidFill>
          <a:ln w="31750">
            <a:solidFill>
              <a:srgbClr val="9A5B0A"/>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583680" y="3721608"/>
            <a:ext cx="2651760" cy="594360"/>
          </a:xfrm>
          <a:prstGeom prst="rect">
            <a:avLst/>
          </a:prstGeom>
          <a:noFill/>
        </p:spPr>
        <p:txBody>
          <a:bodyPr wrap="square" lIns="0" rIns="0" tIns="0" bIns="0" anchor="t">
            <a:noAutofit/>
          </a:bodyPr>
          <a:lstStyle/>
          <a:p>
            <a:pPr algn="ctr">
              <a:lnSpc>
                <a:spcPct val="100000"/>
              </a:lnSpc>
              <a:spcAft>
                <a:spcPts val="0"/>
              </a:spcAft>
            </a:pPr>
            <a:r>
              <a:rPr sz="3300" b="1">
                <a:solidFill>
                  <a:srgbClr val="9A5B0A"/>
                </a:solidFill>
                <a:latin typeface="Heading Now 31-38 Bold"/>
              </a:rPr>
              <a:t>COMPLETED</a:t>
            </a:r>
          </a:p>
        </p:txBody>
      </p:sp>
      <p:sp>
        <p:nvSpPr>
          <p:cNvPr id="20" name="TextBox 19"/>
          <p:cNvSpPr txBox="1"/>
          <p:nvPr/>
        </p:nvSpPr>
        <p:spPr>
          <a:xfrm>
            <a:off x="6675120" y="4361688"/>
            <a:ext cx="2468879" cy="457200"/>
          </a:xfrm>
          <a:prstGeom prst="rect">
            <a:avLst/>
          </a:prstGeom>
          <a:noFill/>
        </p:spPr>
        <p:txBody>
          <a:bodyPr wrap="square" lIns="0" rIns="0" tIns="0" bIns="0" anchor="t">
            <a:noAutofit/>
          </a:bodyPr>
          <a:lstStyle/>
          <a:p>
            <a:pPr algn="ctr">
              <a:lnSpc>
                <a:spcPct val="100000"/>
              </a:lnSpc>
              <a:spcAft>
                <a:spcPts val="0"/>
              </a:spcAft>
            </a:pPr>
            <a:r>
              <a:rPr sz="1810">
                <a:solidFill>
                  <a:srgbClr val="161F3E"/>
                </a:solidFill>
                <a:latin typeface="Calibri"/>
              </a:rPr>
              <a:t>awaiting the client</a:t>
            </a:r>
          </a:p>
        </p:txBody>
      </p:sp>
      <p:sp>
        <p:nvSpPr>
          <p:cNvPr id="21" name="State RELEASED"/>
          <p:cNvSpPr/>
          <p:nvPr/>
        </p:nvSpPr>
        <p:spPr>
          <a:xfrm>
            <a:off x="12344400" y="3611880"/>
            <a:ext cx="2651760" cy="1280160"/>
          </a:xfrm>
          <a:prstGeom prst="roundRect">
            <a:avLst>
              <a:gd name="adj" fmla="val 14285"/>
            </a:avLst>
          </a:prstGeom>
          <a:solidFill>
            <a:srgbClr val="DDF3EA"/>
          </a:solidFill>
          <a:ln w="31750">
            <a:solidFill>
              <a:srgbClr val="0B7A5B"/>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344400" y="3721608"/>
            <a:ext cx="2651760" cy="594360"/>
          </a:xfrm>
          <a:prstGeom prst="rect">
            <a:avLst/>
          </a:prstGeom>
          <a:noFill/>
        </p:spPr>
        <p:txBody>
          <a:bodyPr wrap="square" lIns="0" rIns="0" tIns="0" bIns="0" anchor="t">
            <a:noAutofit/>
          </a:bodyPr>
          <a:lstStyle/>
          <a:p>
            <a:pPr algn="ctr">
              <a:lnSpc>
                <a:spcPct val="100000"/>
              </a:lnSpc>
              <a:spcAft>
                <a:spcPts val="0"/>
              </a:spcAft>
            </a:pPr>
            <a:r>
              <a:rPr sz="3300" b="1">
                <a:solidFill>
                  <a:srgbClr val="0B7A5B"/>
                </a:solidFill>
                <a:latin typeface="Heading Now 31-38 Bold"/>
              </a:rPr>
              <a:t>RELEASED</a:t>
            </a:r>
          </a:p>
        </p:txBody>
      </p:sp>
      <p:sp>
        <p:nvSpPr>
          <p:cNvPr id="23" name="TextBox 22"/>
          <p:cNvSpPr txBox="1"/>
          <p:nvPr/>
        </p:nvSpPr>
        <p:spPr>
          <a:xfrm>
            <a:off x="12435840" y="4361688"/>
            <a:ext cx="2468879" cy="457200"/>
          </a:xfrm>
          <a:prstGeom prst="rect">
            <a:avLst/>
          </a:prstGeom>
          <a:noFill/>
        </p:spPr>
        <p:txBody>
          <a:bodyPr wrap="square" lIns="0" rIns="0" tIns="0" bIns="0" anchor="t">
            <a:noAutofit/>
          </a:bodyPr>
          <a:lstStyle/>
          <a:p>
            <a:pPr algn="ctr">
              <a:lnSpc>
                <a:spcPct val="100000"/>
              </a:lnSpc>
              <a:spcAft>
                <a:spcPts val="0"/>
              </a:spcAft>
            </a:pPr>
            <a:r>
              <a:rPr sz="1810">
                <a:solidFill>
                  <a:srgbClr val="161F3E"/>
                </a:solidFill>
                <a:latin typeface="Calibri"/>
              </a:rPr>
              <a:t>final: pays the provider</a:t>
            </a:r>
          </a:p>
        </p:txBody>
      </p:sp>
      <p:sp>
        <p:nvSpPr>
          <p:cNvPr id="24" name="State DISPUTED"/>
          <p:cNvSpPr/>
          <p:nvPr/>
        </p:nvSpPr>
        <p:spPr>
          <a:xfrm>
            <a:off x="6583680" y="6766560"/>
            <a:ext cx="2651760" cy="1280160"/>
          </a:xfrm>
          <a:prstGeom prst="roundRect">
            <a:avLst>
              <a:gd name="adj" fmla="val 14285"/>
            </a:avLst>
          </a:prstGeom>
          <a:solidFill>
            <a:srgbClr val="FBE1DE"/>
          </a:solidFill>
          <a:ln w="31750">
            <a:solidFill>
              <a:srgbClr val="C0342B"/>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583680" y="6876288"/>
            <a:ext cx="2651760" cy="594360"/>
          </a:xfrm>
          <a:prstGeom prst="rect">
            <a:avLst/>
          </a:prstGeom>
          <a:noFill/>
        </p:spPr>
        <p:txBody>
          <a:bodyPr wrap="square" lIns="0" rIns="0" tIns="0" bIns="0" anchor="t">
            <a:noAutofit/>
          </a:bodyPr>
          <a:lstStyle/>
          <a:p>
            <a:pPr algn="ctr">
              <a:lnSpc>
                <a:spcPct val="100000"/>
              </a:lnSpc>
              <a:spcAft>
                <a:spcPts val="0"/>
              </a:spcAft>
            </a:pPr>
            <a:r>
              <a:rPr sz="3300" b="1">
                <a:solidFill>
                  <a:srgbClr val="C0342B"/>
                </a:solidFill>
                <a:latin typeface="Heading Now 31-38 Bold"/>
              </a:rPr>
              <a:t>DISPUTED</a:t>
            </a:r>
          </a:p>
        </p:txBody>
      </p:sp>
      <p:sp>
        <p:nvSpPr>
          <p:cNvPr id="26" name="TextBox 25"/>
          <p:cNvSpPr txBox="1"/>
          <p:nvPr/>
        </p:nvSpPr>
        <p:spPr>
          <a:xfrm>
            <a:off x="6675120" y="7516368"/>
            <a:ext cx="2468879" cy="457200"/>
          </a:xfrm>
          <a:prstGeom prst="rect">
            <a:avLst/>
          </a:prstGeom>
          <a:noFill/>
        </p:spPr>
        <p:txBody>
          <a:bodyPr wrap="square" lIns="0" rIns="0" tIns="0" bIns="0" anchor="t">
            <a:noAutofit/>
          </a:bodyPr>
          <a:lstStyle/>
          <a:p>
            <a:pPr algn="ctr">
              <a:lnSpc>
                <a:spcPct val="100000"/>
              </a:lnSpc>
              <a:spcAft>
                <a:spcPts val="0"/>
              </a:spcAft>
            </a:pPr>
            <a:r>
              <a:rPr sz="1810">
                <a:solidFill>
                  <a:srgbClr val="161F3E"/>
                </a:solidFill>
                <a:latin typeface="Calibri"/>
              </a:rPr>
              <a:t>the arbiter decides</a:t>
            </a:r>
          </a:p>
        </p:txBody>
      </p:sp>
      <p:sp>
        <p:nvSpPr>
          <p:cNvPr id="27" name="State REFUNDED"/>
          <p:cNvSpPr/>
          <p:nvPr/>
        </p:nvSpPr>
        <p:spPr>
          <a:xfrm>
            <a:off x="12344400" y="6766560"/>
            <a:ext cx="2651760" cy="1280160"/>
          </a:xfrm>
          <a:prstGeom prst="roundRect">
            <a:avLst>
              <a:gd name="adj" fmla="val 14285"/>
            </a:avLst>
          </a:prstGeom>
          <a:solidFill>
            <a:srgbClr val="E0E8FB"/>
          </a:solidFill>
          <a:ln w="31750">
            <a:solidFill>
              <a:srgbClr val="2F56C9"/>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2344400" y="6876288"/>
            <a:ext cx="2651760" cy="594360"/>
          </a:xfrm>
          <a:prstGeom prst="rect">
            <a:avLst/>
          </a:prstGeom>
          <a:noFill/>
        </p:spPr>
        <p:txBody>
          <a:bodyPr wrap="square" lIns="0" rIns="0" tIns="0" bIns="0" anchor="t">
            <a:noAutofit/>
          </a:bodyPr>
          <a:lstStyle/>
          <a:p>
            <a:pPr algn="ctr">
              <a:lnSpc>
                <a:spcPct val="100000"/>
              </a:lnSpc>
              <a:spcAft>
                <a:spcPts val="0"/>
              </a:spcAft>
            </a:pPr>
            <a:r>
              <a:rPr sz="3300" b="1">
                <a:solidFill>
                  <a:srgbClr val="2F56C9"/>
                </a:solidFill>
                <a:latin typeface="Heading Now 31-38 Bold"/>
              </a:rPr>
              <a:t>REFUNDED</a:t>
            </a:r>
          </a:p>
        </p:txBody>
      </p:sp>
      <p:sp>
        <p:nvSpPr>
          <p:cNvPr id="29" name="TextBox 28"/>
          <p:cNvSpPr txBox="1"/>
          <p:nvPr/>
        </p:nvSpPr>
        <p:spPr>
          <a:xfrm>
            <a:off x="12435840" y="7516368"/>
            <a:ext cx="2468879" cy="457200"/>
          </a:xfrm>
          <a:prstGeom prst="rect">
            <a:avLst/>
          </a:prstGeom>
          <a:noFill/>
        </p:spPr>
        <p:txBody>
          <a:bodyPr wrap="square" lIns="0" rIns="0" tIns="0" bIns="0" anchor="t">
            <a:noAutofit/>
          </a:bodyPr>
          <a:lstStyle/>
          <a:p>
            <a:pPr algn="ctr">
              <a:lnSpc>
                <a:spcPct val="100000"/>
              </a:lnSpc>
              <a:spcAft>
                <a:spcPts val="0"/>
              </a:spcAft>
            </a:pPr>
            <a:r>
              <a:rPr sz="1810">
                <a:solidFill>
                  <a:srgbClr val="161F3E"/>
                </a:solidFill>
                <a:latin typeface="Calibri"/>
              </a:rPr>
              <a:t>final: credits the client</a:t>
            </a:r>
          </a:p>
        </p:txBody>
      </p:sp>
      <p:cxnSp>
        <p:nvCxnSpPr>
          <p:cNvPr id="30" name="Connector 29"/>
          <p:cNvCxnSpPr/>
          <p:nvPr/>
        </p:nvCxnSpPr>
        <p:spPr>
          <a:xfrm>
            <a:off x="3502151" y="4251960"/>
            <a:ext cx="3054097" cy="0"/>
          </a:xfrm>
          <a:prstGeom prst="line">
            <a:avLst/>
          </a:prstGeom>
          <a:ln w="50800">
            <a:solidFill>
              <a:srgbClr val="172243"/>
            </a:solidFill>
            <a:tailEnd type="triangle" w="lg" len="lg"/>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3566160" y="2743200"/>
            <a:ext cx="2926080" cy="822960"/>
          </a:xfrm>
          <a:prstGeom prst="roundRect">
            <a:avLst>
              <a:gd name="adj" fmla="val 13333"/>
            </a:avLst>
          </a:prstGeom>
          <a:solidFill>
            <a:srgbClr val="FFFFFF"/>
          </a:solidFill>
          <a:ln w="19050">
            <a:solidFill>
              <a:srgbClr val="E6DCE4"/>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657600" y="2816352"/>
            <a:ext cx="2743200" cy="384048"/>
          </a:xfrm>
          <a:prstGeom prst="rect">
            <a:avLst/>
          </a:prstGeom>
          <a:noFill/>
        </p:spPr>
        <p:txBody>
          <a:bodyPr wrap="square" lIns="0" rIns="0" tIns="0" bIns="0" anchor="t">
            <a:noAutofit/>
          </a:bodyPr>
          <a:lstStyle/>
          <a:p>
            <a:pPr algn="ctr">
              <a:lnSpc>
                <a:spcPct val="100000"/>
              </a:lnSpc>
              <a:spcAft>
                <a:spcPts val="0"/>
              </a:spcAft>
            </a:pPr>
            <a:r>
              <a:rPr sz="1700" b="1">
                <a:solidFill>
                  <a:srgbClr val="172243"/>
                </a:solidFill>
                <a:latin typeface="Consolas"/>
              </a:rPr>
              <a:t>markComplete(i, hash)</a:t>
            </a:r>
          </a:p>
        </p:txBody>
      </p:sp>
      <p:sp>
        <p:nvSpPr>
          <p:cNvPr id="33" name="TextBox 32"/>
          <p:cNvSpPr txBox="1"/>
          <p:nvPr/>
        </p:nvSpPr>
        <p:spPr>
          <a:xfrm>
            <a:off x="3657600" y="3200400"/>
            <a:ext cx="2743200" cy="365760"/>
          </a:xfrm>
          <a:prstGeom prst="rect">
            <a:avLst/>
          </a:prstGeom>
          <a:noFill/>
        </p:spPr>
        <p:txBody>
          <a:bodyPr wrap="square" lIns="0" rIns="0" tIns="0" bIns="0" anchor="t">
            <a:noAutofit/>
          </a:bodyPr>
          <a:lstStyle/>
          <a:p>
            <a:pPr algn="ctr">
              <a:lnSpc>
                <a:spcPct val="100000"/>
              </a:lnSpc>
              <a:spcAft>
                <a:spcPts val="0"/>
              </a:spcAft>
            </a:pPr>
            <a:r>
              <a:rPr sz="1710">
                <a:solidFill>
                  <a:srgbClr val="4E4A76"/>
                </a:solidFill>
                <a:latin typeface="Calibri"/>
              </a:rPr>
              <a:t>Provider</a:t>
            </a:r>
          </a:p>
        </p:txBody>
      </p:sp>
      <p:cxnSp>
        <p:nvCxnSpPr>
          <p:cNvPr id="34" name="Connector 33"/>
          <p:cNvCxnSpPr/>
          <p:nvPr/>
        </p:nvCxnSpPr>
        <p:spPr>
          <a:xfrm>
            <a:off x="9262872" y="4251960"/>
            <a:ext cx="3054096" cy="0"/>
          </a:xfrm>
          <a:prstGeom prst="line">
            <a:avLst/>
          </a:prstGeom>
          <a:ln w="50800">
            <a:solidFill>
              <a:srgbClr val="0B7A5B"/>
            </a:solidFill>
            <a:tailEnd type="triangle" w="lg" len="lg"/>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326880" y="2743200"/>
            <a:ext cx="2926080" cy="822960"/>
          </a:xfrm>
          <a:prstGeom prst="roundRect">
            <a:avLst>
              <a:gd name="adj" fmla="val 13333"/>
            </a:avLst>
          </a:prstGeom>
          <a:solidFill>
            <a:srgbClr val="FFFFFF"/>
          </a:solidFill>
          <a:ln w="19050">
            <a:solidFill>
              <a:srgbClr val="E6DCE4"/>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418320" y="2816352"/>
            <a:ext cx="2743200" cy="384048"/>
          </a:xfrm>
          <a:prstGeom prst="rect">
            <a:avLst/>
          </a:prstGeom>
          <a:noFill/>
        </p:spPr>
        <p:txBody>
          <a:bodyPr wrap="square" lIns="0" rIns="0" tIns="0" bIns="0" anchor="t">
            <a:noAutofit/>
          </a:bodyPr>
          <a:lstStyle/>
          <a:p>
            <a:pPr algn="ctr">
              <a:lnSpc>
                <a:spcPct val="100000"/>
              </a:lnSpc>
              <a:spcAft>
                <a:spcPts val="0"/>
              </a:spcAft>
            </a:pPr>
            <a:r>
              <a:rPr sz="1700" b="1">
                <a:solidFill>
                  <a:srgbClr val="172243"/>
                </a:solidFill>
                <a:latin typeface="Consolas"/>
              </a:rPr>
              <a:t>approve(i, hash)</a:t>
            </a:r>
          </a:p>
        </p:txBody>
      </p:sp>
      <p:sp>
        <p:nvSpPr>
          <p:cNvPr id="37" name="TextBox 36"/>
          <p:cNvSpPr txBox="1"/>
          <p:nvPr/>
        </p:nvSpPr>
        <p:spPr>
          <a:xfrm>
            <a:off x="9418320" y="3200400"/>
            <a:ext cx="2743200" cy="365760"/>
          </a:xfrm>
          <a:prstGeom prst="rect">
            <a:avLst/>
          </a:prstGeom>
          <a:noFill/>
        </p:spPr>
        <p:txBody>
          <a:bodyPr wrap="square" lIns="0" rIns="0" tIns="0" bIns="0" anchor="t">
            <a:noAutofit/>
          </a:bodyPr>
          <a:lstStyle/>
          <a:p>
            <a:pPr algn="ctr">
              <a:lnSpc>
                <a:spcPct val="100000"/>
              </a:lnSpc>
              <a:spcAft>
                <a:spcPts val="0"/>
              </a:spcAft>
            </a:pPr>
            <a:r>
              <a:rPr sz="1710">
                <a:solidFill>
                  <a:srgbClr val="4E4A76"/>
                </a:solidFill>
                <a:latin typeface="Calibri"/>
              </a:rPr>
              <a:t>Client, the hash must match</a:t>
            </a:r>
          </a:p>
        </p:txBody>
      </p:sp>
      <p:cxnSp>
        <p:nvCxnSpPr>
          <p:cNvPr id="38" name="Connector 37"/>
          <p:cNvCxnSpPr/>
          <p:nvPr/>
        </p:nvCxnSpPr>
        <p:spPr>
          <a:xfrm>
            <a:off x="7909560" y="4919472"/>
            <a:ext cx="0" cy="1819656"/>
          </a:xfrm>
          <a:prstGeom prst="line">
            <a:avLst/>
          </a:prstGeom>
          <a:ln w="50800">
            <a:solidFill>
              <a:srgbClr val="C0342B"/>
            </a:solidFill>
            <a:tailEnd type="triangle" w="lg" len="lg"/>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3794760" y="5417820"/>
            <a:ext cx="3749039" cy="868680"/>
          </a:xfrm>
          <a:prstGeom prst="roundRect">
            <a:avLst>
              <a:gd name="adj" fmla="val 12631"/>
            </a:avLst>
          </a:prstGeom>
          <a:solidFill>
            <a:srgbClr val="FFFFFF"/>
          </a:solidFill>
          <a:ln w="19050">
            <a:solidFill>
              <a:srgbClr val="E6DCE4"/>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3886200" y="5490972"/>
            <a:ext cx="3566159" cy="384048"/>
          </a:xfrm>
          <a:prstGeom prst="rect">
            <a:avLst/>
          </a:prstGeom>
          <a:noFill/>
        </p:spPr>
        <p:txBody>
          <a:bodyPr wrap="square" lIns="0" rIns="0" tIns="0" bIns="0" anchor="t">
            <a:noAutofit/>
          </a:bodyPr>
          <a:lstStyle/>
          <a:p>
            <a:pPr algn="ctr">
              <a:lnSpc>
                <a:spcPct val="100000"/>
              </a:lnSpc>
              <a:spcAft>
                <a:spcPts val="0"/>
              </a:spcAft>
            </a:pPr>
            <a:r>
              <a:rPr sz="1700" b="1">
                <a:solidFill>
                  <a:srgbClr val="172243"/>
                </a:solidFill>
                <a:latin typeface="Consolas"/>
              </a:rPr>
              <a:t>dispute(i)  |  escalate(i)</a:t>
            </a:r>
          </a:p>
        </p:txBody>
      </p:sp>
      <p:sp>
        <p:nvSpPr>
          <p:cNvPr id="41" name="TextBox 40"/>
          <p:cNvSpPr txBox="1"/>
          <p:nvPr/>
        </p:nvSpPr>
        <p:spPr>
          <a:xfrm>
            <a:off x="3886200" y="5875020"/>
            <a:ext cx="3566159" cy="365760"/>
          </a:xfrm>
          <a:prstGeom prst="rect">
            <a:avLst/>
          </a:prstGeom>
          <a:noFill/>
        </p:spPr>
        <p:txBody>
          <a:bodyPr wrap="square" lIns="0" rIns="0" tIns="0" bIns="0" anchor="t">
            <a:noAutofit/>
          </a:bodyPr>
          <a:lstStyle/>
          <a:p>
            <a:pPr algn="ctr">
              <a:lnSpc>
                <a:spcPct val="100000"/>
              </a:lnSpc>
              <a:spcAft>
                <a:spcPts val="0"/>
              </a:spcAft>
            </a:pPr>
            <a:r>
              <a:rPr sz="1710">
                <a:solidFill>
                  <a:srgbClr val="4E4A76"/>
                </a:solidFill>
                <a:latin typeface="Calibri"/>
              </a:rPr>
              <a:t>Client, or Provider after the window</a:t>
            </a:r>
          </a:p>
        </p:txBody>
      </p:sp>
      <p:cxnSp>
        <p:nvCxnSpPr>
          <p:cNvPr id="42" name="Connector 41"/>
          <p:cNvCxnSpPr/>
          <p:nvPr/>
        </p:nvCxnSpPr>
        <p:spPr>
          <a:xfrm flipV="1">
            <a:off x="9262872" y="4919472"/>
            <a:ext cx="4178808" cy="2075688"/>
          </a:xfrm>
          <a:prstGeom prst="line">
            <a:avLst/>
          </a:prstGeom>
          <a:ln w="50800">
            <a:solidFill>
              <a:srgbClr val="0B7A5B"/>
            </a:solidFill>
            <a:tailEnd type="triangle" w="lg" len="lg"/>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875520" y="5577840"/>
            <a:ext cx="2743200" cy="822960"/>
          </a:xfrm>
          <a:prstGeom prst="roundRect">
            <a:avLst>
              <a:gd name="adj" fmla="val 13333"/>
            </a:avLst>
          </a:prstGeom>
          <a:solidFill>
            <a:srgbClr val="FFFFFF"/>
          </a:solidFill>
          <a:ln w="19050">
            <a:solidFill>
              <a:srgbClr val="E6DCE4"/>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966960" y="5650992"/>
            <a:ext cx="2560320" cy="384048"/>
          </a:xfrm>
          <a:prstGeom prst="rect">
            <a:avLst/>
          </a:prstGeom>
          <a:noFill/>
        </p:spPr>
        <p:txBody>
          <a:bodyPr wrap="square" lIns="0" rIns="0" tIns="0" bIns="0" anchor="t">
            <a:noAutofit/>
          </a:bodyPr>
          <a:lstStyle/>
          <a:p>
            <a:pPr algn="ctr">
              <a:lnSpc>
                <a:spcPct val="100000"/>
              </a:lnSpc>
              <a:spcAft>
                <a:spcPts val="0"/>
              </a:spcAft>
            </a:pPr>
            <a:r>
              <a:rPr sz="1700" b="1">
                <a:solidFill>
                  <a:srgbClr val="172243"/>
                </a:solidFill>
                <a:latin typeface="Consolas"/>
              </a:rPr>
              <a:t>resolve(Release)</a:t>
            </a:r>
          </a:p>
        </p:txBody>
      </p:sp>
      <p:sp>
        <p:nvSpPr>
          <p:cNvPr id="45" name="TextBox 44"/>
          <p:cNvSpPr txBox="1"/>
          <p:nvPr/>
        </p:nvSpPr>
        <p:spPr>
          <a:xfrm>
            <a:off x="9966960" y="6035040"/>
            <a:ext cx="2560320" cy="365760"/>
          </a:xfrm>
          <a:prstGeom prst="rect">
            <a:avLst/>
          </a:prstGeom>
          <a:noFill/>
        </p:spPr>
        <p:txBody>
          <a:bodyPr wrap="square" lIns="0" rIns="0" tIns="0" bIns="0" anchor="t">
            <a:noAutofit/>
          </a:bodyPr>
          <a:lstStyle/>
          <a:p>
            <a:pPr algn="ctr">
              <a:lnSpc>
                <a:spcPct val="100000"/>
              </a:lnSpc>
              <a:spcAft>
                <a:spcPts val="0"/>
              </a:spcAft>
            </a:pPr>
            <a:r>
              <a:rPr sz="1710">
                <a:solidFill>
                  <a:srgbClr val="4E4A76"/>
                </a:solidFill>
                <a:latin typeface="Calibri"/>
              </a:rPr>
              <a:t>Arbiter</a:t>
            </a:r>
          </a:p>
        </p:txBody>
      </p:sp>
      <p:cxnSp>
        <p:nvCxnSpPr>
          <p:cNvPr id="46" name="Connector 45"/>
          <p:cNvCxnSpPr/>
          <p:nvPr/>
        </p:nvCxnSpPr>
        <p:spPr>
          <a:xfrm>
            <a:off x="9262872" y="7589519"/>
            <a:ext cx="3054096" cy="0"/>
          </a:xfrm>
          <a:prstGeom prst="line">
            <a:avLst/>
          </a:prstGeom>
          <a:ln w="50800">
            <a:solidFill>
              <a:srgbClr val="2F56C9"/>
            </a:solidFill>
            <a:tailEnd type="triangle" w="lg" len="lg"/>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9418320" y="7818120"/>
            <a:ext cx="2743200" cy="822960"/>
          </a:xfrm>
          <a:prstGeom prst="roundRect">
            <a:avLst>
              <a:gd name="adj" fmla="val 13333"/>
            </a:avLst>
          </a:prstGeom>
          <a:solidFill>
            <a:srgbClr val="FFFFFF"/>
          </a:solidFill>
          <a:ln w="19050">
            <a:solidFill>
              <a:srgbClr val="E6DCE4"/>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509760" y="7891272"/>
            <a:ext cx="2560320" cy="384048"/>
          </a:xfrm>
          <a:prstGeom prst="rect">
            <a:avLst/>
          </a:prstGeom>
          <a:noFill/>
        </p:spPr>
        <p:txBody>
          <a:bodyPr wrap="square" lIns="0" rIns="0" tIns="0" bIns="0" anchor="t">
            <a:noAutofit/>
          </a:bodyPr>
          <a:lstStyle/>
          <a:p>
            <a:pPr algn="ctr">
              <a:lnSpc>
                <a:spcPct val="100000"/>
              </a:lnSpc>
              <a:spcAft>
                <a:spcPts val="0"/>
              </a:spcAft>
            </a:pPr>
            <a:r>
              <a:rPr sz="1700" b="1">
                <a:solidFill>
                  <a:srgbClr val="172243"/>
                </a:solidFill>
                <a:latin typeface="Consolas"/>
              </a:rPr>
              <a:t>resolve(Refund)</a:t>
            </a:r>
          </a:p>
        </p:txBody>
      </p:sp>
      <p:sp>
        <p:nvSpPr>
          <p:cNvPr id="49" name="TextBox 48"/>
          <p:cNvSpPr txBox="1"/>
          <p:nvPr/>
        </p:nvSpPr>
        <p:spPr>
          <a:xfrm>
            <a:off x="9509760" y="8275320"/>
            <a:ext cx="2560320" cy="365760"/>
          </a:xfrm>
          <a:prstGeom prst="rect">
            <a:avLst/>
          </a:prstGeom>
          <a:noFill/>
        </p:spPr>
        <p:txBody>
          <a:bodyPr wrap="square" lIns="0" rIns="0" tIns="0" bIns="0" anchor="t">
            <a:noAutofit/>
          </a:bodyPr>
          <a:lstStyle/>
          <a:p>
            <a:pPr algn="ctr">
              <a:lnSpc>
                <a:spcPct val="100000"/>
              </a:lnSpc>
              <a:spcAft>
                <a:spcPts val="0"/>
              </a:spcAft>
            </a:pPr>
            <a:r>
              <a:rPr sz="1710">
                <a:solidFill>
                  <a:srgbClr val="4E4A76"/>
                </a:solidFill>
                <a:latin typeface="Calibri"/>
              </a:rPr>
              <a:t>Arbiter</a:t>
            </a:r>
          </a:p>
        </p:txBody>
      </p:sp>
      <p:sp>
        <p:nvSpPr>
          <p:cNvPr id="50" name="TextBox 49"/>
          <p:cNvSpPr txBox="1"/>
          <p:nvPr/>
        </p:nvSpPr>
        <p:spPr>
          <a:xfrm>
            <a:off x="822960" y="6720840"/>
            <a:ext cx="5120640" cy="1645920"/>
          </a:xfrm>
          <a:prstGeom prst="rect">
            <a:avLst/>
          </a:prstGeom>
          <a:noFill/>
        </p:spPr>
        <p:txBody>
          <a:bodyPr wrap="square" lIns="0" rIns="0" tIns="0" bIns="0" anchor="t">
            <a:noAutofit/>
          </a:bodyPr>
          <a:lstStyle/>
          <a:p>
            <a:pPr algn="l">
              <a:lnSpc>
                <a:spcPct val="100000"/>
              </a:lnSpc>
              <a:spcAft>
                <a:spcPts val="400"/>
              </a:spcAft>
            </a:pPr>
            <a:r>
              <a:rPr sz="2360" b="1">
                <a:solidFill>
                  <a:srgbClr val="172243"/>
                </a:solidFill>
                <a:latin typeface="Heading Now 31-38 Bold"/>
              </a:rPr>
              <a:t>Check order in every function</a:t>
            </a:r>
          </a:p>
          <a:p>
            <a:pPr algn="l">
              <a:lnSpc>
                <a:spcPct val="100000"/>
              </a:lnSpc>
              <a:spcAft>
                <a:spcPts val="400"/>
              </a:spcAft>
            </a:pPr>
            <a:r>
              <a:rPr sz="1900">
                <a:solidFill>
                  <a:srgbClr val="4E4A76"/>
                </a:solidFill>
                <a:latin typeface="Calibri"/>
              </a:rPr>
              <a:t>role, agreement state, index, then milestone state. The first rule that fails names the error.</a:t>
            </a:r>
          </a:p>
        </p:txBody>
      </p:sp>
      <p:sp>
        <p:nvSpPr>
          <p:cNvPr id="51" name="Rounded Rectangle 50"/>
          <p:cNvSpPr/>
          <p:nvPr/>
        </p:nvSpPr>
        <p:spPr>
          <a:xfrm>
            <a:off x="822960" y="8686800"/>
            <a:ext cx="15179040" cy="1188720"/>
          </a:xfrm>
          <a:prstGeom prst="roundRect">
            <a:avLst>
              <a:gd name="adj" fmla="val 15384"/>
            </a:avLst>
          </a:prstGeom>
          <a:solidFill>
            <a:srgbClr val="172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188720" y="8686800"/>
            <a:ext cx="14447520" cy="1188720"/>
          </a:xfrm>
          <a:prstGeom prst="rect">
            <a:avLst/>
          </a:prstGeom>
          <a:noFill/>
        </p:spPr>
        <p:txBody>
          <a:bodyPr wrap="square" lIns="0" rIns="0" tIns="0" bIns="0" anchor="ctr">
            <a:noAutofit/>
          </a:bodyPr>
          <a:lstStyle/>
          <a:p>
            <a:pPr algn="l">
              <a:lnSpc>
                <a:spcPct val="100000"/>
              </a:lnSpc>
              <a:spcAft>
                <a:spcPts val="0"/>
              </a:spcAft>
            </a:pPr>
            <a:r>
              <a:rPr sz="3000" b="1" i="1">
                <a:solidFill>
                  <a:srgbClr val="FAD3AE"/>
                </a:solidFill>
                <a:latin typeface="Georgia"/>
              </a:rPr>
              <a:t>Final states never change. </a:t>
            </a:r>
          </a:p>
          <a:p>
            <a:pPr algn="l">
              <a:lnSpc>
                <a:spcPct val="100000"/>
              </a:lnSpc>
              <a:spcAft>
                <a:spcPts val="0"/>
              </a:spcAft>
            </a:pPr>
            <a:r>
              <a:rPr sz="2280">
                <a:solidFill>
                  <a:srgbClr val="FFFFFF"/>
                </a:solidFill>
                <a:latin typeface="Calibri"/>
              </a:rPr>
              <a:t>A second release, an unauthorized refund or a skipped step reverts with a named error.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479517"/>
            <a:chOff x="0" y="0"/>
            <a:chExt cx="24384000" cy="13972689"/>
          </a:xfrm>
        </p:grpSpPr>
        <p:sp>
          <p:nvSpPr>
            <p:cNvPr id="4" name="Freeform 4"/>
            <p:cNvSpPr/>
            <p:nvPr/>
          </p:nvSpPr>
          <p:spPr>
            <a:xfrm>
              <a:off x="0" y="0"/>
              <a:ext cx="2333397" cy="13147537"/>
            </a:xfrm>
            <a:custGeom>
              <a:avLst/>
              <a:gdLst/>
              <a:ahLst/>
              <a:cxnLst/>
              <a:rect l="l" t="t" r="r" b="b"/>
              <a:pathLst>
                <a:path w="2333397" h="13147537">
                  <a:moveTo>
                    <a:pt x="0" y="0"/>
                  </a:moveTo>
                  <a:lnTo>
                    <a:pt x="2333397" y="0"/>
                  </a:lnTo>
                  <a:lnTo>
                    <a:pt x="2333397" y="13147537"/>
                  </a:lnTo>
                  <a:lnTo>
                    <a:pt x="0" y="13147537"/>
                  </a:lnTo>
                  <a:lnTo>
                    <a:pt x="0" y="0"/>
                  </a:lnTo>
                  <a:close/>
                </a:path>
              </a:pathLst>
            </a:custGeom>
            <a:blipFill>
              <a:blip r:embed="rId3"/>
              <a:stretch>
                <a:fillRect/>
              </a:stretch>
            </a:blipFill>
          </p:spPr>
        </p:sp>
        <p:sp>
          <p:nvSpPr>
            <p:cNvPr id="5" name="Freeform 5"/>
            <p:cNvSpPr/>
            <p:nvPr/>
          </p:nvSpPr>
          <p:spPr>
            <a:xfrm>
              <a:off x="19148440" y="8847622"/>
              <a:ext cx="2333397" cy="2303005"/>
            </a:xfrm>
            <a:custGeom>
              <a:avLst/>
              <a:gdLst/>
              <a:ahLst/>
              <a:cxnLst/>
              <a:rect l="l" t="t" r="r" b="b"/>
              <a:pathLst>
                <a:path w="2333397" h="2303005">
                  <a:moveTo>
                    <a:pt x="0" y="0"/>
                  </a:moveTo>
                  <a:lnTo>
                    <a:pt x="2333397" y="0"/>
                  </a:lnTo>
                  <a:lnTo>
                    <a:pt x="2333397" y="2303005"/>
                  </a:lnTo>
                  <a:lnTo>
                    <a:pt x="0" y="2303005"/>
                  </a:lnTo>
                  <a:lnTo>
                    <a:pt x="0" y="0"/>
                  </a:lnTo>
                  <a:close/>
                </a:path>
              </a:pathLst>
            </a:custGeom>
            <a:blipFill>
              <a:blip r:embed="rId4"/>
              <a:stretch>
                <a:fillRect/>
              </a:stretch>
            </a:blipFill>
          </p:spPr>
        </p:sp>
        <p:sp>
          <p:nvSpPr>
            <p:cNvPr id="6" name="Freeform 6"/>
            <p:cNvSpPr/>
            <p:nvPr/>
          </p:nvSpPr>
          <p:spPr>
            <a:xfrm>
              <a:off x="17412976" y="9395831"/>
              <a:ext cx="6971024" cy="4342033"/>
            </a:xfrm>
            <a:custGeom>
              <a:avLst/>
              <a:gdLst/>
              <a:ahLst/>
              <a:cxnLst/>
              <a:rect l="l" t="t" r="r" b="b"/>
              <a:pathLst>
                <a:path w="6971024" h="4342033">
                  <a:moveTo>
                    <a:pt x="0" y="0"/>
                  </a:moveTo>
                  <a:lnTo>
                    <a:pt x="6971024" y="0"/>
                  </a:lnTo>
                  <a:lnTo>
                    <a:pt x="6971024" y="4342033"/>
                  </a:lnTo>
                  <a:lnTo>
                    <a:pt x="0" y="4342033"/>
                  </a:lnTo>
                  <a:lnTo>
                    <a:pt x="0" y="0"/>
                  </a:lnTo>
                  <a:close/>
                </a:path>
              </a:pathLst>
            </a:custGeom>
            <a:blipFill>
              <a:blip r:embed="rId5"/>
              <a:stretch>
                <a:fillRect t="-5743"/>
              </a:stretch>
            </a:blipFill>
          </p:spPr>
        </p:sp>
        <p:sp>
          <p:nvSpPr>
            <p:cNvPr id="7" name="Freeform 7"/>
            <p:cNvSpPr/>
            <p:nvPr/>
          </p:nvSpPr>
          <p:spPr>
            <a:xfrm>
              <a:off x="0" y="9395831"/>
              <a:ext cx="1750048" cy="4576859"/>
            </a:xfrm>
            <a:custGeom>
              <a:avLst/>
              <a:gdLst/>
              <a:ahLst/>
              <a:cxnLst/>
              <a:rect l="l" t="t" r="r" b="b"/>
              <a:pathLst>
                <a:path w="1750048" h="4576859">
                  <a:moveTo>
                    <a:pt x="0" y="0"/>
                  </a:moveTo>
                  <a:lnTo>
                    <a:pt x="1750048" y="0"/>
                  </a:lnTo>
                  <a:lnTo>
                    <a:pt x="1750048" y="4576858"/>
                  </a:lnTo>
                  <a:lnTo>
                    <a:pt x="0" y="4576858"/>
                  </a:lnTo>
                  <a:lnTo>
                    <a:pt x="0" y="0"/>
                  </a:lnTo>
                  <a:close/>
                </a:path>
              </a:pathLst>
            </a:custGeom>
            <a:blipFill>
              <a:blip r:embed="rId6"/>
              <a:stretch>
                <a:fillRect/>
              </a:stretch>
            </a:blipFill>
          </p:spPr>
        </p:sp>
        <p:sp>
          <p:nvSpPr>
            <p:cNvPr id="8" name="Freeform 8"/>
            <p:cNvSpPr/>
            <p:nvPr/>
          </p:nvSpPr>
          <p:spPr>
            <a:xfrm>
              <a:off x="22633952" y="7273416"/>
              <a:ext cx="1750048" cy="5451418"/>
            </a:xfrm>
            <a:custGeom>
              <a:avLst/>
              <a:gdLst/>
              <a:ahLst/>
              <a:cxnLst/>
              <a:rect l="l" t="t" r="r" b="b"/>
              <a:pathLst>
                <a:path w="1750048" h="5451418">
                  <a:moveTo>
                    <a:pt x="0" y="0"/>
                  </a:moveTo>
                  <a:lnTo>
                    <a:pt x="1750048" y="0"/>
                  </a:lnTo>
                  <a:lnTo>
                    <a:pt x="1750048" y="5451417"/>
                  </a:lnTo>
                  <a:lnTo>
                    <a:pt x="0" y="5451417"/>
                  </a:lnTo>
                  <a:lnTo>
                    <a:pt x="0" y="0"/>
                  </a:lnTo>
                  <a:close/>
                </a:path>
              </a:pathLst>
            </a:custGeom>
            <a:blipFill>
              <a:blip r:embed="rId7"/>
              <a:stretch>
                <a:fillRect/>
              </a:stretch>
            </a:blipFill>
          </p:spPr>
        </p:sp>
        <p:sp>
          <p:nvSpPr>
            <p:cNvPr id="9" name="Freeform 9"/>
            <p:cNvSpPr/>
            <p:nvPr/>
          </p:nvSpPr>
          <p:spPr>
            <a:xfrm>
              <a:off x="22275922" y="9395831"/>
              <a:ext cx="1472957" cy="3162988"/>
            </a:xfrm>
            <a:custGeom>
              <a:avLst/>
              <a:gdLst/>
              <a:ahLst/>
              <a:cxnLst/>
              <a:rect l="l" t="t" r="r" b="b"/>
              <a:pathLst>
                <a:path w="1472957" h="3162988">
                  <a:moveTo>
                    <a:pt x="0" y="0"/>
                  </a:moveTo>
                  <a:lnTo>
                    <a:pt x="1472956" y="0"/>
                  </a:lnTo>
                  <a:lnTo>
                    <a:pt x="1472956" y="3162988"/>
                  </a:lnTo>
                  <a:lnTo>
                    <a:pt x="0" y="3162988"/>
                  </a:lnTo>
                  <a:lnTo>
                    <a:pt x="0" y="0"/>
                  </a:lnTo>
                  <a:close/>
                </a:path>
              </a:pathLst>
            </a:custGeom>
            <a:blipFill>
              <a:blip r:embed="rId8"/>
              <a:stretch>
                <a:fillRect/>
              </a:stretch>
            </a:blipFill>
          </p:spPr>
        </p:sp>
      </p:grpSp>
      <p:sp>
        <p:nvSpPr>
          <p:cNvPr id="10" name="TextBox 10"/>
          <p:cNvSpPr txBox="1"/>
          <p:nvPr/>
        </p:nvSpPr>
        <p:spPr>
          <a:xfrm>
            <a:off x="338328" y="146304"/>
            <a:ext cx="14630400" cy="1200150"/>
          </a:xfrm>
          <a:prstGeom prst="rect">
            <a:avLst/>
          </a:prstGeom>
        </p:spPr>
        <p:txBody>
          <a:bodyPr lIns="0" tIns="0" rIns="0" bIns="0" rtlCol="0" anchor="t">
            <a:spAutoFit/>
          </a:bodyPr>
          <a:lstStyle/>
          <a:p>
            <a:pPr algn="l">
              <a:lnSpc>
                <a:spcPts val="7500"/>
              </a:lnSpc>
            </a:pPr>
            <a:r>
              <a:rPr lang="en-US" sz="7500" b="1" spc="150">
                <a:solidFill>
                  <a:srgbClr val="172243"/>
                </a:solidFill>
                <a:latin typeface="Heading Now 31-38 Bold"/>
                <a:ea typeface="Heading Now 31-38 Bold"/>
                <a:cs typeface="Heading Now 31-38 Bold"/>
                <a:sym typeface="Heading Now 31-38 Bold"/>
              </a:rPr>
              <a:t>TECHNICAL APPROACH 3/3</a:t>
            </a:r>
          </a:p>
        </p:txBody>
      </p:sp>
      <p:sp>
        <p:nvSpPr>
          <p:cNvPr id="11" name="Freeform 11"/>
          <p:cNvSpPr/>
          <p:nvPr/>
        </p:nvSpPr>
        <p:spPr>
          <a:xfrm>
            <a:off x="255295" y="1188720"/>
            <a:ext cx="7174382" cy="535667"/>
          </a:xfrm>
          <a:custGeom>
            <a:avLst/>
            <a:gdLst/>
            <a:ahLst/>
            <a:cxnLst/>
            <a:rect l="l" t="t" r="r" b="b"/>
            <a:pathLst>
              <a:path w="5020450" h="535667">
                <a:moveTo>
                  <a:pt x="0" y="0"/>
                </a:moveTo>
                <a:lnTo>
                  <a:pt x="5020450" y="0"/>
                </a:lnTo>
                <a:lnTo>
                  <a:pt x="5020450" y="535667"/>
                </a:lnTo>
                <a:lnTo>
                  <a:pt x="0" y="535667"/>
                </a:lnTo>
                <a:lnTo>
                  <a:pt x="0" y="0"/>
                </a:lnTo>
                <a:close/>
              </a:path>
            </a:pathLst>
          </a:custGeom>
          <a:blipFill>
            <a:blip r:embed="rId9"/>
            <a:stretch>
              <a:fillRect l="-11250" r="-11250"/>
            </a:stretch>
          </a:blipFill>
        </p:spPr>
      </p:sp>
      <p:sp>
        <p:nvSpPr>
          <p:cNvPr id="12" name="Freeform 12"/>
          <p:cNvSpPr/>
          <p:nvPr/>
        </p:nvSpPr>
        <p:spPr>
          <a:xfrm>
            <a:off x="16178937" y="216170"/>
            <a:ext cx="2160727" cy="2160727"/>
          </a:xfrm>
          <a:custGeom>
            <a:avLst/>
            <a:gdLst/>
            <a:ahLst/>
            <a:cxnLst/>
            <a:rect l="l" t="t" r="r" b="b"/>
            <a:pathLst>
              <a:path w="2160727" h="2160727">
                <a:moveTo>
                  <a:pt x="0" y="0"/>
                </a:moveTo>
                <a:lnTo>
                  <a:pt x="2160726" y="0"/>
                </a:lnTo>
                <a:lnTo>
                  <a:pt x="2160726" y="2160727"/>
                </a:lnTo>
                <a:lnTo>
                  <a:pt x="0" y="2160727"/>
                </a:lnTo>
                <a:lnTo>
                  <a:pt x="0" y="0"/>
                </a:lnTo>
                <a:close/>
              </a:path>
            </a:pathLst>
          </a:custGeom>
          <a:blipFill>
            <a:blip r:embed="rId10"/>
            <a:stretch>
              <a:fillRect/>
            </a:stretch>
          </a:blipFill>
        </p:spPr>
      </p:sp>
      <p:sp>
        <p:nvSpPr>
          <p:cNvPr id="13" name="Freeform 13"/>
          <p:cNvSpPr/>
          <p:nvPr/>
        </p:nvSpPr>
        <p:spPr>
          <a:xfrm>
            <a:off x="13923818" y="2160727"/>
            <a:ext cx="4364182" cy="2153601"/>
          </a:xfrm>
          <a:custGeom>
            <a:avLst/>
            <a:gdLst/>
            <a:ahLst/>
            <a:cxnLst/>
            <a:rect l="l" t="t" r="r" b="b"/>
            <a:pathLst>
              <a:path w="4364182" h="2153601">
                <a:moveTo>
                  <a:pt x="0" y="0"/>
                </a:moveTo>
                <a:lnTo>
                  <a:pt x="4364182" y="0"/>
                </a:lnTo>
                <a:lnTo>
                  <a:pt x="4364182" y="2153601"/>
                </a:lnTo>
                <a:lnTo>
                  <a:pt x="0" y="2153601"/>
                </a:lnTo>
                <a:lnTo>
                  <a:pt x="0" y="0"/>
                </a:lnTo>
                <a:close/>
              </a:path>
            </a:pathLst>
          </a:custGeom>
          <a:blipFill>
            <a:blip r:embed="rId11">
              <a:alphaModFix amt="68000"/>
            </a:blip>
            <a:stretch>
              <a:fillRect/>
            </a:stretch>
          </a:blipFill>
        </p:spPr>
      </p:sp>
      <p:sp>
        <p:nvSpPr>
          <p:cNvPr id="14" name="Claim"/>
          <p:cNvSpPr txBox="1"/>
          <p:nvPr/>
        </p:nvSpPr>
        <p:spPr>
          <a:xfrm>
            <a:off x="777240" y="1828800"/>
            <a:ext cx="15179040" cy="914400"/>
          </a:xfrm>
          <a:prstGeom prst="rect">
            <a:avLst/>
          </a:prstGeom>
          <a:noFill/>
        </p:spPr>
        <p:txBody>
          <a:bodyPr wrap="square" lIns="0" rIns="0" tIns="0" bIns="0" anchor="ctr">
            <a:noAutofit/>
          </a:bodyPr>
          <a:lstStyle/>
          <a:p>
            <a:pPr algn="l">
              <a:lnSpc>
                <a:spcPct val="100000"/>
              </a:lnSpc>
              <a:spcAft>
                <a:spcPts val="0"/>
              </a:spcAft>
            </a:pPr>
            <a:r>
              <a:rPr sz="4720" b="1">
                <a:solidFill>
                  <a:srgbClr val="172243"/>
                </a:solidFill>
                <a:latin typeface="Heading Now 31-38 Bold"/>
              </a:rPr>
              <a:t>Three small parts, </a:t>
            </a:r>
            <a:r>
              <a:rPr sz="2879" i="1">
                <a:solidFill>
                  <a:srgbClr val="4E4A76"/>
                </a:solidFill>
                <a:latin typeface="Georgia"/>
              </a:rPr>
              <a:t>and the AI service can never touch the chain.</a:t>
            </a:r>
          </a:p>
        </p:txBody>
      </p:sp>
      <p:sp>
        <p:nvSpPr>
          <p:cNvPr id="15" name="Rounded Rectangle 14"/>
          <p:cNvSpPr/>
          <p:nvPr/>
        </p:nvSpPr>
        <p:spPr>
          <a:xfrm>
            <a:off x="822960" y="2926080"/>
            <a:ext cx="5394960" cy="4297680"/>
          </a:xfrm>
          <a:prstGeom prst="roundRect">
            <a:avLst>
              <a:gd name="adj" fmla="val 4255"/>
            </a:avLst>
          </a:prstGeom>
          <a:solidFill>
            <a:srgbClr val="FFFFFF"/>
          </a:solidFill>
          <a:ln w="25400">
            <a:solidFill>
              <a:srgbClr val="172243"/>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97280" y="3127248"/>
            <a:ext cx="4846320" cy="548640"/>
          </a:xfrm>
          <a:prstGeom prst="rect">
            <a:avLst/>
          </a:prstGeom>
          <a:noFill/>
        </p:spPr>
        <p:txBody>
          <a:bodyPr wrap="square" lIns="0" rIns="0" tIns="0" bIns="0" anchor="t">
            <a:noAutofit/>
          </a:bodyPr>
          <a:lstStyle/>
          <a:p>
            <a:pPr algn="l">
              <a:lnSpc>
                <a:spcPct val="100000"/>
              </a:lnSpc>
              <a:spcAft>
                <a:spcPts val="0"/>
              </a:spcAft>
            </a:pPr>
            <a:r>
              <a:rPr sz="3070" b="1">
                <a:solidFill>
                  <a:srgbClr val="172243"/>
                </a:solidFill>
                <a:latin typeface="Heading Now 31-38 Bold"/>
              </a:rPr>
              <a:t>WEB APP</a:t>
            </a:r>
          </a:p>
        </p:txBody>
      </p:sp>
      <p:sp>
        <p:nvSpPr>
          <p:cNvPr id="17" name="TextBox 16"/>
          <p:cNvSpPr txBox="1"/>
          <p:nvPr/>
        </p:nvSpPr>
        <p:spPr>
          <a:xfrm>
            <a:off x="1097280" y="3794760"/>
            <a:ext cx="2926080" cy="3337560"/>
          </a:xfrm>
          <a:prstGeom prst="rect">
            <a:avLst/>
          </a:prstGeom>
          <a:noFill/>
        </p:spPr>
        <p:txBody>
          <a:bodyPr wrap="square" lIns="0" rIns="0" tIns="0" bIns="0" anchor="t">
            <a:noAutofit/>
          </a:bodyPr>
          <a:lstStyle/>
          <a:p>
            <a:pPr algn="l">
              <a:lnSpc>
                <a:spcPct val="100000"/>
              </a:lnSpc>
              <a:spcAft>
                <a:spcPts val="600"/>
              </a:spcAft>
            </a:pPr>
            <a:r>
              <a:rPr sz="1989">
                <a:solidFill>
                  <a:srgbClr val="161F3E"/>
                </a:solidFill>
                <a:latin typeface="Calibri"/>
              </a:rPr>
              <a:t>Agreement studio</a:t>
            </a:r>
          </a:p>
          <a:p>
            <a:pPr algn="l">
              <a:lnSpc>
                <a:spcPct val="100000"/>
              </a:lnSpc>
              <a:spcAft>
                <a:spcPts val="600"/>
              </a:spcAft>
            </a:pPr>
            <a:r>
              <a:rPr sz="1989">
                <a:solidFill>
                  <a:srgbClr val="161F3E"/>
                </a:solidFill>
                <a:latin typeface="Calibri"/>
              </a:rPr>
              <a:t>Vault dashboard</a:t>
            </a:r>
          </a:p>
          <a:p>
            <a:pPr algn="l">
              <a:lnSpc>
                <a:spcPct val="100000"/>
              </a:lnSpc>
              <a:spcAft>
                <a:spcPts val="600"/>
              </a:spcAft>
            </a:pPr>
            <a:r>
              <a:rPr sz="1989">
                <a:solidFill>
                  <a:srgbClr val="161F3E"/>
                </a:solidFill>
                <a:latin typeface="Calibri"/>
              </a:rPr>
              <a:t>Attack Lab</a:t>
            </a:r>
          </a:p>
          <a:p>
            <a:pPr algn="l">
              <a:lnSpc>
                <a:spcPct val="100000"/>
              </a:lnSpc>
              <a:spcAft>
                <a:spcPts val="600"/>
              </a:spcAft>
            </a:pPr>
            <a:r>
              <a:rPr sz="1989">
                <a:solidFill>
                  <a:srgbClr val="4E4A76"/>
                </a:solidFill>
                <a:latin typeface="Calibri"/>
              </a:rPr>
              <a:t>React, TypeScript, ethers v6</a:t>
            </a:r>
          </a:p>
        </p:txBody>
      </p:sp>
      <p:pic>
        <p:nvPicPr>
          <p:cNvPr id="18" name="Picture 17" descr="phone-milestone-mismatch.jpg"/>
          <p:cNvPicPr>
            <a:picLocks noChangeAspect="1"/>
          </p:cNvPicPr>
          <p:nvPr/>
        </p:nvPicPr>
        <p:blipFill>
          <a:blip r:embed="rId12"/>
          <a:stretch>
            <a:fillRect/>
          </a:stretch>
        </p:blipFill>
        <p:spPr>
          <a:xfrm>
            <a:off x="4069080" y="3703320"/>
            <a:ext cx="1499984" cy="3246120"/>
          </a:xfrm>
          <a:prstGeom prst="rect">
            <a:avLst/>
          </a:prstGeom>
        </p:spPr>
      </p:pic>
      <p:sp>
        <p:nvSpPr>
          <p:cNvPr id="19" name="Rounded Rectangle 18"/>
          <p:cNvSpPr/>
          <p:nvPr/>
        </p:nvSpPr>
        <p:spPr>
          <a:xfrm>
            <a:off x="4069080" y="3703320"/>
            <a:ext cx="1499984" cy="3246120"/>
          </a:xfrm>
          <a:prstGeom prst="roundRect">
            <a:avLst>
              <a:gd name="adj" fmla="val 4876"/>
            </a:avLst>
          </a:prstGeom>
          <a:noFill/>
          <a:ln w="25400">
            <a:solidFill>
              <a:srgbClr val="1722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7223760" y="2926080"/>
            <a:ext cx="4389120" cy="2331720"/>
          </a:xfrm>
          <a:prstGeom prst="roundRect">
            <a:avLst>
              <a:gd name="adj" fmla="val 7843"/>
            </a:avLst>
          </a:prstGeom>
          <a:solidFill>
            <a:srgbClr val="FBEBCF"/>
          </a:solidFill>
          <a:ln w="25400">
            <a:solidFill>
              <a:srgbClr val="9A5B0A"/>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498080" y="3127248"/>
            <a:ext cx="3840480" cy="548640"/>
          </a:xfrm>
          <a:prstGeom prst="rect">
            <a:avLst/>
          </a:prstGeom>
          <a:noFill/>
        </p:spPr>
        <p:txBody>
          <a:bodyPr wrap="square" lIns="0" rIns="0" tIns="0" bIns="0" anchor="t">
            <a:noAutofit/>
          </a:bodyPr>
          <a:lstStyle/>
          <a:p>
            <a:pPr algn="l">
              <a:lnSpc>
                <a:spcPct val="100000"/>
              </a:lnSpc>
              <a:spcAft>
                <a:spcPts val="0"/>
              </a:spcAft>
            </a:pPr>
            <a:r>
              <a:rPr sz="3070" b="1">
                <a:solidFill>
                  <a:srgbClr val="9A5B0A"/>
                </a:solidFill>
                <a:latin typeface="Heading Now 31-38 Bold"/>
              </a:rPr>
              <a:t>AI SERVICE</a:t>
            </a:r>
          </a:p>
        </p:txBody>
      </p:sp>
      <p:sp>
        <p:nvSpPr>
          <p:cNvPr id="22" name="TextBox 21"/>
          <p:cNvSpPr txBox="1"/>
          <p:nvPr/>
        </p:nvSpPr>
        <p:spPr>
          <a:xfrm>
            <a:off x="7498080" y="3794760"/>
            <a:ext cx="3840480" cy="1371599"/>
          </a:xfrm>
          <a:prstGeom prst="rect">
            <a:avLst/>
          </a:prstGeom>
          <a:noFill/>
        </p:spPr>
        <p:txBody>
          <a:bodyPr wrap="square" lIns="0" rIns="0" tIns="0" bIns="0" anchor="t">
            <a:noAutofit/>
          </a:bodyPr>
          <a:lstStyle/>
          <a:p>
            <a:pPr algn="l">
              <a:lnSpc>
                <a:spcPct val="100000"/>
              </a:lnSpc>
              <a:spcAft>
                <a:spcPts val="600"/>
              </a:spcAft>
            </a:pPr>
            <a:r>
              <a:rPr sz="1989">
                <a:solidFill>
                  <a:srgbClr val="161F3E"/>
                </a:solidFill>
                <a:latin typeface="Calibri"/>
              </a:rPr>
              <a:t>extract, validate, gate</a:t>
            </a:r>
          </a:p>
          <a:p>
            <a:pPr algn="l">
              <a:lnSpc>
                <a:spcPct val="100000"/>
              </a:lnSpc>
              <a:spcAft>
                <a:spcPts val="600"/>
              </a:spcAft>
            </a:pPr>
            <a:r>
              <a:rPr sz="1989">
                <a:solidFill>
                  <a:srgbClr val="4E4A76"/>
                </a:solidFill>
                <a:latin typeface="Calibri"/>
              </a:rPr>
              <a:t>Ollama, Gemini or built-in rules</a:t>
            </a:r>
          </a:p>
        </p:txBody>
      </p:sp>
      <p:sp>
        <p:nvSpPr>
          <p:cNvPr id="23" name="Rounded Rectangle 22"/>
          <p:cNvSpPr/>
          <p:nvPr/>
        </p:nvSpPr>
        <p:spPr>
          <a:xfrm>
            <a:off x="7223760" y="5532120"/>
            <a:ext cx="4389120" cy="1691640"/>
          </a:xfrm>
          <a:prstGeom prst="roundRect">
            <a:avLst>
              <a:gd name="adj" fmla="val 10810"/>
            </a:avLst>
          </a:prstGeom>
          <a:solidFill>
            <a:srgbClr val="EFEBFF"/>
          </a:solidFill>
          <a:ln w="25400">
            <a:solidFill>
              <a:srgbClr val="5B45E6"/>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98080" y="5733288"/>
            <a:ext cx="3840480" cy="548640"/>
          </a:xfrm>
          <a:prstGeom prst="rect">
            <a:avLst/>
          </a:prstGeom>
          <a:noFill/>
        </p:spPr>
        <p:txBody>
          <a:bodyPr wrap="square" lIns="0" rIns="0" tIns="0" bIns="0" anchor="t">
            <a:noAutofit/>
          </a:bodyPr>
          <a:lstStyle/>
          <a:p>
            <a:pPr algn="l">
              <a:lnSpc>
                <a:spcPct val="100000"/>
              </a:lnSpc>
              <a:spcAft>
                <a:spcPts val="0"/>
              </a:spcAft>
            </a:pPr>
            <a:r>
              <a:rPr sz="3070" b="1">
                <a:solidFill>
                  <a:srgbClr val="5B45E6"/>
                </a:solidFill>
                <a:latin typeface="Heading Now 31-38 Bold"/>
              </a:rPr>
              <a:t>SHARED PACKAGE</a:t>
            </a:r>
          </a:p>
        </p:txBody>
      </p:sp>
      <p:sp>
        <p:nvSpPr>
          <p:cNvPr id="25" name="TextBox 24"/>
          <p:cNvSpPr txBox="1"/>
          <p:nvPr/>
        </p:nvSpPr>
        <p:spPr>
          <a:xfrm>
            <a:off x="7498080" y="6400800"/>
            <a:ext cx="3840480" cy="731520"/>
          </a:xfrm>
          <a:prstGeom prst="rect">
            <a:avLst/>
          </a:prstGeom>
          <a:noFill/>
        </p:spPr>
        <p:txBody>
          <a:bodyPr wrap="square" lIns="0" rIns="0" tIns="0" bIns="0" anchor="t">
            <a:noAutofit/>
          </a:bodyPr>
          <a:lstStyle/>
          <a:p>
            <a:pPr algn="l">
              <a:lnSpc>
                <a:spcPct val="100000"/>
              </a:lnSpc>
              <a:spcAft>
                <a:spcPts val="600"/>
              </a:spcAft>
            </a:pPr>
            <a:r>
              <a:rPr sz="1989">
                <a:solidFill>
                  <a:srgbClr val="161F3E"/>
                </a:solidFill>
                <a:latin typeface="Calibri"/>
              </a:rPr>
              <a:t>One implementation of hashing, validator and gate</a:t>
            </a:r>
          </a:p>
        </p:txBody>
      </p:sp>
      <p:sp>
        <p:nvSpPr>
          <p:cNvPr id="26" name="Rounded Rectangle 25"/>
          <p:cNvSpPr/>
          <p:nvPr/>
        </p:nvSpPr>
        <p:spPr>
          <a:xfrm>
            <a:off x="12710160" y="2926080"/>
            <a:ext cx="3291840" cy="4297680"/>
          </a:xfrm>
          <a:prstGeom prst="roundRect">
            <a:avLst>
              <a:gd name="adj" fmla="val 5555"/>
            </a:avLst>
          </a:prstGeom>
          <a:solidFill>
            <a:srgbClr val="DDF3EA"/>
          </a:solidFill>
          <a:ln w="25400">
            <a:solidFill>
              <a:srgbClr val="0B7A5B"/>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2984480" y="3127248"/>
            <a:ext cx="2743200" cy="548640"/>
          </a:xfrm>
          <a:prstGeom prst="rect">
            <a:avLst/>
          </a:prstGeom>
          <a:noFill/>
        </p:spPr>
        <p:txBody>
          <a:bodyPr wrap="square" lIns="0" rIns="0" tIns="0" bIns="0" anchor="t">
            <a:noAutofit/>
          </a:bodyPr>
          <a:lstStyle/>
          <a:p>
            <a:pPr algn="l">
              <a:lnSpc>
                <a:spcPct val="100000"/>
              </a:lnSpc>
              <a:spcAft>
                <a:spcPts val="0"/>
              </a:spcAft>
            </a:pPr>
            <a:r>
              <a:rPr sz="3070" b="1">
                <a:solidFill>
                  <a:srgbClr val="0B7A5B"/>
                </a:solidFill>
                <a:latin typeface="Heading Now 31-38 Bold"/>
              </a:rPr>
              <a:t>LOCAL CHAIN</a:t>
            </a:r>
          </a:p>
        </p:txBody>
      </p:sp>
      <p:sp>
        <p:nvSpPr>
          <p:cNvPr id="28" name="TextBox 27"/>
          <p:cNvSpPr txBox="1"/>
          <p:nvPr/>
        </p:nvSpPr>
        <p:spPr>
          <a:xfrm>
            <a:off x="12984480" y="3794760"/>
            <a:ext cx="2743200" cy="3337560"/>
          </a:xfrm>
          <a:prstGeom prst="rect">
            <a:avLst/>
          </a:prstGeom>
          <a:noFill/>
        </p:spPr>
        <p:txBody>
          <a:bodyPr wrap="square" lIns="0" rIns="0" tIns="0" bIns="0" anchor="t">
            <a:noAutofit/>
          </a:bodyPr>
          <a:lstStyle/>
          <a:p>
            <a:pPr algn="l">
              <a:lnSpc>
                <a:spcPct val="100000"/>
              </a:lnSpc>
              <a:spcAft>
                <a:spcPts val="600"/>
              </a:spcAft>
            </a:pPr>
            <a:r>
              <a:rPr sz="1989">
                <a:solidFill>
                  <a:srgbClr val="161F3E"/>
                </a:solidFill>
                <a:latin typeface="Calibri"/>
              </a:rPr>
              <a:t>MilestoneVault.sol</a:t>
            </a:r>
          </a:p>
          <a:p>
            <a:pPr algn="l">
              <a:lnSpc>
                <a:spcPct val="100000"/>
              </a:lnSpc>
              <a:spcAft>
                <a:spcPts val="600"/>
              </a:spcAft>
            </a:pPr>
            <a:r>
              <a:rPr sz="1989">
                <a:solidFill>
                  <a:srgbClr val="161F3E"/>
                </a:solidFill>
                <a:latin typeface="Calibri"/>
              </a:rPr>
              <a:t>OpenZeppelin guard</a:t>
            </a:r>
          </a:p>
          <a:p>
            <a:pPr algn="l">
              <a:lnSpc>
                <a:spcPct val="100000"/>
              </a:lnSpc>
              <a:spcAft>
                <a:spcPts val="600"/>
              </a:spcAft>
            </a:pPr>
            <a:r>
              <a:rPr sz="1989">
                <a:solidFill>
                  <a:srgbClr val="4E4A76"/>
                </a:solidFill>
                <a:latin typeface="Calibri"/>
              </a:rPr>
              <a:t>Attack contracts, test only</a:t>
            </a:r>
          </a:p>
          <a:p>
            <a:pPr algn="l">
              <a:lnSpc>
                <a:spcPct val="100000"/>
              </a:lnSpc>
              <a:spcAft>
                <a:spcPts val="600"/>
              </a:spcAft>
            </a:pPr>
            <a:r>
              <a:rPr sz="1989">
                <a:solidFill>
                  <a:srgbClr val="4E4A76"/>
                </a:solidFill>
                <a:latin typeface="Calibri"/>
              </a:rPr>
              <a:t>Solidity 0.8.24, Hardhat</a:t>
            </a:r>
          </a:p>
        </p:txBody>
      </p:sp>
      <p:cxnSp>
        <p:nvCxnSpPr>
          <p:cNvPr id="29" name="Connector 28"/>
          <p:cNvCxnSpPr/>
          <p:nvPr/>
        </p:nvCxnSpPr>
        <p:spPr>
          <a:xfrm>
            <a:off x="6245352" y="4023360"/>
            <a:ext cx="960120" cy="0"/>
          </a:xfrm>
          <a:prstGeom prst="line">
            <a:avLst/>
          </a:prstGeom>
          <a:ln w="50800">
            <a:solidFill>
              <a:srgbClr val="172243"/>
            </a:solidFill>
            <a:tailEnd type="triangle" w="lg" len="lg"/>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217920" y="4160520"/>
            <a:ext cx="1005840" cy="457200"/>
          </a:xfrm>
          <a:prstGeom prst="rect">
            <a:avLst/>
          </a:prstGeom>
          <a:noFill/>
        </p:spPr>
        <p:txBody>
          <a:bodyPr wrap="square" lIns="0" rIns="0" tIns="0" bIns="0" anchor="t">
            <a:noAutofit/>
          </a:bodyPr>
          <a:lstStyle/>
          <a:p>
            <a:pPr algn="ctr">
              <a:lnSpc>
                <a:spcPct val="100000"/>
              </a:lnSpc>
              <a:spcAft>
                <a:spcPts val="0"/>
              </a:spcAft>
            </a:pPr>
            <a:r>
              <a:rPr sz="1710">
                <a:solidFill>
                  <a:srgbClr val="4E4A76"/>
                </a:solidFill>
                <a:latin typeface="Calibri"/>
              </a:rPr>
              <a:t>HTTP</a:t>
            </a:r>
          </a:p>
        </p:txBody>
      </p:sp>
      <p:cxnSp>
        <p:nvCxnSpPr>
          <p:cNvPr id="31" name="Connector 30"/>
          <p:cNvCxnSpPr/>
          <p:nvPr/>
        </p:nvCxnSpPr>
        <p:spPr>
          <a:xfrm>
            <a:off x="2743200" y="7242048"/>
            <a:ext cx="0" cy="484631"/>
          </a:xfrm>
          <a:prstGeom prst="line">
            <a:avLst/>
          </a:prstGeom>
          <a:ln w="50800">
            <a:solidFill>
              <a:srgbClr val="17224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743200" y="7726679"/>
            <a:ext cx="11612880" cy="0"/>
          </a:xfrm>
          <a:prstGeom prst="line">
            <a:avLst/>
          </a:prstGeom>
          <a:ln w="50800">
            <a:solidFill>
              <a:srgbClr val="17224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14356080" y="7260336"/>
            <a:ext cx="0" cy="466343"/>
          </a:xfrm>
          <a:prstGeom prst="line">
            <a:avLst/>
          </a:prstGeom>
          <a:ln w="50800">
            <a:solidFill>
              <a:srgbClr val="172243"/>
            </a:solidFill>
            <a:tailEnd type="triangle" w="lg" len="lg"/>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355080" y="7452360"/>
            <a:ext cx="4480560" cy="548640"/>
          </a:xfrm>
          <a:prstGeom prst="roundRect">
            <a:avLst>
              <a:gd name="adj" fmla="val 50000"/>
            </a:avLst>
          </a:prstGeom>
          <a:solidFill>
            <a:srgbClr val="FDF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355080" y="7452360"/>
            <a:ext cx="4480560" cy="548640"/>
          </a:xfrm>
          <a:prstGeom prst="rect">
            <a:avLst/>
          </a:prstGeom>
          <a:noFill/>
        </p:spPr>
        <p:txBody>
          <a:bodyPr wrap="square" lIns="0" rIns="0" tIns="0" bIns="0" anchor="ctr">
            <a:noAutofit/>
          </a:bodyPr>
          <a:lstStyle/>
          <a:p>
            <a:pPr algn="ctr">
              <a:lnSpc>
                <a:spcPct val="100000"/>
              </a:lnSpc>
              <a:spcAft>
                <a:spcPts val="0"/>
              </a:spcAft>
            </a:pPr>
            <a:r>
              <a:rPr sz="2360" b="1">
                <a:solidFill>
                  <a:srgbClr val="172243"/>
                </a:solidFill>
                <a:latin typeface="Heading Now 31-38 Bold"/>
              </a:rPr>
              <a:t>JSON-RPC: sign, fund, approve, withdraw</a:t>
            </a:r>
          </a:p>
        </p:txBody>
      </p:sp>
      <p:cxnSp>
        <p:nvCxnSpPr>
          <p:cNvPr id="36" name="Connector 35"/>
          <p:cNvCxnSpPr/>
          <p:nvPr/>
        </p:nvCxnSpPr>
        <p:spPr>
          <a:xfrm>
            <a:off x="11631168" y="4023360"/>
            <a:ext cx="1060704" cy="0"/>
          </a:xfrm>
          <a:prstGeom prst="line">
            <a:avLst/>
          </a:prstGeom>
          <a:ln w="50800">
            <a:solidFill>
              <a:srgbClr val="C0342B"/>
            </a:solidFill>
            <a:prstDash val="dash"/>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11841480" y="3703320"/>
            <a:ext cx="640080" cy="640080"/>
          </a:xfrm>
          <a:prstGeom prst="ellipse">
            <a:avLst/>
          </a:prstGeom>
          <a:solidFill>
            <a:srgbClr val="C03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1841480" y="3703320"/>
            <a:ext cx="640080" cy="640080"/>
          </a:xfrm>
          <a:prstGeom prst="rect">
            <a:avLst/>
          </a:prstGeom>
          <a:noFill/>
        </p:spPr>
        <p:txBody>
          <a:bodyPr wrap="square" lIns="0" rIns="0" tIns="0" bIns="0" anchor="ctr">
            <a:noAutofit/>
          </a:bodyPr>
          <a:lstStyle/>
          <a:p>
            <a:pPr algn="ctr">
              <a:lnSpc>
                <a:spcPct val="100000"/>
              </a:lnSpc>
              <a:spcAft>
                <a:spcPts val="0"/>
              </a:spcAft>
            </a:pPr>
            <a:r>
              <a:rPr sz="3070">
                <a:solidFill>
                  <a:srgbClr val="FFFFFF"/>
                </a:solidFill>
                <a:latin typeface="Heading Now 31-38 Bold"/>
              </a:rPr>
              <a:t>✕</a:t>
            </a:r>
          </a:p>
        </p:txBody>
      </p:sp>
      <p:sp>
        <p:nvSpPr>
          <p:cNvPr id="39" name="TextBox 38"/>
          <p:cNvSpPr txBox="1"/>
          <p:nvPr/>
        </p:nvSpPr>
        <p:spPr>
          <a:xfrm>
            <a:off x="11567160" y="4434840"/>
            <a:ext cx="1143000" cy="822960"/>
          </a:xfrm>
          <a:prstGeom prst="rect">
            <a:avLst/>
          </a:prstGeom>
          <a:noFill/>
        </p:spPr>
        <p:txBody>
          <a:bodyPr wrap="square" lIns="0" rIns="0" tIns="0" bIns="0" anchor="t">
            <a:noAutofit/>
          </a:bodyPr>
          <a:lstStyle/>
          <a:p>
            <a:pPr algn="ctr">
              <a:lnSpc>
                <a:spcPct val="100000"/>
              </a:lnSpc>
              <a:spcAft>
                <a:spcPts val="0"/>
              </a:spcAft>
            </a:pPr>
            <a:r>
              <a:rPr sz="1710">
                <a:solidFill>
                  <a:srgbClr val="C0342B"/>
                </a:solidFill>
                <a:latin typeface="Calibri"/>
              </a:rPr>
              <a:t>never</a:t>
            </a:r>
          </a:p>
          <a:p>
            <a:pPr algn="ctr">
              <a:lnSpc>
                <a:spcPct val="100000"/>
              </a:lnSpc>
              <a:spcAft>
                <a:spcPts val="0"/>
              </a:spcAft>
            </a:pPr>
            <a:r>
              <a:rPr sz="1710">
                <a:solidFill>
                  <a:srgbClr val="C0342B"/>
                </a:solidFill>
                <a:latin typeface="Calibri"/>
              </a:rPr>
              <a:t>connects</a:t>
            </a:r>
          </a:p>
        </p:txBody>
      </p:sp>
      <p:sp>
        <p:nvSpPr>
          <p:cNvPr id="40" name="Rounded Rectangle 39"/>
          <p:cNvSpPr/>
          <p:nvPr/>
        </p:nvSpPr>
        <p:spPr>
          <a:xfrm>
            <a:off x="822960" y="8321040"/>
            <a:ext cx="15179040" cy="1371600"/>
          </a:xfrm>
          <a:prstGeom prst="roundRect">
            <a:avLst>
              <a:gd name="adj" fmla="val 13333"/>
            </a:avLst>
          </a:prstGeom>
          <a:solidFill>
            <a:srgbClr val="172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188720" y="8321040"/>
            <a:ext cx="14447520" cy="1371600"/>
          </a:xfrm>
          <a:prstGeom prst="rect">
            <a:avLst/>
          </a:prstGeom>
          <a:noFill/>
        </p:spPr>
        <p:txBody>
          <a:bodyPr wrap="square" lIns="0" rIns="0" tIns="0" bIns="0" anchor="ctr">
            <a:noAutofit/>
          </a:bodyPr>
          <a:lstStyle/>
          <a:p>
            <a:pPr algn="l">
              <a:lnSpc>
                <a:spcPct val="100000"/>
              </a:lnSpc>
              <a:spcAft>
                <a:spcPts val="0"/>
              </a:spcAft>
            </a:pPr>
            <a:r>
              <a:rPr sz="3000" b="1" i="1">
                <a:solidFill>
                  <a:srgbClr val="FAD3AE"/>
                </a:solidFill>
                <a:latin typeface="Georgia"/>
              </a:rPr>
              <a:t>Local fallback. </a:t>
            </a:r>
          </a:p>
          <a:p>
            <a:pPr algn="l">
              <a:lnSpc>
                <a:spcPct val="100000"/>
              </a:lnSpc>
              <a:spcAft>
                <a:spcPts val="0"/>
              </a:spcAft>
            </a:pPr>
            <a:r>
              <a:rPr sz="2470">
                <a:solidFill>
                  <a:srgbClr val="FFFFFF"/>
                </a:solidFill>
                <a:latin typeface="Calibri"/>
              </a:rPr>
              <a:t>With Wi-Fi off it still works: rules extractor, local chain, bundled fonts. No paid API, GPU or cloud.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0" y="0"/>
            <a:ext cx="1750048" cy="9860652"/>
          </a:xfrm>
          <a:custGeom>
            <a:avLst/>
            <a:gdLst/>
            <a:ahLst/>
            <a:cxnLst/>
            <a:rect l="l" t="t" r="r" b="b"/>
            <a:pathLst>
              <a:path w="1750048" h="9860652">
                <a:moveTo>
                  <a:pt x="0" y="0"/>
                </a:moveTo>
                <a:lnTo>
                  <a:pt x="1750048" y="0"/>
                </a:lnTo>
                <a:lnTo>
                  <a:pt x="1750048" y="9860652"/>
                </a:lnTo>
                <a:lnTo>
                  <a:pt x="0" y="9860652"/>
                </a:lnTo>
                <a:lnTo>
                  <a:pt x="0" y="0"/>
                </a:lnTo>
                <a:close/>
              </a:path>
            </a:pathLst>
          </a:custGeom>
          <a:blipFill>
            <a:blip r:embed="rId3"/>
            <a:stretch>
              <a:fillRect/>
            </a:stretch>
          </a:blipFill>
        </p:spPr>
      </p:sp>
      <p:sp>
        <p:nvSpPr>
          <p:cNvPr id="4" name="Freeform 4"/>
          <p:cNvSpPr/>
          <p:nvPr/>
        </p:nvSpPr>
        <p:spPr>
          <a:xfrm>
            <a:off x="0" y="7046873"/>
            <a:ext cx="1312536" cy="3432644"/>
          </a:xfrm>
          <a:custGeom>
            <a:avLst/>
            <a:gdLst/>
            <a:ahLst/>
            <a:cxnLst/>
            <a:rect l="l" t="t" r="r" b="b"/>
            <a:pathLst>
              <a:path w="1312536" h="3432644">
                <a:moveTo>
                  <a:pt x="0" y="0"/>
                </a:moveTo>
                <a:lnTo>
                  <a:pt x="1312536" y="0"/>
                </a:lnTo>
                <a:lnTo>
                  <a:pt x="1312536" y="3432644"/>
                </a:lnTo>
                <a:lnTo>
                  <a:pt x="0" y="3432644"/>
                </a:lnTo>
                <a:lnTo>
                  <a:pt x="0" y="0"/>
                </a:lnTo>
                <a:close/>
              </a:path>
            </a:pathLst>
          </a:custGeom>
          <a:blipFill>
            <a:blip r:embed="rId4"/>
            <a:stretch>
              <a:fillRect/>
            </a:stretch>
          </a:blipFill>
        </p:spPr>
      </p:sp>
      <p:grpSp>
        <p:nvGrpSpPr>
          <p:cNvPr id="5" name="Group 5"/>
          <p:cNvGrpSpPr/>
          <p:nvPr/>
        </p:nvGrpSpPr>
        <p:grpSpPr>
          <a:xfrm>
            <a:off x="13059732" y="5455062"/>
            <a:ext cx="5228268" cy="4848336"/>
            <a:chOff x="0" y="0"/>
            <a:chExt cx="6971024" cy="6464448"/>
          </a:xfrm>
        </p:grpSpPr>
        <p:sp>
          <p:nvSpPr>
            <p:cNvPr id="6" name="Freeform 6"/>
            <p:cNvSpPr/>
            <p:nvPr/>
          </p:nvSpPr>
          <p:spPr>
            <a:xfrm>
              <a:off x="1735464" y="1574206"/>
              <a:ext cx="2333397" cy="2303005"/>
            </a:xfrm>
            <a:custGeom>
              <a:avLst/>
              <a:gdLst/>
              <a:ahLst/>
              <a:cxnLst/>
              <a:rect l="l" t="t" r="r" b="b"/>
              <a:pathLst>
                <a:path w="2333397" h="2303005">
                  <a:moveTo>
                    <a:pt x="0" y="0"/>
                  </a:moveTo>
                  <a:lnTo>
                    <a:pt x="2333397" y="0"/>
                  </a:lnTo>
                  <a:lnTo>
                    <a:pt x="2333397" y="2303005"/>
                  </a:lnTo>
                  <a:lnTo>
                    <a:pt x="0" y="2303005"/>
                  </a:lnTo>
                  <a:lnTo>
                    <a:pt x="0" y="0"/>
                  </a:lnTo>
                  <a:close/>
                </a:path>
              </a:pathLst>
            </a:custGeom>
            <a:blipFill>
              <a:blip r:embed="rId5"/>
              <a:stretch>
                <a:fillRect/>
              </a:stretch>
            </a:blipFill>
          </p:spPr>
        </p:sp>
        <p:sp>
          <p:nvSpPr>
            <p:cNvPr id="7" name="Freeform 7"/>
            <p:cNvSpPr/>
            <p:nvPr/>
          </p:nvSpPr>
          <p:spPr>
            <a:xfrm>
              <a:off x="0" y="2122415"/>
              <a:ext cx="6971024" cy="4342033"/>
            </a:xfrm>
            <a:custGeom>
              <a:avLst/>
              <a:gdLst/>
              <a:ahLst/>
              <a:cxnLst/>
              <a:rect l="l" t="t" r="r" b="b"/>
              <a:pathLst>
                <a:path w="6971024" h="4342033">
                  <a:moveTo>
                    <a:pt x="0" y="0"/>
                  </a:moveTo>
                  <a:lnTo>
                    <a:pt x="6971024" y="0"/>
                  </a:lnTo>
                  <a:lnTo>
                    <a:pt x="6971024" y="4342033"/>
                  </a:lnTo>
                  <a:lnTo>
                    <a:pt x="0" y="4342033"/>
                  </a:lnTo>
                  <a:lnTo>
                    <a:pt x="0" y="0"/>
                  </a:lnTo>
                  <a:close/>
                </a:path>
              </a:pathLst>
            </a:custGeom>
            <a:blipFill>
              <a:blip r:embed="rId6"/>
              <a:stretch>
                <a:fillRect t="-5743"/>
              </a:stretch>
            </a:blipFill>
          </p:spPr>
        </p:sp>
        <p:sp>
          <p:nvSpPr>
            <p:cNvPr id="8" name="Freeform 8"/>
            <p:cNvSpPr/>
            <p:nvPr/>
          </p:nvSpPr>
          <p:spPr>
            <a:xfrm>
              <a:off x="5220976" y="0"/>
              <a:ext cx="1750048" cy="5451418"/>
            </a:xfrm>
            <a:custGeom>
              <a:avLst/>
              <a:gdLst/>
              <a:ahLst/>
              <a:cxnLst/>
              <a:rect l="l" t="t" r="r" b="b"/>
              <a:pathLst>
                <a:path w="1750048" h="5451418">
                  <a:moveTo>
                    <a:pt x="0" y="0"/>
                  </a:moveTo>
                  <a:lnTo>
                    <a:pt x="1750048" y="0"/>
                  </a:lnTo>
                  <a:lnTo>
                    <a:pt x="1750048" y="5451418"/>
                  </a:lnTo>
                  <a:lnTo>
                    <a:pt x="0" y="5451418"/>
                  </a:lnTo>
                  <a:lnTo>
                    <a:pt x="0" y="0"/>
                  </a:lnTo>
                  <a:close/>
                </a:path>
              </a:pathLst>
            </a:custGeom>
            <a:blipFill>
              <a:blip r:embed="rId7"/>
              <a:stretch>
                <a:fillRect/>
              </a:stretch>
            </a:blipFill>
          </p:spPr>
        </p:sp>
        <p:sp>
          <p:nvSpPr>
            <p:cNvPr id="9" name="Freeform 9"/>
            <p:cNvSpPr/>
            <p:nvPr/>
          </p:nvSpPr>
          <p:spPr>
            <a:xfrm>
              <a:off x="4862945" y="2122415"/>
              <a:ext cx="1472957" cy="3162988"/>
            </a:xfrm>
            <a:custGeom>
              <a:avLst/>
              <a:gdLst/>
              <a:ahLst/>
              <a:cxnLst/>
              <a:rect l="l" t="t" r="r" b="b"/>
              <a:pathLst>
                <a:path w="1472957" h="3162988">
                  <a:moveTo>
                    <a:pt x="0" y="0"/>
                  </a:moveTo>
                  <a:lnTo>
                    <a:pt x="1472957" y="0"/>
                  </a:lnTo>
                  <a:lnTo>
                    <a:pt x="1472957" y="3162989"/>
                  </a:lnTo>
                  <a:lnTo>
                    <a:pt x="0" y="3162989"/>
                  </a:lnTo>
                  <a:lnTo>
                    <a:pt x="0" y="0"/>
                  </a:lnTo>
                  <a:close/>
                </a:path>
              </a:pathLst>
            </a:custGeom>
            <a:blipFill>
              <a:blip r:embed="rId8"/>
              <a:stretch>
                <a:fillRect/>
              </a:stretch>
            </a:blipFill>
          </p:spPr>
        </p:sp>
      </p:grpSp>
      <p:sp>
        <p:nvSpPr>
          <p:cNvPr id="10" name="TextBox 10"/>
          <p:cNvSpPr txBox="1"/>
          <p:nvPr/>
        </p:nvSpPr>
        <p:spPr>
          <a:xfrm>
            <a:off x="338328" y="146304"/>
            <a:ext cx="14630400" cy="1200150"/>
          </a:xfrm>
          <a:prstGeom prst="rect">
            <a:avLst/>
          </a:prstGeom>
        </p:spPr>
        <p:txBody>
          <a:bodyPr lIns="0" tIns="0" rIns="0" bIns="0" rtlCol="0" anchor="t">
            <a:spAutoFit/>
          </a:bodyPr>
          <a:lstStyle/>
          <a:p>
            <a:pPr algn="l">
              <a:lnSpc>
                <a:spcPts val="7500"/>
              </a:lnSpc>
            </a:pPr>
            <a:r>
              <a:rPr lang="en-US" sz="7500" b="1" spc="150">
                <a:solidFill>
                  <a:srgbClr val="172243"/>
                </a:solidFill>
                <a:latin typeface="Heading Now 31-38 Bold"/>
                <a:ea typeface="Heading Now 31-38 Bold"/>
                <a:cs typeface="Heading Now 31-38 Bold"/>
                <a:sym typeface="Heading Now 31-38 Bold"/>
              </a:rPr>
              <a:t>FEASIBILITY AND VIABILITY</a:t>
            </a:r>
          </a:p>
        </p:txBody>
      </p:sp>
      <p:sp>
        <p:nvSpPr>
          <p:cNvPr id="11" name="Freeform 11"/>
          <p:cNvSpPr/>
          <p:nvPr/>
        </p:nvSpPr>
        <p:spPr>
          <a:xfrm>
            <a:off x="334880" y="1188720"/>
            <a:ext cx="8115300" cy="535667"/>
          </a:xfrm>
          <a:custGeom>
            <a:avLst/>
            <a:gdLst/>
            <a:ahLst/>
            <a:cxnLst/>
            <a:rect l="l" t="t" r="r" b="b"/>
            <a:pathLst>
              <a:path w="5020450" h="535667">
                <a:moveTo>
                  <a:pt x="0" y="0"/>
                </a:moveTo>
                <a:lnTo>
                  <a:pt x="5020450" y="0"/>
                </a:lnTo>
                <a:lnTo>
                  <a:pt x="5020450" y="535667"/>
                </a:lnTo>
                <a:lnTo>
                  <a:pt x="0" y="535667"/>
                </a:lnTo>
                <a:lnTo>
                  <a:pt x="0" y="0"/>
                </a:lnTo>
                <a:close/>
              </a:path>
            </a:pathLst>
          </a:custGeom>
          <a:blipFill>
            <a:blip r:embed="rId9"/>
            <a:stretch>
              <a:fillRect l="-11250" r="-11250"/>
            </a:stretch>
          </a:blipFill>
        </p:spPr>
      </p:sp>
      <p:sp>
        <p:nvSpPr>
          <p:cNvPr id="12" name="Freeform 12"/>
          <p:cNvSpPr/>
          <p:nvPr/>
        </p:nvSpPr>
        <p:spPr>
          <a:xfrm>
            <a:off x="13923818" y="2160727"/>
            <a:ext cx="4364182" cy="2153601"/>
          </a:xfrm>
          <a:custGeom>
            <a:avLst/>
            <a:gdLst/>
            <a:ahLst/>
            <a:cxnLst/>
            <a:rect l="l" t="t" r="r" b="b"/>
            <a:pathLst>
              <a:path w="4364182" h="2153601">
                <a:moveTo>
                  <a:pt x="0" y="0"/>
                </a:moveTo>
                <a:lnTo>
                  <a:pt x="4364182" y="0"/>
                </a:lnTo>
                <a:lnTo>
                  <a:pt x="4364182" y="2153601"/>
                </a:lnTo>
                <a:lnTo>
                  <a:pt x="0" y="2153601"/>
                </a:lnTo>
                <a:lnTo>
                  <a:pt x="0" y="0"/>
                </a:lnTo>
                <a:close/>
              </a:path>
            </a:pathLst>
          </a:custGeom>
          <a:blipFill>
            <a:blip r:embed="rId10">
              <a:alphaModFix amt="68000"/>
            </a:blip>
            <a:stretch>
              <a:fillRect/>
            </a:stretch>
          </a:blipFill>
        </p:spPr>
      </p:sp>
      <p:sp>
        <p:nvSpPr>
          <p:cNvPr id="13" name="Freeform 13"/>
          <p:cNvSpPr/>
          <p:nvPr/>
        </p:nvSpPr>
        <p:spPr>
          <a:xfrm>
            <a:off x="16178937" y="216170"/>
            <a:ext cx="2160727" cy="2160727"/>
          </a:xfrm>
          <a:custGeom>
            <a:avLst/>
            <a:gdLst/>
            <a:ahLst/>
            <a:cxnLst/>
            <a:rect l="l" t="t" r="r" b="b"/>
            <a:pathLst>
              <a:path w="2160727" h="2160727">
                <a:moveTo>
                  <a:pt x="0" y="0"/>
                </a:moveTo>
                <a:lnTo>
                  <a:pt x="2160726" y="0"/>
                </a:lnTo>
                <a:lnTo>
                  <a:pt x="2160726" y="2160727"/>
                </a:lnTo>
                <a:lnTo>
                  <a:pt x="0" y="2160727"/>
                </a:lnTo>
                <a:lnTo>
                  <a:pt x="0" y="0"/>
                </a:lnTo>
                <a:close/>
              </a:path>
            </a:pathLst>
          </a:custGeom>
          <a:blipFill>
            <a:blip r:embed="rId11"/>
            <a:stretch>
              <a:fillRect/>
            </a:stretch>
          </a:blipFill>
        </p:spPr>
      </p:sp>
      <p:sp>
        <p:nvSpPr>
          <p:cNvPr id="14" name="Claim"/>
          <p:cNvSpPr txBox="1"/>
          <p:nvPr/>
        </p:nvSpPr>
        <p:spPr>
          <a:xfrm>
            <a:off x="777240" y="1828800"/>
            <a:ext cx="15179040" cy="914400"/>
          </a:xfrm>
          <a:prstGeom prst="rect">
            <a:avLst/>
          </a:prstGeom>
          <a:noFill/>
        </p:spPr>
        <p:txBody>
          <a:bodyPr wrap="square" lIns="0" rIns="0" tIns="0" bIns="0" anchor="ctr">
            <a:noAutofit/>
          </a:bodyPr>
          <a:lstStyle/>
          <a:p>
            <a:pPr algn="l">
              <a:lnSpc>
                <a:spcPct val="100000"/>
              </a:lnSpc>
              <a:spcAft>
                <a:spcPts val="0"/>
              </a:spcAft>
            </a:pPr>
            <a:r>
              <a:rPr sz="4720" b="1">
                <a:solidFill>
                  <a:srgbClr val="172243"/>
                </a:solidFill>
                <a:latin typeface="Heading Now 31-38 Bold"/>
              </a:rPr>
              <a:t>Built, tested and reproducible in 12 hours, </a:t>
            </a:r>
            <a:r>
              <a:rPr sz="2879" i="1">
                <a:solidFill>
                  <a:srgbClr val="4E4A76"/>
                </a:solidFill>
                <a:latin typeface="Georgia"/>
              </a:rPr>
              <a:t>with no paid service.</a:t>
            </a:r>
          </a:p>
        </p:txBody>
      </p:sp>
      <p:sp>
        <p:nvSpPr>
          <p:cNvPr id="15" name="TextBox 14"/>
          <p:cNvSpPr txBox="1"/>
          <p:nvPr/>
        </p:nvSpPr>
        <p:spPr>
          <a:xfrm>
            <a:off x="822960" y="2743200"/>
            <a:ext cx="4023360" cy="411480"/>
          </a:xfrm>
          <a:prstGeom prst="rect">
            <a:avLst/>
          </a:prstGeom>
          <a:noFill/>
        </p:spPr>
        <p:txBody>
          <a:bodyPr wrap="square" lIns="0" rIns="0" tIns="0" bIns="0" anchor="t">
            <a:noAutofit/>
          </a:bodyPr>
          <a:lstStyle/>
          <a:p>
            <a:pPr algn="l">
              <a:lnSpc>
                <a:spcPct val="100000"/>
              </a:lnSpc>
              <a:spcAft>
                <a:spcPts val="0"/>
              </a:spcAft>
            </a:pPr>
            <a:r>
              <a:rPr sz="2000" spc="250" b="1">
                <a:solidFill>
                  <a:srgbClr val="4E4A76"/>
                </a:solidFill>
                <a:latin typeface="Calibri"/>
              </a:rPr>
              <a:t>BOOKLET RULE</a:t>
            </a:r>
          </a:p>
        </p:txBody>
      </p:sp>
      <p:sp>
        <p:nvSpPr>
          <p:cNvPr id="16" name="TextBox 15"/>
          <p:cNvSpPr txBox="1"/>
          <p:nvPr/>
        </p:nvSpPr>
        <p:spPr>
          <a:xfrm>
            <a:off x="5257800" y="2743200"/>
            <a:ext cx="4572000" cy="411480"/>
          </a:xfrm>
          <a:prstGeom prst="rect">
            <a:avLst/>
          </a:prstGeom>
          <a:noFill/>
        </p:spPr>
        <p:txBody>
          <a:bodyPr wrap="square" lIns="0" rIns="0" tIns="0" bIns="0" anchor="t">
            <a:noAutofit/>
          </a:bodyPr>
          <a:lstStyle/>
          <a:p>
            <a:pPr algn="l">
              <a:lnSpc>
                <a:spcPct val="100000"/>
              </a:lnSpc>
              <a:spcAft>
                <a:spcPts val="0"/>
              </a:spcAft>
            </a:pPr>
            <a:r>
              <a:rPr sz="2000" spc="250" b="1">
                <a:solidFill>
                  <a:srgbClr val="4E4A76"/>
                </a:solidFill>
                <a:latin typeface="Calibri"/>
              </a:rPr>
              <a:t>EVIDENCE</a:t>
            </a:r>
          </a:p>
        </p:txBody>
      </p:sp>
      <p:sp>
        <p:nvSpPr>
          <p:cNvPr id="17" name="Rounded Rectangle 16"/>
          <p:cNvSpPr/>
          <p:nvPr/>
        </p:nvSpPr>
        <p:spPr>
          <a:xfrm>
            <a:off x="822960" y="3246120"/>
            <a:ext cx="9052560" cy="841248"/>
          </a:xfrm>
          <a:prstGeom prst="roundRect">
            <a:avLst>
              <a:gd name="adj" fmla="val 15217"/>
            </a:avLst>
          </a:prstGeom>
          <a:solidFill>
            <a:srgbClr val="FFFFFF"/>
          </a:solidFill>
          <a:ln w="19050">
            <a:solidFill>
              <a:srgbClr val="E6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05840" y="3246120"/>
            <a:ext cx="457200" cy="841248"/>
          </a:xfrm>
          <a:prstGeom prst="rect">
            <a:avLst/>
          </a:prstGeom>
          <a:noFill/>
        </p:spPr>
        <p:txBody>
          <a:bodyPr wrap="square" lIns="0" rIns="0" tIns="0" bIns="0" anchor="ctr">
            <a:noAutofit/>
          </a:bodyPr>
          <a:lstStyle/>
          <a:p>
            <a:pPr algn="l">
              <a:lnSpc>
                <a:spcPct val="100000"/>
              </a:lnSpc>
              <a:spcAft>
                <a:spcPts val="0"/>
              </a:spcAft>
            </a:pPr>
            <a:r>
              <a:rPr sz="2600" b="1">
                <a:solidFill>
                  <a:srgbClr val="0B7A5B"/>
                </a:solidFill>
                <a:latin typeface="Segoe UI Symbol"/>
              </a:rPr>
              <a:t>✓</a:t>
            </a:r>
          </a:p>
        </p:txBody>
      </p:sp>
      <p:sp>
        <p:nvSpPr>
          <p:cNvPr id="19" name="TextBox 18"/>
          <p:cNvSpPr txBox="1"/>
          <p:nvPr/>
        </p:nvSpPr>
        <p:spPr>
          <a:xfrm>
            <a:off x="1600200" y="3246120"/>
            <a:ext cx="3566160" cy="841248"/>
          </a:xfrm>
          <a:prstGeom prst="rect">
            <a:avLst/>
          </a:prstGeom>
          <a:noFill/>
        </p:spPr>
        <p:txBody>
          <a:bodyPr wrap="square" lIns="0" rIns="0" tIns="0" bIns="0" anchor="ctr">
            <a:noAutofit/>
          </a:bodyPr>
          <a:lstStyle/>
          <a:p>
            <a:pPr algn="l">
              <a:lnSpc>
                <a:spcPct val="100000"/>
              </a:lnSpc>
              <a:spcAft>
                <a:spcPts val="0"/>
              </a:spcAft>
            </a:pPr>
            <a:r>
              <a:rPr sz="2480" b="1">
                <a:solidFill>
                  <a:srgbClr val="172243"/>
                </a:solidFill>
                <a:latin typeface="Heading Now 31-38 Bold"/>
              </a:rPr>
              <a:t>Working MVP, testable live</a:t>
            </a:r>
          </a:p>
        </p:txBody>
      </p:sp>
      <p:sp>
        <p:nvSpPr>
          <p:cNvPr id="20" name="TextBox 19"/>
          <p:cNvSpPr txBox="1"/>
          <p:nvPr/>
        </p:nvSpPr>
        <p:spPr>
          <a:xfrm>
            <a:off x="5257800" y="3246120"/>
            <a:ext cx="4526280" cy="841248"/>
          </a:xfrm>
          <a:prstGeom prst="rect">
            <a:avLst/>
          </a:prstGeom>
          <a:noFill/>
        </p:spPr>
        <p:txBody>
          <a:bodyPr wrap="square" lIns="0" rIns="0" tIns="0" bIns="0" anchor="ctr">
            <a:noAutofit/>
          </a:bodyPr>
          <a:lstStyle/>
          <a:p>
            <a:pPr algn="l">
              <a:lnSpc>
                <a:spcPct val="100000"/>
              </a:lnSpc>
              <a:spcAft>
                <a:spcPts val="0"/>
              </a:spcAft>
            </a:pPr>
            <a:r>
              <a:rPr sz="1900">
                <a:solidFill>
                  <a:srgbClr val="161F3E"/>
                </a:solidFill>
                <a:latin typeface="Calibri"/>
              </a:rPr>
              <a:t>npm run dev: studio, vault, Attack Lab</a:t>
            </a:r>
          </a:p>
        </p:txBody>
      </p:sp>
      <p:sp>
        <p:nvSpPr>
          <p:cNvPr id="21" name="Rounded Rectangle 20"/>
          <p:cNvSpPr/>
          <p:nvPr/>
        </p:nvSpPr>
        <p:spPr>
          <a:xfrm>
            <a:off x="822960" y="4206240"/>
            <a:ext cx="9052560" cy="841248"/>
          </a:xfrm>
          <a:prstGeom prst="roundRect">
            <a:avLst>
              <a:gd name="adj" fmla="val 15217"/>
            </a:avLst>
          </a:prstGeom>
          <a:solidFill>
            <a:srgbClr val="FFFFFF"/>
          </a:solidFill>
          <a:ln w="19050">
            <a:solidFill>
              <a:srgbClr val="E6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05840" y="4206240"/>
            <a:ext cx="457200" cy="841248"/>
          </a:xfrm>
          <a:prstGeom prst="rect">
            <a:avLst/>
          </a:prstGeom>
          <a:noFill/>
        </p:spPr>
        <p:txBody>
          <a:bodyPr wrap="square" lIns="0" rIns="0" tIns="0" bIns="0" anchor="ctr">
            <a:noAutofit/>
          </a:bodyPr>
          <a:lstStyle/>
          <a:p>
            <a:pPr algn="l">
              <a:lnSpc>
                <a:spcPct val="100000"/>
              </a:lnSpc>
              <a:spcAft>
                <a:spcPts val="0"/>
              </a:spcAft>
            </a:pPr>
            <a:r>
              <a:rPr sz="2600" b="1">
                <a:solidFill>
                  <a:srgbClr val="0B7A5B"/>
                </a:solidFill>
                <a:latin typeface="Segoe UI Symbol"/>
              </a:rPr>
              <a:t>✓</a:t>
            </a:r>
          </a:p>
        </p:txBody>
      </p:sp>
      <p:sp>
        <p:nvSpPr>
          <p:cNvPr id="23" name="TextBox 22"/>
          <p:cNvSpPr txBox="1"/>
          <p:nvPr/>
        </p:nvSpPr>
        <p:spPr>
          <a:xfrm>
            <a:off x="1600200" y="4206240"/>
            <a:ext cx="3566160" cy="841248"/>
          </a:xfrm>
          <a:prstGeom prst="rect">
            <a:avLst/>
          </a:prstGeom>
          <a:noFill/>
        </p:spPr>
        <p:txBody>
          <a:bodyPr wrap="square" lIns="0" rIns="0" tIns="0" bIns="0" anchor="ctr">
            <a:noAutofit/>
          </a:bodyPr>
          <a:lstStyle/>
          <a:p>
            <a:pPr algn="l">
              <a:lnSpc>
                <a:spcPct val="100000"/>
              </a:lnSpc>
              <a:spcAft>
                <a:spcPts val="0"/>
              </a:spcAft>
            </a:pPr>
            <a:r>
              <a:rPr sz="2480" b="1">
                <a:solidFill>
                  <a:srgbClr val="172243"/>
                </a:solidFill>
                <a:latin typeface="Heading Now 31-38 Bold"/>
              </a:rPr>
              <a:t>Reproducible live testing</a:t>
            </a:r>
          </a:p>
        </p:txBody>
      </p:sp>
      <p:sp>
        <p:nvSpPr>
          <p:cNvPr id="24" name="TextBox 23"/>
          <p:cNvSpPr txBox="1"/>
          <p:nvPr/>
        </p:nvSpPr>
        <p:spPr>
          <a:xfrm>
            <a:off x="5257800" y="4206240"/>
            <a:ext cx="4526280" cy="841248"/>
          </a:xfrm>
          <a:prstGeom prst="rect">
            <a:avLst/>
          </a:prstGeom>
          <a:noFill/>
        </p:spPr>
        <p:txBody>
          <a:bodyPr wrap="square" lIns="0" rIns="0" tIns="0" bIns="0" anchor="ctr">
            <a:noAutofit/>
          </a:bodyPr>
          <a:lstStyle/>
          <a:p>
            <a:pPr algn="l">
              <a:lnSpc>
                <a:spcPct val="100000"/>
              </a:lnSpc>
              <a:spcAft>
                <a:spcPts val="0"/>
              </a:spcAft>
            </a:pPr>
            <a:r>
              <a:rPr sz="1900">
                <a:solidFill>
                  <a:srgbClr val="161F3E"/>
                </a:solidFill>
                <a:latin typeface="Calibri"/>
              </a:rPr>
              <a:t>demo:reset, a seeded vault, 383 tests</a:t>
            </a:r>
          </a:p>
        </p:txBody>
      </p:sp>
      <p:sp>
        <p:nvSpPr>
          <p:cNvPr id="25" name="Rounded Rectangle 24"/>
          <p:cNvSpPr/>
          <p:nvPr/>
        </p:nvSpPr>
        <p:spPr>
          <a:xfrm>
            <a:off x="822960" y="5166360"/>
            <a:ext cx="9052560" cy="841248"/>
          </a:xfrm>
          <a:prstGeom prst="roundRect">
            <a:avLst>
              <a:gd name="adj" fmla="val 15217"/>
            </a:avLst>
          </a:prstGeom>
          <a:solidFill>
            <a:srgbClr val="FFFFFF"/>
          </a:solidFill>
          <a:ln w="19050">
            <a:solidFill>
              <a:srgbClr val="E6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05840" y="5166360"/>
            <a:ext cx="457200" cy="841248"/>
          </a:xfrm>
          <a:prstGeom prst="rect">
            <a:avLst/>
          </a:prstGeom>
          <a:noFill/>
        </p:spPr>
        <p:txBody>
          <a:bodyPr wrap="square" lIns="0" rIns="0" tIns="0" bIns="0" anchor="ctr">
            <a:noAutofit/>
          </a:bodyPr>
          <a:lstStyle/>
          <a:p>
            <a:pPr algn="l">
              <a:lnSpc>
                <a:spcPct val="100000"/>
              </a:lnSpc>
              <a:spcAft>
                <a:spcPts val="0"/>
              </a:spcAft>
            </a:pPr>
            <a:r>
              <a:rPr sz="2600" b="1">
                <a:solidFill>
                  <a:srgbClr val="0B7A5B"/>
                </a:solidFill>
                <a:latin typeface="Segoe UI Symbol"/>
              </a:rPr>
              <a:t>✓</a:t>
            </a:r>
          </a:p>
        </p:txBody>
      </p:sp>
      <p:sp>
        <p:nvSpPr>
          <p:cNvPr id="27" name="TextBox 26"/>
          <p:cNvSpPr txBox="1"/>
          <p:nvPr/>
        </p:nvSpPr>
        <p:spPr>
          <a:xfrm>
            <a:off x="1600200" y="5166360"/>
            <a:ext cx="3566160" cy="841248"/>
          </a:xfrm>
          <a:prstGeom prst="rect">
            <a:avLst/>
          </a:prstGeom>
          <a:noFill/>
        </p:spPr>
        <p:txBody>
          <a:bodyPr wrap="square" lIns="0" rIns="0" tIns="0" bIns="0" anchor="ctr">
            <a:noAutofit/>
          </a:bodyPr>
          <a:lstStyle/>
          <a:p>
            <a:pPr algn="l">
              <a:lnSpc>
                <a:spcPct val="100000"/>
              </a:lnSpc>
              <a:spcAft>
                <a:spcPts val="0"/>
              </a:spcAft>
            </a:pPr>
            <a:r>
              <a:rPr sz="2480" b="1">
                <a:solidFill>
                  <a:srgbClr val="172243"/>
                </a:solidFill>
                <a:latin typeface="Heading Now 31-38 Bold"/>
              </a:rPr>
              <a:t>AI used meaningfully</a:t>
            </a:r>
          </a:p>
        </p:txBody>
      </p:sp>
      <p:sp>
        <p:nvSpPr>
          <p:cNvPr id="28" name="TextBox 27"/>
          <p:cNvSpPr txBox="1"/>
          <p:nvPr/>
        </p:nvSpPr>
        <p:spPr>
          <a:xfrm>
            <a:off x="5257800" y="5166360"/>
            <a:ext cx="4526280" cy="841248"/>
          </a:xfrm>
          <a:prstGeom prst="rect">
            <a:avLst/>
          </a:prstGeom>
          <a:noFill/>
        </p:spPr>
        <p:txBody>
          <a:bodyPr wrap="square" lIns="0" rIns="0" tIns="0" bIns="0" anchor="ctr">
            <a:noAutofit/>
          </a:bodyPr>
          <a:lstStyle/>
          <a:p>
            <a:pPr algn="l">
              <a:lnSpc>
                <a:spcPct val="100000"/>
              </a:lnSpc>
              <a:spcAft>
                <a:spcPts val="0"/>
              </a:spcAft>
            </a:pPr>
            <a:r>
              <a:rPr sz="1900">
                <a:solidFill>
                  <a:srgbClr val="161F3E"/>
                </a:solidFill>
                <a:latin typeface="Calibri"/>
              </a:rPr>
              <a:t>extracts milestones, flags ambiguity</a:t>
            </a:r>
          </a:p>
        </p:txBody>
      </p:sp>
      <p:sp>
        <p:nvSpPr>
          <p:cNvPr id="29" name="Rounded Rectangle 28"/>
          <p:cNvSpPr/>
          <p:nvPr/>
        </p:nvSpPr>
        <p:spPr>
          <a:xfrm>
            <a:off x="822960" y="6126480"/>
            <a:ext cx="9052560" cy="841248"/>
          </a:xfrm>
          <a:prstGeom prst="roundRect">
            <a:avLst>
              <a:gd name="adj" fmla="val 15217"/>
            </a:avLst>
          </a:prstGeom>
          <a:solidFill>
            <a:srgbClr val="FFFFFF"/>
          </a:solidFill>
          <a:ln w="19050">
            <a:solidFill>
              <a:srgbClr val="E6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05840" y="6126480"/>
            <a:ext cx="457200" cy="841248"/>
          </a:xfrm>
          <a:prstGeom prst="rect">
            <a:avLst/>
          </a:prstGeom>
          <a:noFill/>
        </p:spPr>
        <p:txBody>
          <a:bodyPr wrap="square" lIns="0" rIns="0" tIns="0" bIns="0" anchor="ctr">
            <a:noAutofit/>
          </a:bodyPr>
          <a:lstStyle/>
          <a:p>
            <a:pPr algn="l">
              <a:lnSpc>
                <a:spcPct val="100000"/>
              </a:lnSpc>
              <a:spcAft>
                <a:spcPts val="0"/>
              </a:spcAft>
            </a:pPr>
            <a:r>
              <a:rPr sz="2600" b="1">
                <a:solidFill>
                  <a:srgbClr val="0B7A5B"/>
                </a:solidFill>
                <a:latin typeface="Segoe UI Symbol"/>
              </a:rPr>
              <a:t>✓</a:t>
            </a:r>
          </a:p>
        </p:txBody>
      </p:sp>
      <p:sp>
        <p:nvSpPr>
          <p:cNvPr id="31" name="TextBox 30"/>
          <p:cNvSpPr txBox="1"/>
          <p:nvPr/>
        </p:nvSpPr>
        <p:spPr>
          <a:xfrm>
            <a:off x="1600200" y="6126480"/>
            <a:ext cx="3566160" cy="841248"/>
          </a:xfrm>
          <a:prstGeom prst="rect">
            <a:avLst/>
          </a:prstGeom>
          <a:noFill/>
        </p:spPr>
        <p:txBody>
          <a:bodyPr wrap="square" lIns="0" rIns="0" tIns="0" bIns="0" anchor="ctr">
            <a:noAutofit/>
          </a:bodyPr>
          <a:lstStyle/>
          <a:p>
            <a:pPr algn="l">
              <a:lnSpc>
                <a:spcPct val="100000"/>
              </a:lnSpc>
              <a:spcAft>
                <a:spcPts val="0"/>
              </a:spcAft>
            </a:pPr>
            <a:r>
              <a:rPr sz="2480" b="1">
                <a:solidFill>
                  <a:srgbClr val="172243"/>
                </a:solidFill>
                <a:latin typeface="Heading Now 31-38 Bold"/>
              </a:rPr>
              <a:t>Checkable rules decide</a:t>
            </a:r>
          </a:p>
        </p:txBody>
      </p:sp>
      <p:sp>
        <p:nvSpPr>
          <p:cNvPr id="32" name="TextBox 31"/>
          <p:cNvSpPr txBox="1"/>
          <p:nvPr/>
        </p:nvSpPr>
        <p:spPr>
          <a:xfrm>
            <a:off x="5257800" y="6126480"/>
            <a:ext cx="4526280" cy="841248"/>
          </a:xfrm>
          <a:prstGeom prst="rect">
            <a:avLst/>
          </a:prstGeom>
          <a:noFill/>
        </p:spPr>
        <p:txBody>
          <a:bodyPr wrap="square" lIns="0" rIns="0" tIns="0" bIns="0" anchor="ctr">
            <a:noAutofit/>
          </a:bodyPr>
          <a:lstStyle/>
          <a:p>
            <a:pPr algn="l">
              <a:lnSpc>
                <a:spcPct val="100000"/>
              </a:lnSpc>
              <a:spcAft>
                <a:spcPts val="0"/>
              </a:spcAft>
            </a:pPr>
            <a:r>
              <a:rPr sz="1900">
                <a:solidFill>
                  <a:srgbClr val="161F3E"/>
                </a:solidFill>
                <a:latin typeface="Calibri"/>
              </a:rPr>
              <a:t>validator and Solidity; AI never overrides</a:t>
            </a:r>
          </a:p>
        </p:txBody>
      </p:sp>
      <p:sp>
        <p:nvSpPr>
          <p:cNvPr id="33" name="Rounded Rectangle 32"/>
          <p:cNvSpPr/>
          <p:nvPr/>
        </p:nvSpPr>
        <p:spPr>
          <a:xfrm>
            <a:off x="822960" y="7086600"/>
            <a:ext cx="9052560" cy="841248"/>
          </a:xfrm>
          <a:prstGeom prst="roundRect">
            <a:avLst>
              <a:gd name="adj" fmla="val 15217"/>
            </a:avLst>
          </a:prstGeom>
          <a:solidFill>
            <a:srgbClr val="FFFFFF"/>
          </a:solidFill>
          <a:ln w="19050">
            <a:solidFill>
              <a:srgbClr val="E6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05840" y="7086600"/>
            <a:ext cx="457200" cy="841248"/>
          </a:xfrm>
          <a:prstGeom prst="rect">
            <a:avLst/>
          </a:prstGeom>
          <a:noFill/>
        </p:spPr>
        <p:txBody>
          <a:bodyPr wrap="square" lIns="0" rIns="0" tIns="0" bIns="0" anchor="ctr">
            <a:noAutofit/>
          </a:bodyPr>
          <a:lstStyle/>
          <a:p>
            <a:pPr algn="l">
              <a:lnSpc>
                <a:spcPct val="100000"/>
              </a:lnSpc>
              <a:spcAft>
                <a:spcPts val="0"/>
              </a:spcAft>
            </a:pPr>
            <a:r>
              <a:rPr sz="2600" b="1">
                <a:solidFill>
                  <a:srgbClr val="0B7A5B"/>
                </a:solidFill>
                <a:latin typeface="Segoe UI Symbol"/>
              </a:rPr>
              <a:t>✓</a:t>
            </a:r>
          </a:p>
        </p:txBody>
      </p:sp>
      <p:sp>
        <p:nvSpPr>
          <p:cNvPr id="35" name="TextBox 34"/>
          <p:cNvSpPr txBox="1"/>
          <p:nvPr/>
        </p:nvSpPr>
        <p:spPr>
          <a:xfrm>
            <a:off x="1600200" y="7086600"/>
            <a:ext cx="3566160" cy="841248"/>
          </a:xfrm>
          <a:prstGeom prst="rect">
            <a:avLst/>
          </a:prstGeom>
          <a:noFill/>
        </p:spPr>
        <p:txBody>
          <a:bodyPr wrap="square" lIns="0" rIns="0" tIns="0" bIns="0" anchor="ctr">
            <a:noAutofit/>
          </a:bodyPr>
          <a:lstStyle/>
          <a:p>
            <a:pPr algn="l">
              <a:lnSpc>
                <a:spcPct val="100000"/>
              </a:lnSpc>
              <a:spcAft>
                <a:spcPts val="0"/>
              </a:spcAft>
            </a:pPr>
            <a:r>
              <a:rPr sz="2480" b="1">
                <a:solidFill>
                  <a:srgbClr val="172243"/>
                </a:solidFill>
                <a:latin typeface="Heading Now 31-38 Bold"/>
              </a:rPr>
              <a:t>Fictional data only</a:t>
            </a:r>
          </a:p>
        </p:txBody>
      </p:sp>
      <p:sp>
        <p:nvSpPr>
          <p:cNvPr id="36" name="TextBox 35"/>
          <p:cNvSpPr txBox="1"/>
          <p:nvPr/>
        </p:nvSpPr>
        <p:spPr>
          <a:xfrm>
            <a:off x="5257800" y="7086600"/>
            <a:ext cx="4526280" cy="841248"/>
          </a:xfrm>
          <a:prstGeom prst="rect">
            <a:avLst/>
          </a:prstGeom>
          <a:noFill/>
        </p:spPr>
        <p:txBody>
          <a:bodyPr wrap="square" lIns="0" rIns="0" tIns="0" bIns="0" anchor="ctr">
            <a:noAutofit/>
          </a:bodyPr>
          <a:lstStyle/>
          <a:p>
            <a:pPr algn="l">
              <a:lnSpc>
                <a:spcPct val="100000"/>
              </a:lnSpc>
              <a:spcAft>
                <a:spcPts val="0"/>
              </a:spcAft>
            </a:pPr>
            <a:r>
              <a:rPr sz="1900">
                <a:solidFill>
                  <a:srgbClr val="161F3E"/>
                </a:solidFill>
                <a:latin typeface="Calibri"/>
              </a:rPr>
              <a:t>invented agreements, test ETH, local chain</a:t>
            </a:r>
          </a:p>
        </p:txBody>
      </p:sp>
      <p:sp>
        <p:nvSpPr>
          <p:cNvPr id="37" name="Rounded Rectangle 36"/>
          <p:cNvSpPr/>
          <p:nvPr/>
        </p:nvSpPr>
        <p:spPr>
          <a:xfrm>
            <a:off x="822960" y="8046720"/>
            <a:ext cx="9052560" cy="841248"/>
          </a:xfrm>
          <a:prstGeom prst="roundRect">
            <a:avLst>
              <a:gd name="adj" fmla="val 15217"/>
            </a:avLst>
          </a:prstGeom>
          <a:solidFill>
            <a:srgbClr val="FFFFFF"/>
          </a:solidFill>
          <a:ln w="19050">
            <a:solidFill>
              <a:srgbClr val="E6DC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05840" y="8046720"/>
            <a:ext cx="457200" cy="841248"/>
          </a:xfrm>
          <a:prstGeom prst="rect">
            <a:avLst/>
          </a:prstGeom>
          <a:noFill/>
        </p:spPr>
        <p:txBody>
          <a:bodyPr wrap="square" lIns="0" rIns="0" tIns="0" bIns="0" anchor="ctr">
            <a:noAutofit/>
          </a:bodyPr>
          <a:lstStyle/>
          <a:p>
            <a:pPr algn="l">
              <a:lnSpc>
                <a:spcPct val="100000"/>
              </a:lnSpc>
              <a:spcAft>
                <a:spcPts val="0"/>
              </a:spcAft>
            </a:pPr>
            <a:r>
              <a:rPr sz="2600" b="1">
                <a:solidFill>
                  <a:srgbClr val="0B7A5B"/>
                </a:solidFill>
                <a:latin typeface="Segoe UI Symbol"/>
              </a:rPr>
              <a:t>✓</a:t>
            </a:r>
          </a:p>
        </p:txBody>
      </p:sp>
      <p:sp>
        <p:nvSpPr>
          <p:cNvPr id="39" name="TextBox 38"/>
          <p:cNvSpPr txBox="1"/>
          <p:nvPr/>
        </p:nvSpPr>
        <p:spPr>
          <a:xfrm>
            <a:off x="1600200" y="8046720"/>
            <a:ext cx="3566160" cy="841248"/>
          </a:xfrm>
          <a:prstGeom prst="rect">
            <a:avLst/>
          </a:prstGeom>
          <a:noFill/>
        </p:spPr>
        <p:txBody>
          <a:bodyPr wrap="square" lIns="0" rIns="0" tIns="0" bIns="0" anchor="ctr">
            <a:noAutofit/>
          </a:bodyPr>
          <a:lstStyle/>
          <a:p>
            <a:pPr algn="l">
              <a:lnSpc>
                <a:spcPct val="100000"/>
              </a:lnSpc>
              <a:spcAft>
                <a:spcPts val="0"/>
              </a:spcAft>
            </a:pPr>
            <a:r>
              <a:rPr sz="2480" b="1">
                <a:solidFill>
                  <a:srgbClr val="172243"/>
                </a:solidFill>
                <a:latin typeface="Heading Now 31-38 Bold"/>
              </a:rPr>
              <a:t>Local fallback</a:t>
            </a:r>
          </a:p>
        </p:txBody>
      </p:sp>
      <p:sp>
        <p:nvSpPr>
          <p:cNvPr id="40" name="TextBox 39"/>
          <p:cNvSpPr txBox="1"/>
          <p:nvPr/>
        </p:nvSpPr>
        <p:spPr>
          <a:xfrm>
            <a:off x="5257800" y="8046720"/>
            <a:ext cx="4526280" cy="841248"/>
          </a:xfrm>
          <a:prstGeom prst="rect">
            <a:avLst/>
          </a:prstGeom>
          <a:noFill/>
        </p:spPr>
        <p:txBody>
          <a:bodyPr wrap="square" lIns="0" rIns="0" tIns="0" bIns="0" anchor="ctr">
            <a:noAutofit/>
          </a:bodyPr>
          <a:lstStyle/>
          <a:p>
            <a:pPr algn="l">
              <a:lnSpc>
                <a:spcPct val="100000"/>
              </a:lnSpc>
              <a:spcAft>
                <a:spcPts val="0"/>
              </a:spcAft>
            </a:pPr>
            <a:r>
              <a:rPr sz="1900">
                <a:solidFill>
                  <a:srgbClr val="161F3E"/>
                </a:solidFill>
                <a:latin typeface="Calibri"/>
              </a:rPr>
              <a:t>rules extractor and local chain, Wi-Fi off</a:t>
            </a:r>
          </a:p>
        </p:txBody>
      </p:sp>
      <p:sp>
        <p:nvSpPr>
          <p:cNvPr id="41" name="Rounded Rectangle 40"/>
          <p:cNvSpPr/>
          <p:nvPr/>
        </p:nvSpPr>
        <p:spPr>
          <a:xfrm>
            <a:off x="10149840" y="2743200"/>
            <a:ext cx="2834640" cy="2331720"/>
          </a:xfrm>
          <a:prstGeom prst="roundRect">
            <a:avLst>
              <a:gd name="adj" fmla="val 7843"/>
            </a:avLst>
          </a:prstGeom>
          <a:solidFill>
            <a:srgbClr val="172243"/>
          </a:solidFill>
          <a:ln>
            <a:no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0149840" y="2926080"/>
            <a:ext cx="2834640" cy="1188720"/>
          </a:xfrm>
          <a:prstGeom prst="rect">
            <a:avLst/>
          </a:prstGeom>
          <a:noFill/>
        </p:spPr>
        <p:txBody>
          <a:bodyPr wrap="square" lIns="0" rIns="0" tIns="0" bIns="0" anchor="ctr">
            <a:noAutofit/>
          </a:bodyPr>
          <a:lstStyle/>
          <a:p>
            <a:pPr algn="ctr">
              <a:lnSpc>
                <a:spcPct val="100000"/>
              </a:lnSpc>
              <a:spcAft>
                <a:spcPts val="0"/>
              </a:spcAft>
            </a:pPr>
            <a:r>
              <a:rPr sz="5800">
                <a:solidFill>
                  <a:srgbClr val="FAD3AE"/>
                </a:solidFill>
                <a:latin typeface="Impact"/>
              </a:rPr>
              <a:t>138</a:t>
            </a:r>
          </a:p>
        </p:txBody>
      </p:sp>
      <p:sp>
        <p:nvSpPr>
          <p:cNvPr id="43" name="TextBox 42"/>
          <p:cNvSpPr txBox="1"/>
          <p:nvPr/>
        </p:nvSpPr>
        <p:spPr>
          <a:xfrm>
            <a:off x="10332719" y="4160520"/>
            <a:ext cx="2468880" cy="822960"/>
          </a:xfrm>
          <a:prstGeom prst="rect">
            <a:avLst/>
          </a:prstGeom>
          <a:noFill/>
        </p:spPr>
        <p:txBody>
          <a:bodyPr wrap="square" lIns="0" rIns="0" tIns="0" bIns="0" anchor="t">
            <a:noAutofit/>
          </a:bodyPr>
          <a:lstStyle/>
          <a:p>
            <a:pPr algn="ctr">
              <a:lnSpc>
                <a:spcPct val="100000"/>
              </a:lnSpc>
              <a:spcAft>
                <a:spcPts val="0"/>
              </a:spcAft>
            </a:pPr>
            <a:r>
              <a:rPr sz="1900">
                <a:solidFill>
                  <a:srgbClr val="FFFFFF"/>
                </a:solidFill>
                <a:latin typeface="Calibri"/>
              </a:rPr>
              <a:t>contract tests passing</a:t>
            </a:r>
          </a:p>
        </p:txBody>
      </p:sp>
      <p:sp>
        <p:nvSpPr>
          <p:cNvPr id="44" name="Rounded Rectangle 43"/>
          <p:cNvSpPr/>
          <p:nvPr/>
        </p:nvSpPr>
        <p:spPr>
          <a:xfrm>
            <a:off x="13167359" y="2743200"/>
            <a:ext cx="2834640" cy="2331720"/>
          </a:xfrm>
          <a:prstGeom prst="roundRect">
            <a:avLst>
              <a:gd name="adj" fmla="val 7843"/>
            </a:avLst>
          </a:prstGeom>
          <a:solidFill>
            <a:srgbClr val="172243"/>
          </a:solidFill>
          <a:ln>
            <a:no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3167359" y="2926080"/>
            <a:ext cx="2834640" cy="1188720"/>
          </a:xfrm>
          <a:prstGeom prst="rect">
            <a:avLst/>
          </a:prstGeom>
          <a:noFill/>
        </p:spPr>
        <p:txBody>
          <a:bodyPr wrap="square" lIns="0" rIns="0" tIns="0" bIns="0" anchor="ctr">
            <a:noAutofit/>
          </a:bodyPr>
          <a:lstStyle/>
          <a:p>
            <a:pPr algn="ctr">
              <a:lnSpc>
                <a:spcPct val="100000"/>
              </a:lnSpc>
              <a:spcAft>
                <a:spcPts val="0"/>
              </a:spcAft>
            </a:pPr>
            <a:r>
              <a:rPr sz="5800">
                <a:solidFill>
                  <a:srgbClr val="FAD3AE"/>
                </a:solidFill>
                <a:latin typeface="Impact"/>
              </a:rPr>
              <a:t>100%</a:t>
            </a:r>
          </a:p>
        </p:txBody>
      </p:sp>
      <p:sp>
        <p:nvSpPr>
          <p:cNvPr id="46" name="TextBox 45"/>
          <p:cNvSpPr txBox="1"/>
          <p:nvPr/>
        </p:nvSpPr>
        <p:spPr>
          <a:xfrm>
            <a:off x="13350239" y="4160520"/>
            <a:ext cx="2468880" cy="822960"/>
          </a:xfrm>
          <a:prstGeom prst="rect">
            <a:avLst/>
          </a:prstGeom>
          <a:noFill/>
        </p:spPr>
        <p:txBody>
          <a:bodyPr wrap="square" lIns="0" rIns="0" tIns="0" bIns="0" anchor="t">
            <a:noAutofit/>
          </a:bodyPr>
          <a:lstStyle/>
          <a:p>
            <a:pPr algn="ctr">
              <a:lnSpc>
                <a:spcPct val="100000"/>
              </a:lnSpc>
              <a:spcAft>
                <a:spcPts val="0"/>
              </a:spcAft>
            </a:pPr>
            <a:r>
              <a:rPr sz="1900">
                <a:solidFill>
                  <a:srgbClr val="FFFFFF"/>
                </a:solidFill>
                <a:latin typeface="Calibri"/>
              </a:rPr>
              <a:t>line coverage of the escrow</a:t>
            </a:r>
          </a:p>
        </p:txBody>
      </p:sp>
      <p:sp>
        <p:nvSpPr>
          <p:cNvPr id="47" name="Rounded Rectangle 46"/>
          <p:cNvSpPr/>
          <p:nvPr/>
        </p:nvSpPr>
        <p:spPr>
          <a:xfrm>
            <a:off x="10149840" y="5257800"/>
            <a:ext cx="2834640" cy="2331720"/>
          </a:xfrm>
          <a:prstGeom prst="roundRect">
            <a:avLst>
              <a:gd name="adj" fmla="val 7843"/>
            </a:avLst>
          </a:prstGeom>
          <a:solidFill>
            <a:srgbClr val="172243"/>
          </a:solidFill>
          <a:ln>
            <a:no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0149840" y="5440680"/>
            <a:ext cx="2834640" cy="1188720"/>
          </a:xfrm>
          <a:prstGeom prst="rect">
            <a:avLst/>
          </a:prstGeom>
          <a:noFill/>
        </p:spPr>
        <p:txBody>
          <a:bodyPr wrap="square" lIns="0" rIns="0" tIns="0" bIns="0" anchor="ctr">
            <a:noAutofit/>
          </a:bodyPr>
          <a:lstStyle/>
          <a:p>
            <a:pPr algn="ctr">
              <a:lnSpc>
                <a:spcPct val="100000"/>
              </a:lnSpc>
              <a:spcAft>
                <a:spcPts val="0"/>
              </a:spcAft>
            </a:pPr>
            <a:r>
              <a:rPr sz="5800">
                <a:solidFill>
                  <a:srgbClr val="FAD3AE"/>
                </a:solidFill>
                <a:latin typeface="Impact"/>
              </a:rPr>
              <a:t>1,000</a:t>
            </a:r>
          </a:p>
        </p:txBody>
      </p:sp>
      <p:sp>
        <p:nvSpPr>
          <p:cNvPr id="49" name="TextBox 48"/>
          <p:cNvSpPr txBox="1"/>
          <p:nvPr/>
        </p:nvSpPr>
        <p:spPr>
          <a:xfrm>
            <a:off x="10332719" y="6675120"/>
            <a:ext cx="2468880" cy="822960"/>
          </a:xfrm>
          <a:prstGeom prst="rect">
            <a:avLst/>
          </a:prstGeom>
          <a:noFill/>
        </p:spPr>
        <p:txBody>
          <a:bodyPr wrap="square" lIns="0" rIns="0" tIns="0" bIns="0" anchor="t">
            <a:noAutofit/>
          </a:bodyPr>
          <a:lstStyle/>
          <a:p>
            <a:pPr algn="ctr">
              <a:lnSpc>
                <a:spcPct val="100000"/>
              </a:lnSpc>
              <a:spcAft>
                <a:spcPts val="0"/>
              </a:spcAft>
            </a:pPr>
            <a:r>
              <a:rPr sz="1900">
                <a:solidFill>
                  <a:srgbClr val="FFFFFF"/>
                </a:solidFill>
                <a:latin typeface="Calibri"/>
              </a:rPr>
              <a:t>fuzz steps, 8 invariants</a:t>
            </a:r>
          </a:p>
        </p:txBody>
      </p:sp>
      <p:sp>
        <p:nvSpPr>
          <p:cNvPr id="50" name="Rounded Rectangle 49"/>
          <p:cNvSpPr/>
          <p:nvPr/>
        </p:nvSpPr>
        <p:spPr>
          <a:xfrm>
            <a:off x="13167359" y="5257800"/>
            <a:ext cx="2834640" cy="2331720"/>
          </a:xfrm>
          <a:prstGeom prst="roundRect">
            <a:avLst>
              <a:gd name="adj" fmla="val 7843"/>
            </a:avLst>
          </a:prstGeom>
          <a:solidFill>
            <a:srgbClr val="172243"/>
          </a:solidFill>
          <a:ln>
            <a:no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3167359" y="5440680"/>
            <a:ext cx="2834640" cy="1188720"/>
          </a:xfrm>
          <a:prstGeom prst="rect">
            <a:avLst/>
          </a:prstGeom>
          <a:noFill/>
        </p:spPr>
        <p:txBody>
          <a:bodyPr wrap="square" lIns="0" rIns="0" tIns="0" bIns="0" anchor="ctr">
            <a:noAutofit/>
          </a:bodyPr>
          <a:lstStyle/>
          <a:p>
            <a:pPr algn="ctr">
              <a:lnSpc>
                <a:spcPct val="100000"/>
              </a:lnSpc>
              <a:spcAft>
                <a:spcPts val="0"/>
              </a:spcAft>
            </a:pPr>
            <a:r>
              <a:rPr sz="5800">
                <a:solidFill>
                  <a:srgbClr val="FAD3AE"/>
                </a:solidFill>
                <a:latin typeface="Impact"/>
              </a:rPr>
              <a:t>12/12</a:t>
            </a:r>
          </a:p>
        </p:txBody>
      </p:sp>
      <p:sp>
        <p:nvSpPr>
          <p:cNvPr id="52" name="TextBox 51"/>
          <p:cNvSpPr txBox="1"/>
          <p:nvPr/>
        </p:nvSpPr>
        <p:spPr>
          <a:xfrm>
            <a:off x="13350239" y="6675120"/>
            <a:ext cx="2468880" cy="822960"/>
          </a:xfrm>
          <a:prstGeom prst="rect">
            <a:avLst/>
          </a:prstGeom>
          <a:noFill/>
        </p:spPr>
        <p:txBody>
          <a:bodyPr wrap="square" lIns="0" rIns="0" tIns="0" bIns="0" anchor="t">
            <a:noAutofit/>
          </a:bodyPr>
          <a:lstStyle/>
          <a:p>
            <a:pPr algn="ctr">
              <a:lnSpc>
                <a:spcPct val="100000"/>
              </a:lnSpc>
              <a:spcAft>
                <a:spcPts val="0"/>
              </a:spcAft>
            </a:pPr>
            <a:r>
              <a:rPr sz="1900">
                <a:solidFill>
                  <a:srgbClr val="FFFFFF"/>
                </a:solidFill>
                <a:latin typeface="Calibri"/>
              </a:rPr>
              <a:t>real attacks blocked</a:t>
            </a:r>
          </a:p>
        </p:txBody>
      </p:sp>
      <p:sp>
        <p:nvSpPr>
          <p:cNvPr id="53" name="Rounded Rectangle 52"/>
          <p:cNvSpPr/>
          <p:nvPr/>
        </p:nvSpPr>
        <p:spPr>
          <a:xfrm>
            <a:off x="10149840" y="7863840"/>
            <a:ext cx="5852160" cy="1783080"/>
          </a:xfrm>
          <a:prstGeom prst="roundRect">
            <a:avLst>
              <a:gd name="adj" fmla="val 7179"/>
            </a:avLst>
          </a:prstGeom>
          <a:solidFill>
            <a:srgbClr val="FDF9ED"/>
          </a:solidFill>
          <a:ln w="25400">
            <a:solidFill>
              <a:srgbClr val="17224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0424160" y="7863840"/>
            <a:ext cx="5394960" cy="1783080"/>
          </a:xfrm>
          <a:prstGeom prst="rect">
            <a:avLst/>
          </a:prstGeom>
          <a:noFill/>
        </p:spPr>
        <p:txBody>
          <a:bodyPr wrap="square" lIns="0" rIns="0" tIns="0" bIns="0" anchor="ctr">
            <a:noAutofit/>
          </a:bodyPr>
          <a:lstStyle/>
          <a:p>
            <a:pPr algn="l">
              <a:lnSpc>
                <a:spcPct val="100000"/>
              </a:lnSpc>
              <a:spcAft>
                <a:spcPts val="400"/>
              </a:spcAft>
            </a:pPr>
            <a:r>
              <a:rPr sz="1900">
                <a:solidFill>
                  <a:srgbClr val="4E4A76"/>
                </a:solidFill>
                <a:latin typeface="Consolas"/>
              </a:rPr>
              <a:t>$ </a:t>
            </a:r>
            <a:r>
              <a:rPr sz="1900">
                <a:solidFill>
                  <a:srgbClr val="172243"/>
                </a:solidFill>
                <a:latin typeface="Consolas"/>
              </a:rPr>
              <a:t>npm run dev</a:t>
            </a:r>
          </a:p>
          <a:p>
            <a:pPr algn="l">
              <a:lnSpc>
                <a:spcPct val="100000"/>
              </a:lnSpc>
              <a:spcAft>
                <a:spcPts val="400"/>
              </a:spcAft>
            </a:pPr>
            <a:r>
              <a:rPr sz="1900">
                <a:solidFill>
                  <a:srgbClr val="4E4A76"/>
                </a:solidFill>
                <a:latin typeface="Consolas"/>
              </a:rPr>
              <a:t>$ </a:t>
            </a:r>
            <a:r>
              <a:rPr sz="1900">
                <a:solidFill>
                  <a:srgbClr val="172243"/>
                </a:solidFill>
                <a:latin typeface="Consolas"/>
              </a:rPr>
              <a:t>npm run test:contracts</a:t>
            </a:r>
          </a:p>
          <a:p>
            <a:pPr algn="l">
              <a:lnSpc>
                <a:spcPct val="100000"/>
              </a:lnSpc>
              <a:spcAft>
                <a:spcPts val="400"/>
              </a:spcAft>
            </a:pPr>
            <a:r>
              <a:rPr sz="1900">
                <a:solidFill>
                  <a:srgbClr val="4E4A76"/>
                </a:solidFill>
                <a:latin typeface="Consolas"/>
              </a:rPr>
              <a:t>$ </a:t>
            </a:r>
            <a:r>
              <a:rPr sz="1900">
                <a:solidFill>
                  <a:srgbClr val="172243"/>
                </a:solidFill>
                <a:latin typeface="Consolas"/>
              </a:rPr>
              <a:t>npm run demo:reset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479517"/>
            <a:chOff x="0" y="0"/>
            <a:chExt cx="24384000" cy="13972689"/>
          </a:xfrm>
        </p:grpSpPr>
        <p:sp>
          <p:nvSpPr>
            <p:cNvPr id="4" name="Freeform 4"/>
            <p:cNvSpPr/>
            <p:nvPr/>
          </p:nvSpPr>
          <p:spPr>
            <a:xfrm>
              <a:off x="0" y="0"/>
              <a:ext cx="2333397" cy="13147537"/>
            </a:xfrm>
            <a:custGeom>
              <a:avLst/>
              <a:gdLst/>
              <a:ahLst/>
              <a:cxnLst/>
              <a:rect l="l" t="t" r="r" b="b"/>
              <a:pathLst>
                <a:path w="2333397" h="13147537">
                  <a:moveTo>
                    <a:pt x="0" y="0"/>
                  </a:moveTo>
                  <a:lnTo>
                    <a:pt x="2333397" y="0"/>
                  </a:lnTo>
                  <a:lnTo>
                    <a:pt x="2333397" y="13147537"/>
                  </a:lnTo>
                  <a:lnTo>
                    <a:pt x="0" y="13147537"/>
                  </a:lnTo>
                  <a:lnTo>
                    <a:pt x="0" y="0"/>
                  </a:lnTo>
                  <a:close/>
                </a:path>
              </a:pathLst>
            </a:custGeom>
            <a:blipFill>
              <a:blip r:embed="rId3"/>
              <a:stretch>
                <a:fillRect/>
              </a:stretch>
            </a:blipFill>
          </p:spPr>
        </p:sp>
        <p:sp>
          <p:nvSpPr>
            <p:cNvPr id="5" name="Freeform 5"/>
            <p:cNvSpPr/>
            <p:nvPr/>
          </p:nvSpPr>
          <p:spPr>
            <a:xfrm>
              <a:off x="19148440" y="8847622"/>
              <a:ext cx="2333397" cy="2303005"/>
            </a:xfrm>
            <a:custGeom>
              <a:avLst/>
              <a:gdLst/>
              <a:ahLst/>
              <a:cxnLst/>
              <a:rect l="l" t="t" r="r" b="b"/>
              <a:pathLst>
                <a:path w="2333397" h="2303005">
                  <a:moveTo>
                    <a:pt x="0" y="0"/>
                  </a:moveTo>
                  <a:lnTo>
                    <a:pt x="2333397" y="0"/>
                  </a:lnTo>
                  <a:lnTo>
                    <a:pt x="2333397" y="2303005"/>
                  </a:lnTo>
                  <a:lnTo>
                    <a:pt x="0" y="2303005"/>
                  </a:lnTo>
                  <a:lnTo>
                    <a:pt x="0" y="0"/>
                  </a:lnTo>
                  <a:close/>
                </a:path>
              </a:pathLst>
            </a:custGeom>
            <a:blipFill>
              <a:blip r:embed="rId4"/>
              <a:stretch>
                <a:fillRect/>
              </a:stretch>
            </a:blipFill>
          </p:spPr>
        </p:sp>
        <p:sp>
          <p:nvSpPr>
            <p:cNvPr id="6" name="Freeform 6"/>
            <p:cNvSpPr/>
            <p:nvPr/>
          </p:nvSpPr>
          <p:spPr>
            <a:xfrm>
              <a:off x="17412976" y="9395831"/>
              <a:ext cx="6971024" cy="4342033"/>
            </a:xfrm>
            <a:custGeom>
              <a:avLst/>
              <a:gdLst/>
              <a:ahLst/>
              <a:cxnLst/>
              <a:rect l="l" t="t" r="r" b="b"/>
              <a:pathLst>
                <a:path w="6971024" h="4342033">
                  <a:moveTo>
                    <a:pt x="0" y="0"/>
                  </a:moveTo>
                  <a:lnTo>
                    <a:pt x="6971024" y="0"/>
                  </a:lnTo>
                  <a:lnTo>
                    <a:pt x="6971024" y="4342033"/>
                  </a:lnTo>
                  <a:lnTo>
                    <a:pt x="0" y="4342033"/>
                  </a:lnTo>
                  <a:lnTo>
                    <a:pt x="0" y="0"/>
                  </a:lnTo>
                  <a:close/>
                </a:path>
              </a:pathLst>
            </a:custGeom>
            <a:blipFill>
              <a:blip r:embed="rId5"/>
              <a:stretch>
                <a:fillRect t="-5743"/>
              </a:stretch>
            </a:blipFill>
          </p:spPr>
        </p:sp>
        <p:sp>
          <p:nvSpPr>
            <p:cNvPr id="7" name="Freeform 7"/>
            <p:cNvSpPr/>
            <p:nvPr/>
          </p:nvSpPr>
          <p:spPr>
            <a:xfrm>
              <a:off x="0" y="9395831"/>
              <a:ext cx="1750048" cy="4576859"/>
            </a:xfrm>
            <a:custGeom>
              <a:avLst/>
              <a:gdLst/>
              <a:ahLst/>
              <a:cxnLst/>
              <a:rect l="l" t="t" r="r" b="b"/>
              <a:pathLst>
                <a:path w="1750048" h="4576859">
                  <a:moveTo>
                    <a:pt x="0" y="0"/>
                  </a:moveTo>
                  <a:lnTo>
                    <a:pt x="1750048" y="0"/>
                  </a:lnTo>
                  <a:lnTo>
                    <a:pt x="1750048" y="4576858"/>
                  </a:lnTo>
                  <a:lnTo>
                    <a:pt x="0" y="4576858"/>
                  </a:lnTo>
                  <a:lnTo>
                    <a:pt x="0" y="0"/>
                  </a:lnTo>
                  <a:close/>
                </a:path>
              </a:pathLst>
            </a:custGeom>
            <a:blipFill>
              <a:blip r:embed="rId6"/>
              <a:stretch>
                <a:fillRect/>
              </a:stretch>
            </a:blipFill>
          </p:spPr>
        </p:sp>
        <p:sp>
          <p:nvSpPr>
            <p:cNvPr id="8" name="Freeform 8"/>
            <p:cNvSpPr/>
            <p:nvPr/>
          </p:nvSpPr>
          <p:spPr>
            <a:xfrm>
              <a:off x="22633952" y="7273416"/>
              <a:ext cx="1750048" cy="5451418"/>
            </a:xfrm>
            <a:custGeom>
              <a:avLst/>
              <a:gdLst/>
              <a:ahLst/>
              <a:cxnLst/>
              <a:rect l="l" t="t" r="r" b="b"/>
              <a:pathLst>
                <a:path w="1750048" h="5451418">
                  <a:moveTo>
                    <a:pt x="0" y="0"/>
                  </a:moveTo>
                  <a:lnTo>
                    <a:pt x="1750048" y="0"/>
                  </a:lnTo>
                  <a:lnTo>
                    <a:pt x="1750048" y="5451417"/>
                  </a:lnTo>
                  <a:lnTo>
                    <a:pt x="0" y="5451417"/>
                  </a:lnTo>
                  <a:lnTo>
                    <a:pt x="0" y="0"/>
                  </a:lnTo>
                  <a:close/>
                </a:path>
              </a:pathLst>
            </a:custGeom>
            <a:blipFill>
              <a:blip r:embed="rId7"/>
              <a:stretch>
                <a:fillRect/>
              </a:stretch>
            </a:blipFill>
          </p:spPr>
        </p:sp>
        <p:sp>
          <p:nvSpPr>
            <p:cNvPr id="9" name="Freeform 9"/>
            <p:cNvSpPr/>
            <p:nvPr/>
          </p:nvSpPr>
          <p:spPr>
            <a:xfrm>
              <a:off x="22275922" y="9395831"/>
              <a:ext cx="1472957" cy="3162988"/>
            </a:xfrm>
            <a:custGeom>
              <a:avLst/>
              <a:gdLst/>
              <a:ahLst/>
              <a:cxnLst/>
              <a:rect l="l" t="t" r="r" b="b"/>
              <a:pathLst>
                <a:path w="1472957" h="3162988">
                  <a:moveTo>
                    <a:pt x="0" y="0"/>
                  </a:moveTo>
                  <a:lnTo>
                    <a:pt x="1472956" y="0"/>
                  </a:lnTo>
                  <a:lnTo>
                    <a:pt x="1472956" y="3162988"/>
                  </a:lnTo>
                  <a:lnTo>
                    <a:pt x="0" y="3162988"/>
                  </a:lnTo>
                  <a:lnTo>
                    <a:pt x="0" y="0"/>
                  </a:lnTo>
                  <a:close/>
                </a:path>
              </a:pathLst>
            </a:custGeom>
            <a:blipFill>
              <a:blip r:embed="rId8"/>
              <a:stretch>
                <a:fillRect/>
              </a:stretch>
            </a:blipFill>
          </p:spPr>
        </p:sp>
      </p:grpSp>
      <p:sp>
        <p:nvSpPr>
          <p:cNvPr id="10" name="TextBox 10"/>
          <p:cNvSpPr txBox="1"/>
          <p:nvPr/>
        </p:nvSpPr>
        <p:spPr>
          <a:xfrm>
            <a:off x="338328" y="146304"/>
            <a:ext cx="14630400" cy="1200150"/>
          </a:xfrm>
          <a:prstGeom prst="rect">
            <a:avLst/>
          </a:prstGeom>
        </p:spPr>
        <p:txBody>
          <a:bodyPr lIns="0" tIns="0" rIns="0" bIns="0" rtlCol="0" anchor="t">
            <a:spAutoFit/>
          </a:bodyPr>
          <a:lstStyle/>
          <a:p>
            <a:pPr algn="l">
              <a:lnSpc>
                <a:spcPts val="7500"/>
              </a:lnSpc>
            </a:pPr>
            <a:r>
              <a:rPr lang="en-US" sz="7500" b="1" spc="150">
                <a:solidFill>
                  <a:srgbClr val="172243"/>
                </a:solidFill>
                <a:latin typeface="Heading Now 31-38 Bold"/>
                <a:ea typeface="Heading Now 31-38 Bold"/>
                <a:cs typeface="Heading Now 31-38 Bold"/>
                <a:sym typeface="Heading Now 31-38 Bold"/>
              </a:rPr>
              <a:t>IMPACT AND BENEFITS</a:t>
            </a:r>
          </a:p>
        </p:txBody>
      </p:sp>
      <p:sp>
        <p:nvSpPr>
          <p:cNvPr id="11" name="Freeform 11"/>
          <p:cNvSpPr/>
          <p:nvPr/>
        </p:nvSpPr>
        <p:spPr>
          <a:xfrm>
            <a:off x="355509" y="1188720"/>
            <a:ext cx="6233464" cy="535667"/>
          </a:xfrm>
          <a:custGeom>
            <a:avLst/>
            <a:gdLst/>
            <a:ahLst/>
            <a:cxnLst/>
            <a:rect l="l" t="t" r="r" b="b"/>
            <a:pathLst>
              <a:path w="5020450" h="535667">
                <a:moveTo>
                  <a:pt x="0" y="0"/>
                </a:moveTo>
                <a:lnTo>
                  <a:pt x="5020449" y="0"/>
                </a:lnTo>
                <a:lnTo>
                  <a:pt x="5020449" y="535667"/>
                </a:lnTo>
                <a:lnTo>
                  <a:pt x="0" y="535667"/>
                </a:lnTo>
                <a:lnTo>
                  <a:pt x="0" y="0"/>
                </a:lnTo>
                <a:close/>
              </a:path>
            </a:pathLst>
          </a:custGeom>
          <a:blipFill>
            <a:blip r:embed="rId9"/>
            <a:stretch>
              <a:fillRect l="-11250" r="-11250"/>
            </a:stretch>
          </a:blipFill>
        </p:spPr>
      </p:sp>
      <p:sp>
        <p:nvSpPr>
          <p:cNvPr id="12" name="Freeform 12"/>
          <p:cNvSpPr/>
          <p:nvPr/>
        </p:nvSpPr>
        <p:spPr>
          <a:xfrm>
            <a:off x="13923818" y="2160727"/>
            <a:ext cx="4364182" cy="2153601"/>
          </a:xfrm>
          <a:custGeom>
            <a:avLst/>
            <a:gdLst/>
            <a:ahLst/>
            <a:cxnLst/>
            <a:rect l="l" t="t" r="r" b="b"/>
            <a:pathLst>
              <a:path w="4364182" h="2153601">
                <a:moveTo>
                  <a:pt x="0" y="0"/>
                </a:moveTo>
                <a:lnTo>
                  <a:pt x="4364182" y="0"/>
                </a:lnTo>
                <a:lnTo>
                  <a:pt x="4364182" y="2153601"/>
                </a:lnTo>
                <a:lnTo>
                  <a:pt x="0" y="2153601"/>
                </a:lnTo>
                <a:lnTo>
                  <a:pt x="0" y="0"/>
                </a:lnTo>
                <a:close/>
              </a:path>
            </a:pathLst>
          </a:custGeom>
          <a:blipFill>
            <a:blip r:embed="rId10">
              <a:alphaModFix amt="68000"/>
            </a:blip>
            <a:stretch>
              <a:fillRect/>
            </a:stretch>
          </a:blipFill>
        </p:spPr>
      </p:sp>
      <p:sp>
        <p:nvSpPr>
          <p:cNvPr id="13" name="Freeform 13"/>
          <p:cNvSpPr/>
          <p:nvPr/>
        </p:nvSpPr>
        <p:spPr>
          <a:xfrm>
            <a:off x="16178937" y="216170"/>
            <a:ext cx="2160727" cy="2160727"/>
          </a:xfrm>
          <a:custGeom>
            <a:avLst/>
            <a:gdLst/>
            <a:ahLst/>
            <a:cxnLst/>
            <a:rect l="l" t="t" r="r" b="b"/>
            <a:pathLst>
              <a:path w="2160727" h="2160727">
                <a:moveTo>
                  <a:pt x="0" y="0"/>
                </a:moveTo>
                <a:lnTo>
                  <a:pt x="2160726" y="0"/>
                </a:lnTo>
                <a:lnTo>
                  <a:pt x="2160726" y="2160727"/>
                </a:lnTo>
                <a:lnTo>
                  <a:pt x="0" y="2160727"/>
                </a:lnTo>
                <a:lnTo>
                  <a:pt x="0" y="0"/>
                </a:lnTo>
                <a:close/>
              </a:path>
            </a:pathLst>
          </a:custGeom>
          <a:blipFill>
            <a:blip r:embed="rId11"/>
            <a:stretch>
              <a:fillRect/>
            </a:stretch>
          </a:blipFill>
        </p:spPr>
      </p:sp>
      <p:sp>
        <p:nvSpPr>
          <p:cNvPr id="14" name="Claim"/>
          <p:cNvSpPr txBox="1"/>
          <p:nvPr/>
        </p:nvSpPr>
        <p:spPr>
          <a:xfrm>
            <a:off x="777240" y="1828800"/>
            <a:ext cx="15179040" cy="914400"/>
          </a:xfrm>
          <a:prstGeom prst="rect">
            <a:avLst/>
          </a:prstGeom>
          <a:noFill/>
        </p:spPr>
        <p:txBody>
          <a:bodyPr wrap="square" lIns="0" rIns="0" tIns="0" bIns="0" anchor="ctr">
            <a:noAutofit/>
          </a:bodyPr>
          <a:lstStyle/>
          <a:p>
            <a:pPr algn="l">
              <a:lnSpc>
                <a:spcPct val="100000"/>
              </a:lnSpc>
              <a:spcAft>
                <a:spcPts val="0"/>
              </a:spcAft>
            </a:pPr>
            <a:r>
              <a:rPr sz="4720" b="1">
                <a:solidFill>
                  <a:srgbClr val="172243"/>
                </a:solidFill>
                <a:latin typeface="Heading Now 31-38 Bold"/>
              </a:rPr>
              <a:t>Fewer disputes, no swapped files, </a:t>
            </a:r>
            <a:r>
              <a:rPr sz="2879" i="1">
                <a:solidFill>
                  <a:srgbClr val="4E4A76"/>
                </a:solidFill>
                <a:latin typeface="Georgia"/>
              </a:rPr>
              <a:t>and no hidden intermediary to trust.</a:t>
            </a:r>
          </a:p>
        </p:txBody>
      </p:sp>
      <p:sp>
        <p:nvSpPr>
          <p:cNvPr id="15" name="Rounded Rectangle 14"/>
          <p:cNvSpPr/>
          <p:nvPr/>
        </p:nvSpPr>
        <p:spPr>
          <a:xfrm>
            <a:off x="822960" y="2834640"/>
            <a:ext cx="8595360" cy="5394960"/>
          </a:xfrm>
          <a:prstGeom prst="roundRect">
            <a:avLst>
              <a:gd name="adj" fmla="val 3389"/>
            </a:avLst>
          </a:prstGeom>
          <a:solidFill>
            <a:srgbClr val="FFFFFF"/>
          </a:solidFill>
          <a:ln w="19050">
            <a:solidFill>
              <a:srgbClr val="E6DCE4"/>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43000" y="2971800"/>
            <a:ext cx="7955279" cy="548640"/>
          </a:xfrm>
          <a:prstGeom prst="rect">
            <a:avLst/>
          </a:prstGeom>
          <a:noFill/>
        </p:spPr>
        <p:txBody>
          <a:bodyPr wrap="square" lIns="0" rIns="0" tIns="0" bIns="0" anchor="t">
            <a:noAutofit/>
          </a:bodyPr>
          <a:lstStyle/>
          <a:p>
            <a:pPr algn="l">
              <a:lnSpc>
                <a:spcPct val="100000"/>
              </a:lnSpc>
              <a:spcAft>
                <a:spcPts val="0"/>
              </a:spcAft>
            </a:pPr>
            <a:r>
              <a:rPr sz="2830" b="1">
                <a:solidFill>
                  <a:srgbClr val="172243"/>
                </a:solidFill>
                <a:latin typeface="Heading Now 31-38 Bold"/>
              </a:rPr>
              <a:t>Other users' money left in the contract</a:t>
            </a:r>
          </a:p>
        </p:txBody>
      </p:sp>
      <p:graphicFrame>
        <p:nvGraphicFramePr>
          <p:cNvPr id="17" name="Chart: money left, naive vs Sealstone"/>
          <p:cNvGraphicFramePr>
            <a:graphicFrameLocks noGrp="1"/>
          </p:cNvGraphicFramePr>
          <p:nvPr/>
        </p:nvGraphicFramePr>
        <p:xfrm>
          <a:off x="1005840" y="3611880"/>
          <a:ext cx="8229600" cy="4526280"/>
        </p:xfrm>
        <a:graphic>
          <a:graphicData uri="http://schemas.openxmlformats.org/drawingml/2006/chart">
            <c:chart xmlns:c="http://schemas.openxmlformats.org/drawingml/2006/chart" r:id="rId12"/>
          </a:graphicData>
        </a:graphic>
      </p:graphicFrame>
      <p:sp>
        <p:nvSpPr>
          <p:cNvPr id="18" name="TextBox 17"/>
          <p:cNvSpPr txBox="1"/>
          <p:nvPr/>
        </p:nvSpPr>
        <p:spPr>
          <a:xfrm>
            <a:off x="822960" y="8321040"/>
            <a:ext cx="8595360" cy="731520"/>
          </a:xfrm>
          <a:prstGeom prst="rect">
            <a:avLst/>
          </a:prstGeom>
          <a:noFill/>
        </p:spPr>
        <p:txBody>
          <a:bodyPr wrap="square" lIns="0" rIns="0" tIns="0" bIns="0" anchor="t">
            <a:noAutofit/>
          </a:bodyPr>
          <a:lstStyle/>
          <a:p>
            <a:pPr algn="l">
              <a:lnSpc>
                <a:spcPct val="100000"/>
              </a:lnSpc>
              <a:spcAft>
                <a:spcPts val="0"/>
              </a:spcAft>
            </a:pPr>
            <a:r>
              <a:rPr sz="1810">
                <a:solidFill>
                  <a:srgbClr val="4E4A76"/>
                </a:solidFill>
                <a:latin typeface="Calibri"/>
              </a:rPr>
              <a:t>One re-entrancy attack, payout by payout. In the Attack Lab's contrast run the attacker takes 4 ETH and 3 ETH of other users' money is lost.</a:t>
            </a:r>
          </a:p>
        </p:txBody>
      </p:sp>
      <p:sp>
        <p:nvSpPr>
          <p:cNvPr id="19" name="Rounded Rectangle 18"/>
          <p:cNvSpPr/>
          <p:nvPr/>
        </p:nvSpPr>
        <p:spPr>
          <a:xfrm>
            <a:off x="9692640" y="2834640"/>
            <a:ext cx="6309360" cy="1719072"/>
          </a:xfrm>
          <a:prstGeom prst="roundRect">
            <a:avLst>
              <a:gd name="adj" fmla="val 9574"/>
            </a:avLst>
          </a:prstGeom>
          <a:solidFill>
            <a:srgbClr val="FFFFFF"/>
          </a:solidFill>
          <a:ln w="19050">
            <a:solidFill>
              <a:srgbClr val="E6DCE4"/>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9921240" y="3108960"/>
            <a:ext cx="658368" cy="658368"/>
          </a:xfrm>
          <a:prstGeom prst="ellipse">
            <a:avLst/>
          </a:prstGeom>
          <a:solidFill>
            <a:srgbClr val="EE7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921240" y="3108960"/>
            <a:ext cx="658368" cy="658368"/>
          </a:xfrm>
          <a:prstGeom prst="rect">
            <a:avLst/>
          </a:prstGeom>
          <a:noFill/>
        </p:spPr>
        <p:txBody>
          <a:bodyPr wrap="square" lIns="0" rIns="0" tIns="0" bIns="0" anchor="ctr">
            <a:noAutofit/>
          </a:bodyPr>
          <a:lstStyle/>
          <a:p>
            <a:pPr algn="ctr">
              <a:lnSpc>
                <a:spcPct val="100000"/>
              </a:lnSpc>
              <a:spcAft>
                <a:spcPts val="0"/>
              </a:spcAft>
            </a:pPr>
            <a:r>
              <a:rPr sz="3070">
                <a:solidFill>
                  <a:srgbClr val="172243"/>
                </a:solidFill>
                <a:latin typeface="Heading Now 31-38 Bold"/>
              </a:rPr>
              <a:t>1</a:t>
            </a:r>
          </a:p>
        </p:txBody>
      </p:sp>
      <p:sp>
        <p:nvSpPr>
          <p:cNvPr id="22" name="TextBox 21"/>
          <p:cNvSpPr txBox="1"/>
          <p:nvPr/>
        </p:nvSpPr>
        <p:spPr>
          <a:xfrm>
            <a:off x="10789920" y="2971800"/>
            <a:ext cx="5074920" cy="548640"/>
          </a:xfrm>
          <a:prstGeom prst="rect">
            <a:avLst/>
          </a:prstGeom>
          <a:noFill/>
        </p:spPr>
        <p:txBody>
          <a:bodyPr wrap="square" lIns="0" rIns="0" tIns="0" bIns="0" anchor="t">
            <a:noAutofit/>
          </a:bodyPr>
          <a:lstStyle/>
          <a:p>
            <a:pPr algn="l">
              <a:lnSpc>
                <a:spcPct val="100000"/>
              </a:lnSpc>
              <a:spcAft>
                <a:spcPts val="0"/>
              </a:spcAft>
            </a:pPr>
            <a:r>
              <a:rPr sz="2830" b="1">
                <a:solidFill>
                  <a:srgbClr val="172243"/>
                </a:solidFill>
                <a:latin typeface="Heading Now 31-38 Bold"/>
              </a:rPr>
              <a:t>Freelancers and clients</a:t>
            </a:r>
          </a:p>
        </p:txBody>
      </p:sp>
      <p:sp>
        <p:nvSpPr>
          <p:cNvPr id="23" name="TextBox 22"/>
          <p:cNvSpPr txBox="1"/>
          <p:nvPr/>
        </p:nvSpPr>
        <p:spPr>
          <a:xfrm>
            <a:off x="10789920" y="3493008"/>
            <a:ext cx="5029200" cy="1005840"/>
          </a:xfrm>
          <a:prstGeom prst="rect">
            <a:avLst/>
          </a:prstGeom>
          <a:noFill/>
        </p:spPr>
        <p:txBody>
          <a:bodyPr wrap="square" lIns="0" rIns="0" tIns="0" bIns="0" anchor="t">
            <a:noAutofit/>
          </a:bodyPr>
          <a:lstStyle/>
          <a:p>
            <a:pPr algn="l">
              <a:lnSpc>
                <a:spcPct val="100000"/>
              </a:lnSpc>
              <a:spcAft>
                <a:spcPts val="0"/>
              </a:spcAft>
            </a:pPr>
            <a:r>
              <a:rPr sz="1900">
                <a:solidFill>
                  <a:srgbClr val="161F3E"/>
                </a:solidFill>
                <a:latin typeface="Calibri"/>
              </a:rPr>
              <a:t>Pay only for the exact file you approved. Disputes go to a named referee.</a:t>
            </a:r>
          </a:p>
        </p:txBody>
      </p:sp>
      <p:sp>
        <p:nvSpPr>
          <p:cNvPr id="24" name="Rounded Rectangle 23"/>
          <p:cNvSpPr/>
          <p:nvPr/>
        </p:nvSpPr>
        <p:spPr>
          <a:xfrm>
            <a:off x="9692640" y="4663440"/>
            <a:ext cx="6309360" cy="1719072"/>
          </a:xfrm>
          <a:prstGeom prst="roundRect">
            <a:avLst>
              <a:gd name="adj" fmla="val 9574"/>
            </a:avLst>
          </a:prstGeom>
          <a:solidFill>
            <a:srgbClr val="FFFFFF"/>
          </a:solidFill>
          <a:ln w="19050">
            <a:solidFill>
              <a:srgbClr val="E6DCE4"/>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9921240" y="4937759"/>
            <a:ext cx="658368" cy="658368"/>
          </a:xfrm>
          <a:prstGeom prst="ellipse">
            <a:avLst/>
          </a:prstGeom>
          <a:solidFill>
            <a:srgbClr val="EE7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921240" y="4937759"/>
            <a:ext cx="658368" cy="658368"/>
          </a:xfrm>
          <a:prstGeom prst="rect">
            <a:avLst/>
          </a:prstGeom>
          <a:noFill/>
        </p:spPr>
        <p:txBody>
          <a:bodyPr wrap="square" lIns="0" rIns="0" tIns="0" bIns="0" anchor="ctr">
            <a:noAutofit/>
          </a:bodyPr>
          <a:lstStyle/>
          <a:p>
            <a:pPr algn="ctr">
              <a:lnSpc>
                <a:spcPct val="100000"/>
              </a:lnSpc>
              <a:spcAft>
                <a:spcPts val="0"/>
              </a:spcAft>
            </a:pPr>
            <a:r>
              <a:rPr sz="3070">
                <a:solidFill>
                  <a:srgbClr val="172243"/>
                </a:solidFill>
                <a:latin typeface="Heading Now 31-38 Bold"/>
              </a:rPr>
              <a:t>2</a:t>
            </a:r>
          </a:p>
        </p:txBody>
      </p:sp>
      <p:sp>
        <p:nvSpPr>
          <p:cNvPr id="27" name="TextBox 26"/>
          <p:cNvSpPr txBox="1"/>
          <p:nvPr/>
        </p:nvSpPr>
        <p:spPr>
          <a:xfrm>
            <a:off x="10789920" y="4800600"/>
            <a:ext cx="5074920" cy="548640"/>
          </a:xfrm>
          <a:prstGeom prst="rect">
            <a:avLst/>
          </a:prstGeom>
          <a:noFill/>
        </p:spPr>
        <p:txBody>
          <a:bodyPr wrap="square" lIns="0" rIns="0" tIns="0" bIns="0" anchor="t">
            <a:noAutofit/>
          </a:bodyPr>
          <a:lstStyle/>
          <a:p>
            <a:pPr algn="l">
              <a:lnSpc>
                <a:spcPct val="100000"/>
              </a:lnSpc>
              <a:spcAft>
                <a:spcPts val="0"/>
              </a:spcAft>
            </a:pPr>
            <a:r>
              <a:rPr sz="2830" b="1">
                <a:solidFill>
                  <a:srgbClr val="172243"/>
                </a:solidFill>
                <a:latin typeface="Heading Now 31-38 Bold"/>
              </a:rPr>
              <a:t>Grant programmes</a:t>
            </a:r>
          </a:p>
        </p:txBody>
      </p:sp>
      <p:sp>
        <p:nvSpPr>
          <p:cNvPr id="28" name="TextBox 27"/>
          <p:cNvSpPr txBox="1"/>
          <p:nvPr/>
        </p:nvSpPr>
        <p:spPr>
          <a:xfrm>
            <a:off x="10789920" y="5321807"/>
            <a:ext cx="5029200" cy="1005840"/>
          </a:xfrm>
          <a:prstGeom prst="rect">
            <a:avLst/>
          </a:prstGeom>
          <a:noFill/>
        </p:spPr>
        <p:txBody>
          <a:bodyPr wrap="square" lIns="0" rIns="0" tIns="0" bIns="0" anchor="t">
            <a:noAutofit/>
          </a:bodyPr>
          <a:lstStyle/>
          <a:p>
            <a:pPr algn="l">
              <a:lnSpc>
                <a:spcPct val="100000"/>
              </a:lnSpc>
              <a:spcAft>
                <a:spcPts val="0"/>
              </a:spcAft>
            </a:pPr>
            <a:r>
              <a:rPr sz="1900">
                <a:solidFill>
                  <a:srgbClr val="161F3E"/>
                </a:solidFill>
                <a:latin typeface="Calibri"/>
              </a:rPr>
              <a:t>One dashboard shows what's locked, owed and waiting across every agreement.</a:t>
            </a:r>
          </a:p>
        </p:txBody>
      </p:sp>
      <p:sp>
        <p:nvSpPr>
          <p:cNvPr id="29" name="Rounded Rectangle 28"/>
          <p:cNvSpPr/>
          <p:nvPr/>
        </p:nvSpPr>
        <p:spPr>
          <a:xfrm>
            <a:off x="9692640" y="6492240"/>
            <a:ext cx="6309360" cy="1719072"/>
          </a:xfrm>
          <a:prstGeom prst="roundRect">
            <a:avLst>
              <a:gd name="adj" fmla="val 9574"/>
            </a:avLst>
          </a:prstGeom>
          <a:solidFill>
            <a:srgbClr val="FFFFFF"/>
          </a:solidFill>
          <a:ln w="19050">
            <a:solidFill>
              <a:srgbClr val="E6DCE4"/>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9921240" y="6766559"/>
            <a:ext cx="658368" cy="658368"/>
          </a:xfrm>
          <a:prstGeom prst="ellipse">
            <a:avLst/>
          </a:prstGeom>
          <a:solidFill>
            <a:srgbClr val="EE7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921240" y="6766559"/>
            <a:ext cx="658368" cy="658368"/>
          </a:xfrm>
          <a:prstGeom prst="rect">
            <a:avLst/>
          </a:prstGeom>
          <a:noFill/>
        </p:spPr>
        <p:txBody>
          <a:bodyPr wrap="square" lIns="0" rIns="0" tIns="0" bIns="0" anchor="ctr">
            <a:noAutofit/>
          </a:bodyPr>
          <a:lstStyle/>
          <a:p>
            <a:pPr algn="ctr">
              <a:lnSpc>
                <a:spcPct val="100000"/>
              </a:lnSpc>
              <a:spcAft>
                <a:spcPts val="0"/>
              </a:spcAft>
            </a:pPr>
            <a:r>
              <a:rPr sz="3070">
                <a:solidFill>
                  <a:srgbClr val="172243"/>
                </a:solidFill>
                <a:latin typeface="Heading Now 31-38 Bold"/>
              </a:rPr>
              <a:t>3</a:t>
            </a:r>
          </a:p>
        </p:txBody>
      </p:sp>
      <p:sp>
        <p:nvSpPr>
          <p:cNvPr id="32" name="TextBox 31"/>
          <p:cNvSpPr txBox="1"/>
          <p:nvPr/>
        </p:nvSpPr>
        <p:spPr>
          <a:xfrm>
            <a:off x="10789920" y="6629400"/>
            <a:ext cx="5074920" cy="548640"/>
          </a:xfrm>
          <a:prstGeom prst="rect">
            <a:avLst/>
          </a:prstGeom>
          <a:noFill/>
        </p:spPr>
        <p:txBody>
          <a:bodyPr wrap="square" lIns="0" rIns="0" tIns="0" bIns="0" anchor="t">
            <a:noAutofit/>
          </a:bodyPr>
          <a:lstStyle/>
          <a:p>
            <a:pPr algn="l">
              <a:lnSpc>
                <a:spcPct val="100000"/>
              </a:lnSpc>
              <a:spcAft>
                <a:spcPts val="0"/>
              </a:spcAft>
            </a:pPr>
            <a:r>
              <a:rPr sz="2830" b="1">
                <a:solidFill>
                  <a:srgbClr val="172243"/>
                </a:solidFill>
                <a:latin typeface="Heading Now 31-38 Bold"/>
              </a:rPr>
              <a:t>Auditors and finance</a:t>
            </a:r>
          </a:p>
        </p:txBody>
      </p:sp>
      <p:sp>
        <p:nvSpPr>
          <p:cNvPr id="33" name="TextBox 32"/>
          <p:cNvSpPr txBox="1"/>
          <p:nvPr/>
        </p:nvSpPr>
        <p:spPr>
          <a:xfrm>
            <a:off x="10789920" y="7150607"/>
            <a:ext cx="5029200" cy="1005840"/>
          </a:xfrm>
          <a:prstGeom prst="rect">
            <a:avLst/>
          </a:prstGeom>
          <a:noFill/>
        </p:spPr>
        <p:txBody>
          <a:bodyPr wrap="square" lIns="0" rIns="0" tIns="0" bIns="0" anchor="t">
            <a:noAutofit/>
          </a:bodyPr>
          <a:lstStyle/>
          <a:p>
            <a:pPr algn="l">
              <a:lnSpc>
                <a:spcPct val="100000"/>
              </a:lnSpc>
              <a:spcAft>
                <a:spcPts val="0"/>
              </a:spcAft>
            </a:pPr>
            <a:r>
              <a:rPr sz="1900">
                <a:solidFill>
                  <a:srgbClr val="161F3E"/>
                </a:solidFill>
                <a:latin typeface="Calibri"/>
              </a:rPr>
              <a:t>The ledger reconciles after every action, and the rules are tests anyone can run.</a:t>
            </a:r>
          </a:p>
        </p:txBody>
      </p:sp>
      <p:sp>
        <p:nvSpPr>
          <p:cNvPr id="34" name="TextBox 33"/>
          <p:cNvSpPr txBox="1"/>
          <p:nvPr/>
        </p:nvSpPr>
        <p:spPr>
          <a:xfrm>
            <a:off x="822960" y="9098280"/>
            <a:ext cx="2743200" cy="548640"/>
          </a:xfrm>
          <a:prstGeom prst="rect">
            <a:avLst/>
          </a:prstGeom>
          <a:noFill/>
        </p:spPr>
        <p:txBody>
          <a:bodyPr wrap="square" lIns="0" rIns="0" tIns="0" bIns="0" anchor="ctr">
            <a:noAutofit/>
          </a:bodyPr>
          <a:lstStyle/>
          <a:p>
            <a:pPr algn="l">
              <a:lnSpc>
                <a:spcPct val="100000"/>
              </a:lnSpc>
              <a:spcAft>
                <a:spcPts val="0"/>
              </a:spcAft>
            </a:pPr>
            <a:r>
              <a:rPr sz="2000" spc="250" b="1">
                <a:solidFill>
                  <a:srgbClr val="4E4A76"/>
                </a:solidFill>
                <a:latin typeface="Calibri"/>
              </a:rPr>
              <a:t>WHAT'S NEXT</a:t>
            </a:r>
          </a:p>
        </p:txBody>
      </p:sp>
      <p:sp>
        <p:nvSpPr>
          <p:cNvPr id="35" name="Rounded Rectangle 34"/>
          <p:cNvSpPr/>
          <p:nvPr/>
        </p:nvSpPr>
        <p:spPr>
          <a:xfrm>
            <a:off x="3657600" y="9098280"/>
            <a:ext cx="3931920" cy="594360"/>
          </a:xfrm>
          <a:prstGeom prst="roundRect">
            <a:avLst>
              <a:gd name="adj" fmla="val 50000"/>
            </a:avLst>
          </a:prstGeom>
          <a:solidFill>
            <a:srgbClr val="EFE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3657600" y="9098280"/>
            <a:ext cx="3931920" cy="594360"/>
          </a:xfrm>
          <a:prstGeom prst="rect">
            <a:avLst/>
          </a:prstGeom>
          <a:noFill/>
        </p:spPr>
        <p:txBody>
          <a:bodyPr wrap="square" lIns="0" rIns="0" tIns="0" bIns="0" anchor="ctr">
            <a:noAutofit/>
          </a:bodyPr>
          <a:lstStyle/>
          <a:p>
            <a:pPr algn="ctr">
              <a:lnSpc>
                <a:spcPct val="100000"/>
              </a:lnSpc>
              <a:spcAft>
                <a:spcPts val="0"/>
              </a:spcAft>
            </a:pPr>
            <a:r>
              <a:rPr sz="2360" b="1">
                <a:solidFill>
                  <a:srgbClr val="5B45E6"/>
                </a:solidFill>
                <a:latin typeface="Heading Now 31-38 Bold"/>
              </a:rPr>
              <a:t>Factory for many agreements</a:t>
            </a:r>
          </a:p>
        </p:txBody>
      </p:sp>
      <p:sp>
        <p:nvSpPr>
          <p:cNvPr id="37" name="Rounded Rectangle 36"/>
          <p:cNvSpPr/>
          <p:nvPr/>
        </p:nvSpPr>
        <p:spPr>
          <a:xfrm>
            <a:off x="7772400" y="9098280"/>
            <a:ext cx="3931920" cy="594360"/>
          </a:xfrm>
          <a:prstGeom prst="roundRect">
            <a:avLst>
              <a:gd name="adj" fmla="val 50000"/>
            </a:avLst>
          </a:prstGeom>
          <a:solidFill>
            <a:srgbClr val="EFE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772400" y="9098280"/>
            <a:ext cx="3931920" cy="594360"/>
          </a:xfrm>
          <a:prstGeom prst="rect">
            <a:avLst/>
          </a:prstGeom>
          <a:noFill/>
        </p:spPr>
        <p:txBody>
          <a:bodyPr wrap="square" lIns="0" rIns="0" tIns="0" bIns="0" anchor="ctr">
            <a:noAutofit/>
          </a:bodyPr>
          <a:lstStyle/>
          <a:p>
            <a:pPr algn="ctr">
              <a:lnSpc>
                <a:spcPct val="100000"/>
              </a:lnSpc>
              <a:spcAft>
                <a:spcPts val="0"/>
              </a:spcAft>
            </a:pPr>
            <a:r>
              <a:rPr sz="2360" b="1">
                <a:solidFill>
                  <a:srgbClr val="5B45E6"/>
                </a:solidFill>
                <a:latin typeface="Heading Now 31-38 Bold"/>
              </a:rPr>
              <a:t>A committee as arbiter</a:t>
            </a:r>
          </a:p>
        </p:txBody>
      </p:sp>
      <p:sp>
        <p:nvSpPr>
          <p:cNvPr id="39" name="Rounded Rectangle 38"/>
          <p:cNvSpPr/>
          <p:nvPr/>
        </p:nvSpPr>
        <p:spPr>
          <a:xfrm>
            <a:off x="11887200" y="9098280"/>
            <a:ext cx="3931920" cy="594360"/>
          </a:xfrm>
          <a:prstGeom prst="roundRect">
            <a:avLst>
              <a:gd name="adj" fmla="val 50000"/>
            </a:avLst>
          </a:prstGeom>
          <a:solidFill>
            <a:srgbClr val="EFE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1887200" y="9098280"/>
            <a:ext cx="3931920" cy="594360"/>
          </a:xfrm>
          <a:prstGeom prst="rect">
            <a:avLst/>
          </a:prstGeom>
          <a:noFill/>
        </p:spPr>
        <p:txBody>
          <a:bodyPr wrap="square" lIns="0" rIns="0" tIns="0" bIns="0" anchor="ctr">
            <a:noAutofit/>
          </a:bodyPr>
          <a:lstStyle/>
          <a:p>
            <a:pPr algn="ctr">
              <a:lnSpc>
                <a:spcPct val="100000"/>
              </a:lnSpc>
              <a:spcAft>
                <a:spcPts val="0"/>
              </a:spcAft>
            </a:pPr>
            <a:r>
              <a:rPr sz="2360" b="1">
                <a:solidFill>
                  <a:srgbClr val="5B45E6"/>
                </a:solidFill>
                <a:latin typeface="Heading Now 31-38 Bold"/>
              </a:rPr>
              <a:t>Pilot on a public testnet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479517"/>
            <a:chOff x="0" y="0"/>
            <a:chExt cx="24384000" cy="13972689"/>
          </a:xfrm>
        </p:grpSpPr>
        <p:sp>
          <p:nvSpPr>
            <p:cNvPr id="4" name="Freeform 4"/>
            <p:cNvSpPr/>
            <p:nvPr/>
          </p:nvSpPr>
          <p:spPr>
            <a:xfrm>
              <a:off x="0" y="0"/>
              <a:ext cx="2333397" cy="13147537"/>
            </a:xfrm>
            <a:custGeom>
              <a:avLst/>
              <a:gdLst/>
              <a:ahLst/>
              <a:cxnLst/>
              <a:rect l="l" t="t" r="r" b="b"/>
              <a:pathLst>
                <a:path w="2333397" h="13147537">
                  <a:moveTo>
                    <a:pt x="0" y="0"/>
                  </a:moveTo>
                  <a:lnTo>
                    <a:pt x="2333397" y="0"/>
                  </a:lnTo>
                  <a:lnTo>
                    <a:pt x="2333397" y="13147537"/>
                  </a:lnTo>
                  <a:lnTo>
                    <a:pt x="0" y="13147537"/>
                  </a:lnTo>
                  <a:lnTo>
                    <a:pt x="0" y="0"/>
                  </a:lnTo>
                  <a:close/>
                </a:path>
              </a:pathLst>
            </a:custGeom>
            <a:blipFill>
              <a:blip r:embed="rId3"/>
              <a:stretch>
                <a:fillRect/>
              </a:stretch>
            </a:blipFill>
          </p:spPr>
        </p:sp>
        <p:sp>
          <p:nvSpPr>
            <p:cNvPr id="5" name="Freeform 5"/>
            <p:cNvSpPr/>
            <p:nvPr/>
          </p:nvSpPr>
          <p:spPr>
            <a:xfrm>
              <a:off x="19148440" y="8847622"/>
              <a:ext cx="2333397" cy="2303005"/>
            </a:xfrm>
            <a:custGeom>
              <a:avLst/>
              <a:gdLst/>
              <a:ahLst/>
              <a:cxnLst/>
              <a:rect l="l" t="t" r="r" b="b"/>
              <a:pathLst>
                <a:path w="2333397" h="2303005">
                  <a:moveTo>
                    <a:pt x="0" y="0"/>
                  </a:moveTo>
                  <a:lnTo>
                    <a:pt x="2333397" y="0"/>
                  </a:lnTo>
                  <a:lnTo>
                    <a:pt x="2333397" y="2303005"/>
                  </a:lnTo>
                  <a:lnTo>
                    <a:pt x="0" y="2303005"/>
                  </a:lnTo>
                  <a:lnTo>
                    <a:pt x="0" y="0"/>
                  </a:lnTo>
                  <a:close/>
                </a:path>
              </a:pathLst>
            </a:custGeom>
            <a:blipFill>
              <a:blip r:embed="rId4"/>
              <a:stretch>
                <a:fillRect/>
              </a:stretch>
            </a:blipFill>
          </p:spPr>
        </p:sp>
        <p:sp>
          <p:nvSpPr>
            <p:cNvPr id="6" name="Freeform 6"/>
            <p:cNvSpPr/>
            <p:nvPr/>
          </p:nvSpPr>
          <p:spPr>
            <a:xfrm>
              <a:off x="17412976" y="9395831"/>
              <a:ext cx="6971024" cy="4342033"/>
            </a:xfrm>
            <a:custGeom>
              <a:avLst/>
              <a:gdLst/>
              <a:ahLst/>
              <a:cxnLst/>
              <a:rect l="l" t="t" r="r" b="b"/>
              <a:pathLst>
                <a:path w="6971024" h="4342033">
                  <a:moveTo>
                    <a:pt x="0" y="0"/>
                  </a:moveTo>
                  <a:lnTo>
                    <a:pt x="6971024" y="0"/>
                  </a:lnTo>
                  <a:lnTo>
                    <a:pt x="6971024" y="4342033"/>
                  </a:lnTo>
                  <a:lnTo>
                    <a:pt x="0" y="4342033"/>
                  </a:lnTo>
                  <a:lnTo>
                    <a:pt x="0" y="0"/>
                  </a:lnTo>
                  <a:close/>
                </a:path>
              </a:pathLst>
            </a:custGeom>
            <a:blipFill>
              <a:blip r:embed="rId5"/>
              <a:stretch>
                <a:fillRect t="-5743"/>
              </a:stretch>
            </a:blipFill>
          </p:spPr>
        </p:sp>
        <p:sp>
          <p:nvSpPr>
            <p:cNvPr id="7" name="Freeform 7"/>
            <p:cNvSpPr/>
            <p:nvPr/>
          </p:nvSpPr>
          <p:spPr>
            <a:xfrm>
              <a:off x="0" y="9395831"/>
              <a:ext cx="1750048" cy="4576859"/>
            </a:xfrm>
            <a:custGeom>
              <a:avLst/>
              <a:gdLst/>
              <a:ahLst/>
              <a:cxnLst/>
              <a:rect l="l" t="t" r="r" b="b"/>
              <a:pathLst>
                <a:path w="1750048" h="4576859">
                  <a:moveTo>
                    <a:pt x="0" y="0"/>
                  </a:moveTo>
                  <a:lnTo>
                    <a:pt x="1750048" y="0"/>
                  </a:lnTo>
                  <a:lnTo>
                    <a:pt x="1750048" y="4576858"/>
                  </a:lnTo>
                  <a:lnTo>
                    <a:pt x="0" y="4576858"/>
                  </a:lnTo>
                  <a:lnTo>
                    <a:pt x="0" y="0"/>
                  </a:lnTo>
                  <a:close/>
                </a:path>
              </a:pathLst>
            </a:custGeom>
            <a:blipFill>
              <a:blip r:embed="rId6"/>
              <a:stretch>
                <a:fillRect/>
              </a:stretch>
            </a:blipFill>
          </p:spPr>
        </p:sp>
        <p:sp>
          <p:nvSpPr>
            <p:cNvPr id="8" name="Freeform 8"/>
            <p:cNvSpPr/>
            <p:nvPr/>
          </p:nvSpPr>
          <p:spPr>
            <a:xfrm>
              <a:off x="22633952" y="7273416"/>
              <a:ext cx="1750048" cy="5451418"/>
            </a:xfrm>
            <a:custGeom>
              <a:avLst/>
              <a:gdLst/>
              <a:ahLst/>
              <a:cxnLst/>
              <a:rect l="l" t="t" r="r" b="b"/>
              <a:pathLst>
                <a:path w="1750048" h="5451418">
                  <a:moveTo>
                    <a:pt x="0" y="0"/>
                  </a:moveTo>
                  <a:lnTo>
                    <a:pt x="1750048" y="0"/>
                  </a:lnTo>
                  <a:lnTo>
                    <a:pt x="1750048" y="5451417"/>
                  </a:lnTo>
                  <a:lnTo>
                    <a:pt x="0" y="5451417"/>
                  </a:lnTo>
                  <a:lnTo>
                    <a:pt x="0" y="0"/>
                  </a:lnTo>
                  <a:close/>
                </a:path>
              </a:pathLst>
            </a:custGeom>
            <a:blipFill>
              <a:blip r:embed="rId7"/>
              <a:stretch>
                <a:fillRect/>
              </a:stretch>
            </a:blipFill>
          </p:spPr>
        </p:sp>
        <p:sp>
          <p:nvSpPr>
            <p:cNvPr id="9" name="Freeform 9"/>
            <p:cNvSpPr/>
            <p:nvPr/>
          </p:nvSpPr>
          <p:spPr>
            <a:xfrm>
              <a:off x="22275922" y="9395831"/>
              <a:ext cx="1472957" cy="3162988"/>
            </a:xfrm>
            <a:custGeom>
              <a:avLst/>
              <a:gdLst/>
              <a:ahLst/>
              <a:cxnLst/>
              <a:rect l="l" t="t" r="r" b="b"/>
              <a:pathLst>
                <a:path w="1472957" h="3162988">
                  <a:moveTo>
                    <a:pt x="0" y="0"/>
                  </a:moveTo>
                  <a:lnTo>
                    <a:pt x="1472956" y="0"/>
                  </a:lnTo>
                  <a:lnTo>
                    <a:pt x="1472956" y="3162988"/>
                  </a:lnTo>
                  <a:lnTo>
                    <a:pt x="0" y="3162988"/>
                  </a:lnTo>
                  <a:lnTo>
                    <a:pt x="0" y="0"/>
                  </a:lnTo>
                  <a:close/>
                </a:path>
              </a:pathLst>
            </a:custGeom>
            <a:blipFill>
              <a:blip r:embed="rId8"/>
              <a:stretch>
                <a:fillRect/>
              </a:stretch>
            </a:blipFill>
          </p:spPr>
        </p:sp>
      </p:grpSp>
      <p:sp>
        <p:nvSpPr>
          <p:cNvPr id="10" name="TextBox 10"/>
          <p:cNvSpPr txBox="1"/>
          <p:nvPr/>
        </p:nvSpPr>
        <p:spPr>
          <a:xfrm>
            <a:off x="338328" y="146304"/>
            <a:ext cx="14630400" cy="1200150"/>
          </a:xfrm>
          <a:prstGeom prst="rect">
            <a:avLst/>
          </a:prstGeom>
        </p:spPr>
        <p:txBody>
          <a:bodyPr lIns="0" tIns="0" rIns="0" bIns="0" rtlCol="0" anchor="t">
            <a:spAutoFit/>
          </a:bodyPr>
          <a:lstStyle/>
          <a:p>
            <a:pPr algn="l">
              <a:lnSpc>
                <a:spcPts val="7500"/>
              </a:lnSpc>
            </a:pPr>
            <a:r>
              <a:rPr lang="en-US" sz="7500" b="1" spc="150">
                <a:solidFill>
                  <a:srgbClr val="172243"/>
                </a:solidFill>
                <a:latin typeface="Heading Now 31-38 Bold"/>
                <a:ea typeface="Heading Now 31-38 Bold"/>
                <a:cs typeface="Heading Now 31-38 Bold"/>
                <a:sym typeface="Heading Now 31-38 Bold"/>
              </a:rPr>
              <a:t>DIFFERENTIATOR</a:t>
            </a:r>
          </a:p>
        </p:txBody>
      </p:sp>
      <p:sp>
        <p:nvSpPr>
          <p:cNvPr id="11" name="Freeform 11"/>
          <p:cNvSpPr/>
          <p:nvPr/>
        </p:nvSpPr>
        <p:spPr>
          <a:xfrm>
            <a:off x="355509" y="1188720"/>
            <a:ext cx="5020056" cy="535667"/>
          </a:xfrm>
          <a:custGeom>
            <a:avLst/>
            <a:gdLst/>
            <a:ahLst/>
            <a:cxnLst/>
            <a:rect l="l" t="t" r="r" b="b"/>
            <a:pathLst>
              <a:path w="5020450" h="535667">
                <a:moveTo>
                  <a:pt x="0" y="0"/>
                </a:moveTo>
                <a:lnTo>
                  <a:pt x="5020449" y="0"/>
                </a:lnTo>
                <a:lnTo>
                  <a:pt x="5020449" y="535667"/>
                </a:lnTo>
                <a:lnTo>
                  <a:pt x="0" y="535667"/>
                </a:lnTo>
                <a:lnTo>
                  <a:pt x="0" y="0"/>
                </a:lnTo>
                <a:close/>
              </a:path>
            </a:pathLst>
          </a:custGeom>
          <a:blipFill>
            <a:blip r:embed="rId9"/>
            <a:stretch>
              <a:fillRect l="-11250" r="-11250"/>
            </a:stretch>
          </a:blipFill>
        </p:spPr>
      </p:sp>
      <p:sp>
        <p:nvSpPr>
          <p:cNvPr id="12" name="Freeform 12"/>
          <p:cNvSpPr/>
          <p:nvPr/>
        </p:nvSpPr>
        <p:spPr>
          <a:xfrm>
            <a:off x="13923818" y="2160727"/>
            <a:ext cx="4364182" cy="2153601"/>
          </a:xfrm>
          <a:custGeom>
            <a:avLst/>
            <a:gdLst/>
            <a:ahLst/>
            <a:cxnLst/>
            <a:rect l="l" t="t" r="r" b="b"/>
            <a:pathLst>
              <a:path w="4364182" h="2153601">
                <a:moveTo>
                  <a:pt x="0" y="0"/>
                </a:moveTo>
                <a:lnTo>
                  <a:pt x="4364182" y="0"/>
                </a:lnTo>
                <a:lnTo>
                  <a:pt x="4364182" y="2153601"/>
                </a:lnTo>
                <a:lnTo>
                  <a:pt x="0" y="2153601"/>
                </a:lnTo>
                <a:lnTo>
                  <a:pt x="0" y="0"/>
                </a:lnTo>
                <a:close/>
              </a:path>
            </a:pathLst>
          </a:custGeom>
          <a:blipFill>
            <a:blip r:embed="rId10">
              <a:alphaModFix amt="68000"/>
            </a:blip>
            <a:stretch>
              <a:fillRect/>
            </a:stretch>
          </a:blipFill>
        </p:spPr>
      </p:sp>
      <p:sp>
        <p:nvSpPr>
          <p:cNvPr id="13" name="Freeform 13"/>
          <p:cNvSpPr/>
          <p:nvPr/>
        </p:nvSpPr>
        <p:spPr>
          <a:xfrm>
            <a:off x="16178937" y="216170"/>
            <a:ext cx="2160727" cy="2160727"/>
          </a:xfrm>
          <a:custGeom>
            <a:avLst/>
            <a:gdLst/>
            <a:ahLst/>
            <a:cxnLst/>
            <a:rect l="l" t="t" r="r" b="b"/>
            <a:pathLst>
              <a:path w="2160727" h="2160727">
                <a:moveTo>
                  <a:pt x="0" y="0"/>
                </a:moveTo>
                <a:lnTo>
                  <a:pt x="2160726" y="0"/>
                </a:lnTo>
                <a:lnTo>
                  <a:pt x="2160726" y="2160727"/>
                </a:lnTo>
                <a:lnTo>
                  <a:pt x="0" y="2160727"/>
                </a:lnTo>
                <a:lnTo>
                  <a:pt x="0" y="0"/>
                </a:lnTo>
                <a:close/>
              </a:path>
            </a:pathLst>
          </a:custGeom>
          <a:blipFill>
            <a:blip r:embed="rId11"/>
            <a:stretch>
              <a:fillRect/>
            </a:stretch>
          </a:blipFill>
        </p:spPr>
      </p:sp>
      <p:sp>
        <p:nvSpPr>
          <p:cNvPr id="14" name="Claim"/>
          <p:cNvSpPr txBox="1"/>
          <p:nvPr/>
        </p:nvSpPr>
        <p:spPr>
          <a:xfrm>
            <a:off x="777240" y="1828800"/>
            <a:ext cx="15179040" cy="914400"/>
          </a:xfrm>
          <a:prstGeom prst="rect">
            <a:avLst/>
          </a:prstGeom>
          <a:noFill/>
        </p:spPr>
        <p:txBody>
          <a:bodyPr wrap="square" lIns="0" rIns="0" tIns="0" bIns="0" anchor="ctr">
            <a:noAutofit/>
          </a:bodyPr>
          <a:lstStyle/>
          <a:p>
            <a:pPr algn="l">
              <a:lnSpc>
                <a:spcPct val="100000"/>
              </a:lnSpc>
              <a:spcAft>
                <a:spcPts val="0"/>
              </a:spcAft>
            </a:pPr>
            <a:r>
              <a:rPr sz="4480" b="1">
                <a:solidFill>
                  <a:srgbClr val="172243"/>
                </a:solidFill>
                <a:latin typeface="Heading Now 31-38 Bold"/>
              </a:rPr>
              <a:t>Most escrow demos secure the money. </a:t>
            </a:r>
            <a:r>
              <a:rPr sz="2736" i="1">
                <a:solidFill>
                  <a:srgbClr val="4E4A76"/>
                </a:solidFill>
                <a:latin typeface="Georgia"/>
              </a:rPr>
              <a:t>Sealstone also secures the agreement and the file.</a:t>
            </a:r>
          </a:p>
        </p:txBody>
      </p:sp>
      <p:sp>
        <p:nvSpPr>
          <p:cNvPr id="15" name="Rounded Rectangle 14"/>
          <p:cNvSpPr/>
          <p:nvPr/>
        </p:nvSpPr>
        <p:spPr>
          <a:xfrm>
            <a:off x="822960" y="2834640"/>
            <a:ext cx="3611880" cy="4937760"/>
          </a:xfrm>
          <a:prstGeom prst="roundRect">
            <a:avLst>
              <a:gd name="adj" fmla="val 5063"/>
            </a:avLst>
          </a:prstGeom>
          <a:solidFill>
            <a:srgbClr val="FFFFFF"/>
          </a:solidFill>
          <a:ln w="31750">
            <a:solidFill>
              <a:srgbClr val="9A5B0A"/>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1051560" y="3063240"/>
            <a:ext cx="3154680" cy="457200"/>
          </a:xfrm>
          <a:prstGeom prst="roundRect">
            <a:avLst>
              <a:gd name="adj" fmla="val 50000"/>
            </a:avLst>
          </a:prstGeom>
          <a:solidFill>
            <a:srgbClr val="FBE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51560" y="3063240"/>
            <a:ext cx="3154680" cy="457200"/>
          </a:xfrm>
          <a:prstGeom prst="rect">
            <a:avLst/>
          </a:prstGeom>
          <a:noFill/>
        </p:spPr>
        <p:txBody>
          <a:bodyPr wrap="square" lIns="0" rIns="0" tIns="0" bIns="0" anchor="ctr">
            <a:noAutofit/>
          </a:bodyPr>
          <a:lstStyle/>
          <a:p>
            <a:pPr algn="ctr">
              <a:lnSpc>
                <a:spcPct val="100000"/>
              </a:lnSpc>
              <a:spcAft>
                <a:spcPts val="0"/>
              </a:spcAft>
            </a:pPr>
            <a:r>
              <a:rPr sz="1500" spc="150" b="1">
                <a:solidFill>
                  <a:srgbClr val="9A5B0A"/>
                </a:solidFill>
                <a:latin typeface="Calibri"/>
              </a:rPr>
              <a:t>AGREEMENT INTEGRITY</a:t>
            </a:r>
          </a:p>
        </p:txBody>
      </p:sp>
      <p:sp>
        <p:nvSpPr>
          <p:cNvPr id="18" name="TextBox 17"/>
          <p:cNvSpPr txBox="1"/>
          <p:nvPr/>
        </p:nvSpPr>
        <p:spPr>
          <a:xfrm>
            <a:off x="1097280" y="3703320"/>
            <a:ext cx="3063240" cy="1097280"/>
          </a:xfrm>
          <a:prstGeom prst="rect">
            <a:avLst/>
          </a:prstGeom>
          <a:noFill/>
        </p:spPr>
        <p:txBody>
          <a:bodyPr wrap="square" lIns="0" rIns="0" tIns="0" bIns="0" anchor="t">
            <a:noAutofit/>
          </a:bodyPr>
          <a:lstStyle/>
          <a:p>
            <a:pPr algn="l">
              <a:lnSpc>
                <a:spcPct val="100000"/>
              </a:lnSpc>
              <a:spcAft>
                <a:spcPts val="0"/>
              </a:spcAft>
            </a:pPr>
            <a:r>
              <a:rPr sz="3070" b="1">
                <a:solidFill>
                  <a:srgbClr val="172243"/>
                </a:solidFill>
                <a:latin typeface="Heading Now 31-38 Bold"/>
              </a:rPr>
              <a:t>Vague terms can't reach the contract</a:t>
            </a:r>
          </a:p>
        </p:txBody>
      </p:sp>
      <p:sp>
        <p:nvSpPr>
          <p:cNvPr id="19" name="Rounded Rectangle 18"/>
          <p:cNvSpPr/>
          <p:nvPr/>
        </p:nvSpPr>
        <p:spPr>
          <a:xfrm>
            <a:off x="1051560" y="6629400"/>
            <a:ext cx="3154680" cy="1005840"/>
          </a:xfrm>
          <a:prstGeom prst="roundRect">
            <a:avLst>
              <a:gd name="adj" fmla="val 10909"/>
            </a:avLst>
          </a:prstGeom>
          <a:solidFill>
            <a:srgbClr val="FDF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188720" y="6675120"/>
            <a:ext cx="2880360" cy="274320"/>
          </a:xfrm>
          <a:prstGeom prst="rect">
            <a:avLst/>
          </a:prstGeom>
          <a:noFill/>
        </p:spPr>
        <p:txBody>
          <a:bodyPr wrap="square" lIns="0" rIns="0" tIns="0" bIns="0" anchor="t">
            <a:noAutofit/>
          </a:bodyPr>
          <a:lstStyle/>
          <a:p>
            <a:pPr algn="l">
              <a:lnSpc>
                <a:spcPct val="100000"/>
              </a:lnSpc>
              <a:spcAft>
                <a:spcPts val="0"/>
              </a:spcAft>
            </a:pPr>
            <a:r>
              <a:rPr sz="1300" spc="250" b="1">
                <a:solidFill>
                  <a:srgbClr val="4E4A76"/>
                </a:solidFill>
                <a:latin typeface="Calibri"/>
              </a:rPr>
              <a:t>LIVE PROOF</a:t>
            </a:r>
          </a:p>
        </p:txBody>
      </p:sp>
      <p:sp>
        <p:nvSpPr>
          <p:cNvPr id="21" name="TextBox 20"/>
          <p:cNvSpPr txBox="1"/>
          <p:nvPr/>
        </p:nvSpPr>
        <p:spPr>
          <a:xfrm>
            <a:off x="1188720" y="6949440"/>
            <a:ext cx="2880360" cy="640080"/>
          </a:xfrm>
          <a:prstGeom prst="rect">
            <a:avLst/>
          </a:prstGeom>
          <a:noFill/>
        </p:spPr>
        <p:txBody>
          <a:bodyPr wrap="square" lIns="0" rIns="0" tIns="0" bIns="0" anchor="t">
            <a:noAutofit/>
          </a:bodyPr>
          <a:lstStyle/>
          <a:p>
            <a:pPr algn="l">
              <a:lnSpc>
                <a:spcPct val="100000"/>
              </a:lnSpc>
              <a:spcAft>
                <a:spcPts val="0"/>
              </a:spcAft>
            </a:pPr>
            <a:r>
              <a:rPr sz="1500">
                <a:solidFill>
                  <a:srgbClr val="172243"/>
                </a:solidFill>
                <a:latin typeface="Consolas"/>
              </a:rPr>
              <a:t>agreement studio, Extract</a:t>
            </a:r>
          </a:p>
        </p:txBody>
      </p:sp>
      <p:sp>
        <p:nvSpPr>
          <p:cNvPr id="22" name="Rounded Rectangle 21"/>
          <p:cNvSpPr/>
          <p:nvPr/>
        </p:nvSpPr>
        <p:spPr>
          <a:xfrm>
            <a:off x="4681728" y="2834640"/>
            <a:ext cx="3611880" cy="4937760"/>
          </a:xfrm>
          <a:prstGeom prst="roundRect">
            <a:avLst>
              <a:gd name="adj" fmla="val 5063"/>
            </a:avLst>
          </a:prstGeom>
          <a:solidFill>
            <a:srgbClr val="FFFFFF"/>
          </a:solidFill>
          <a:ln w="31750">
            <a:solidFill>
              <a:srgbClr val="2F56C9"/>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4910328" y="3063240"/>
            <a:ext cx="3154680" cy="457200"/>
          </a:xfrm>
          <a:prstGeom prst="roundRect">
            <a:avLst>
              <a:gd name="adj" fmla="val 50000"/>
            </a:avLst>
          </a:prstGeom>
          <a:solidFill>
            <a:srgbClr val="E0E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910328" y="3063240"/>
            <a:ext cx="3154680" cy="457200"/>
          </a:xfrm>
          <a:prstGeom prst="rect">
            <a:avLst/>
          </a:prstGeom>
          <a:noFill/>
        </p:spPr>
        <p:txBody>
          <a:bodyPr wrap="square" lIns="0" rIns="0" tIns="0" bIns="0" anchor="ctr">
            <a:noAutofit/>
          </a:bodyPr>
          <a:lstStyle/>
          <a:p>
            <a:pPr algn="ctr">
              <a:lnSpc>
                <a:spcPct val="100000"/>
              </a:lnSpc>
              <a:spcAft>
                <a:spcPts val="0"/>
              </a:spcAft>
            </a:pPr>
            <a:r>
              <a:rPr sz="1500" spc="150" b="1">
                <a:solidFill>
                  <a:srgbClr val="2F56C9"/>
                </a:solidFill>
                <a:latin typeface="Calibri"/>
              </a:rPr>
              <a:t>DELIVERABLE INTEGRITY</a:t>
            </a:r>
          </a:p>
        </p:txBody>
      </p:sp>
      <p:sp>
        <p:nvSpPr>
          <p:cNvPr id="25" name="TextBox 24"/>
          <p:cNvSpPr txBox="1"/>
          <p:nvPr/>
        </p:nvSpPr>
        <p:spPr>
          <a:xfrm>
            <a:off x="4956048" y="3703320"/>
            <a:ext cx="3063240" cy="1097280"/>
          </a:xfrm>
          <a:prstGeom prst="rect">
            <a:avLst/>
          </a:prstGeom>
          <a:noFill/>
        </p:spPr>
        <p:txBody>
          <a:bodyPr wrap="square" lIns="0" rIns="0" tIns="0" bIns="0" anchor="t">
            <a:noAutofit/>
          </a:bodyPr>
          <a:lstStyle/>
          <a:p>
            <a:pPr algn="l">
              <a:lnSpc>
                <a:spcPct val="100000"/>
              </a:lnSpc>
              <a:spcAft>
                <a:spcPts val="0"/>
              </a:spcAft>
            </a:pPr>
            <a:r>
              <a:rPr sz="3070" b="1">
                <a:solidFill>
                  <a:srgbClr val="172243"/>
                </a:solidFill>
                <a:latin typeface="Heading Now 31-38 Bold"/>
              </a:rPr>
              <a:t>Approval is bound to the exact file</a:t>
            </a:r>
          </a:p>
        </p:txBody>
      </p:sp>
      <p:sp>
        <p:nvSpPr>
          <p:cNvPr id="26" name="Rounded Rectangle 25"/>
          <p:cNvSpPr/>
          <p:nvPr/>
        </p:nvSpPr>
        <p:spPr>
          <a:xfrm>
            <a:off x="4910328" y="6629400"/>
            <a:ext cx="3154680" cy="1005840"/>
          </a:xfrm>
          <a:prstGeom prst="roundRect">
            <a:avLst>
              <a:gd name="adj" fmla="val 10909"/>
            </a:avLst>
          </a:prstGeom>
          <a:solidFill>
            <a:srgbClr val="FDF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047488" y="6675120"/>
            <a:ext cx="2880360" cy="274320"/>
          </a:xfrm>
          <a:prstGeom prst="rect">
            <a:avLst/>
          </a:prstGeom>
          <a:noFill/>
        </p:spPr>
        <p:txBody>
          <a:bodyPr wrap="square" lIns="0" rIns="0" tIns="0" bIns="0" anchor="t">
            <a:noAutofit/>
          </a:bodyPr>
          <a:lstStyle/>
          <a:p>
            <a:pPr algn="l">
              <a:lnSpc>
                <a:spcPct val="100000"/>
              </a:lnSpc>
              <a:spcAft>
                <a:spcPts val="0"/>
              </a:spcAft>
            </a:pPr>
            <a:r>
              <a:rPr sz="1300" spc="250" b="1">
                <a:solidFill>
                  <a:srgbClr val="4E4A76"/>
                </a:solidFill>
                <a:latin typeface="Calibri"/>
              </a:rPr>
              <a:t>LIVE PROOF</a:t>
            </a:r>
          </a:p>
        </p:txBody>
      </p:sp>
      <p:sp>
        <p:nvSpPr>
          <p:cNvPr id="28" name="TextBox 27"/>
          <p:cNvSpPr txBox="1"/>
          <p:nvPr/>
        </p:nvSpPr>
        <p:spPr>
          <a:xfrm>
            <a:off x="5047488" y="6949440"/>
            <a:ext cx="2880360" cy="640080"/>
          </a:xfrm>
          <a:prstGeom prst="rect">
            <a:avLst/>
          </a:prstGeom>
          <a:noFill/>
        </p:spPr>
        <p:txBody>
          <a:bodyPr wrap="square" lIns="0" rIns="0" tIns="0" bIns="0" anchor="t">
            <a:noAutofit/>
          </a:bodyPr>
          <a:lstStyle/>
          <a:p>
            <a:pPr algn="l">
              <a:lnSpc>
                <a:spcPct val="100000"/>
              </a:lnSpc>
              <a:spcAft>
                <a:spcPts val="0"/>
              </a:spcAft>
            </a:pPr>
            <a:r>
              <a:rPr sz="1500">
                <a:solidFill>
                  <a:srgbClr val="172243"/>
                </a:solidFill>
                <a:latin typeface="Consolas"/>
              </a:rPr>
              <a:t>rejects approval of a swapped deliverable</a:t>
            </a:r>
          </a:p>
        </p:txBody>
      </p:sp>
      <p:sp>
        <p:nvSpPr>
          <p:cNvPr id="29" name="Rounded Rectangle 28"/>
          <p:cNvSpPr/>
          <p:nvPr/>
        </p:nvSpPr>
        <p:spPr>
          <a:xfrm>
            <a:off x="8540496" y="2834640"/>
            <a:ext cx="3611880" cy="4937760"/>
          </a:xfrm>
          <a:prstGeom prst="roundRect">
            <a:avLst>
              <a:gd name="adj" fmla="val 5063"/>
            </a:avLst>
          </a:prstGeom>
          <a:solidFill>
            <a:srgbClr val="FFFFFF"/>
          </a:solidFill>
          <a:ln w="31750">
            <a:solidFill>
              <a:srgbClr val="0B7A5B"/>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8769096" y="3063240"/>
            <a:ext cx="3154680" cy="457200"/>
          </a:xfrm>
          <a:prstGeom prst="roundRect">
            <a:avLst>
              <a:gd name="adj" fmla="val 50000"/>
            </a:avLst>
          </a:prstGeom>
          <a:solidFill>
            <a:srgbClr val="DD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769096" y="3063240"/>
            <a:ext cx="3154680" cy="457200"/>
          </a:xfrm>
          <a:prstGeom prst="rect">
            <a:avLst/>
          </a:prstGeom>
          <a:noFill/>
        </p:spPr>
        <p:txBody>
          <a:bodyPr wrap="square" lIns="0" rIns="0" tIns="0" bIns="0" anchor="ctr">
            <a:noAutofit/>
          </a:bodyPr>
          <a:lstStyle/>
          <a:p>
            <a:pPr algn="ctr">
              <a:lnSpc>
                <a:spcPct val="100000"/>
              </a:lnSpc>
              <a:spcAft>
                <a:spcPts val="0"/>
              </a:spcAft>
            </a:pPr>
            <a:r>
              <a:rPr sz="1500" spc="150" b="1">
                <a:solidFill>
                  <a:srgbClr val="0B7A5B"/>
                </a:solidFill>
                <a:latin typeface="Calibri"/>
              </a:rPr>
              <a:t>FUND INTEGRITY</a:t>
            </a:r>
          </a:p>
        </p:txBody>
      </p:sp>
      <p:sp>
        <p:nvSpPr>
          <p:cNvPr id="32" name="TextBox 31"/>
          <p:cNvSpPr txBox="1"/>
          <p:nvPr/>
        </p:nvSpPr>
        <p:spPr>
          <a:xfrm>
            <a:off x="8814816" y="3703320"/>
            <a:ext cx="3063240" cy="1097280"/>
          </a:xfrm>
          <a:prstGeom prst="rect">
            <a:avLst/>
          </a:prstGeom>
          <a:noFill/>
        </p:spPr>
        <p:txBody>
          <a:bodyPr wrap="square" lIns="0" rIns="0" tIns="0" bIns="0" anchor="t">
            <a:noAutofit/>
          </a:bodyPr>
          <a:lstStyle/>
          <a:p>
            <a:pPr algn="l">
              <a:lnSpc>
                <a:spcPct val="100000"/>
              </a:lnSpc>
              <a:spcAft>
                <a:spcPts val="0"/>
              </a:spcAft>
            </a:pPr>
            <a:r>
              <a:rPr sz="3070" b="1">
                <a:solidFill>
                  <a:srgbClr val="172243"/>
                </a:solidFill>
                <a:latin typeface="Heading Now 31-38 Bold"/>
              </a:rPr>
              <a:t>Forced-in money can't break the books</a:t>
            </a:r>
          </a:p>
        </p:txBody>
      </p:sp>
      <p:sp>
        <p:nvSpPr>
          <p:cNvPr id="33" name="Rounded Rectangle 32"/>
          <p:cNvSpPr/>
          <p:nvPr/>
        </p:nvSpPr>
        <p:spPr>
          <a:xfrm>
            <a:off x="8769096" y="6629400"/>
            <a:ext cx="3154680" cy="1005840"/>
          </a:xfrm>
          <a:prstGeom prst="roundRect">
            <a:avLst>
              <a:gd name="adj" fmla="val 10909"/>
            </a:avLst>
          </a:prstGeom>
          <a:solidFill>
            <a:srgbClr val="FDF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906256" y="6675120"/>
            <a:ext cx="2880360" cy="274320"/>
          </a:xfrm>
          <a:prstGeom prst="rect">
            <a:avLst/>
          </a:prstGeom>
          <a:noFill/>
        </p:spPr>
        <p:txBody>
          <a:bodyPr wrap="square" lIns="0" rIns="0" tIns="0" bIns="0" anchor="t">
            <a:noAutofit/>
          </a:bodyPr>
          <a:lstStyle/>
          <a:p>
            <a:pPr algn="l">
              <a:lnSpc>
                <a:spcPct val="100000"/>
              </a:lnSpc>
              <a:spcAft>
                <a:spcPts val="0"/>
              </a:spcAft>
            </a:pPr>
            <a:r>
              <a:rPr sz="1300" spc="250" b="1">
                <a:solidFill>
                  <a:srgbClr val="4E4A76"/>
                </a:solidFill>
                <a:latin typeface="Calibri"/>
              </a:rPr>
              <a:t>LIVE PROOF</a:t>
            </a:r>
          </a:p>
        </p:txBody>
      </p:sp>
      <p:sp>
        <p:nvSpPr>
          <p:cNvPr id="35" name="TextBox 34"/>
          <p:cNvSpPr txBox="1"/>
          <p:nvPr/>
        </p:nvSpPr>
        <p:spPr>
          <a:xfrm>
            <a:off x="8906256" y="6949440"/>
            <a:ext cx="2880360" cy="640080"/>
          </a:xfrm>
          <a:prstGeom prst="rect">
            <a:avLst/>
          </a:prstGeom>
          <a:noFill/>
        </p:spPr>
        <p:txBody>
          <a:bodyPr wrap="square" lIns="0" rIns="0" tIns="0" bIns="0" anchor="t">
            <a:noAutofit/>
          </a:bodyPr>
          <a:lstStyle/>
          <a:p>
            <a:pPr algn="l">
              <a:lnSpc>
                <a:spcPct val="100000"/>
              </a:lnSpc>
              <a:spcAft>
                <a:spcPts val="0"/>
              </a:spcAft>
            </a:pPr>
            <a:r>
              <a:rPr sz="1500">
                <a:solidFill>
                  <a:srgbClr val="172243"/>
                </a:solidFill>
                <a:latin typeface="Consolas"/>
              </a:rPr>
              <a:t>attack: Force ETH in with selfdestruct</a:t>
            </a:r>
          </a:p>
        </p:txBody>
      </p:sp>
      <p:sp>
        <p:nvSpPr>
          <p:cNvPr id="36" name="Rounded Rectangle 35"/>
          <p:cNvSpPr/>
          <p:nvPr/>
        </p:nvSpPr>
        <p:spPr>
          <a:xfrm>
            <a:off x="12399264" y="2834640"/>
            <a:ext cx="3611880" cy="4937760"/>
          </a:xfrm>
          <a:prstGeom prst="roundRect">
            <a:avLst>
              <a:gd name="adj" fmla="val 5063"/>
            </a:avLst>
          </a:prstGeom>
          <a:solidFill>
            <a:srgbClr val="FFFFFF"/>
          </a:solidFill>
          <a:ln w="31750">
            <a:solidFill>
              <a:srgbClr val="5B45E6"/>
            </a:solidFill>
          </a:ln>
          <a:effectLst>
            <a:outerShdw blurRad="203200" dist="63500" dir="5400000" algn="t"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12627864" y="3063240"/>
            <a:ext cx="3154680" cy="457200"/>
          </a:xfrm>
          <a:prstGeom prst="roundRect">
            <a:avLst>
              <a:gd name="adj" fmla="val 50000"/>
            </a:avLst>
          </a:prstGeom>
          <a:solidFill>
            <a:srgbClr val="EFE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2627864" y="3063240"/>
            <a:ext cx="3154680" cy="457200"/>
          </a:xfrm>
          <a:prstGeom prst="rect">
            <a:avLst/>
          </a:prstGeom>
          <a:noFill/>
        </p:spPr>
        <p:txBody>
          <a:bodyPr wrap="square" lIns="0" rIns="0" tIns="0" bIns="0" anchor="ctr">
            <a:noAutofit/>
          </a:bodyPr>
          <a:lstStyle/>
          <a:p>
            <a:pPr algn="ctr">
              <a:lnSpc>
                <a:spcPct val="100000"/>
              </a:lnSpc>
              <a:spcAft>
                <a:spcPts val="0"/>
              </a:spcAft>
            </a:pPr>
            <a:r>
              <a:rPr sz="1500" spc="150" b="1">
                <a:solidFill>
                  <a:srgbClr val="5B45E6"/>
                </a:solidFill>
                <a:latin typeface="Calibri"/>
              </a:rPr>
              <a:t>ADVERSARIAL PROOF</a:t>
            </a:r>
          </a:p>
        </p:txBody>
      </p:sp>
      <p:sp>
        <p:nvSpPr>
          <p:cNvPr id="39" name="TextBox 38"/>
          <p:cNvSpPr txBox="1"/>
          <p:nvPr/>
        </p:nvSpPr>
        <p:spPr>
          <a:xfrm>
            <a:off x="12673584" y="3703320"/>
            <a:ext cx="3063240" cy="1097280"/>
          </a:xfrm>
          <a:prstGeom prst="rect">
            <a:avLst/>
          </a:prstGeom>
          <a:noFill/>
        </p:spPr>
        <p:txBody>
          <a:bodyPr wrap="square" lIns="0" rIns="0" tIns="0" bIns="0" anchor="t">
            <a:noAutofit/>
          </a:bodyPr>
          <a:lstStyle/>
          <a:p>
            <a:pPr algn="l">
              <a:lnSpc>
                <a:spcPct val="100000"/>
              </a:lnSpc>
              <a:spcAft>
                <a:spcPts val="0"/>
              </a:spcAft>
            </a:pPr>
            <a:r>
              <a:rPr sz="3070" b="1">
                <a:solidFill>
                  <a:srgbClr val="172243"/>
                </a:solidFill>
                <a:latin typeface="Heading Now 31-38 Bold"/>
              </a:rPr>
              <a:t>You fire the attacks yourself</a:t>
            </a:r>
          </a:p>
        </p:txBody>
      </p:sp>
      <p:sp>
        <p:nvSpPr>
          <p:cNvPr id="40" name="Rounded Rectangle 39"/>
          <p:cNvSpPr/>
          <p:nvPr/>
        </p:nvSpPr>
        <p:spPr>
          <a:xfrm>
            <a:off x="12627864" y="6629400"/>
            <a:ext cx="3154680" cy="1005840"/>
          </a:xfrm>
          <a:prstGeom prst="roundRect">
            <a:avLst>
              <a:gd name="adj" fmla="val 10909"/>
            </a:avLst>
          </a:prstGeom>
          <a:solidFill>
            <a:srgbClr val="FDF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2765024" y="6675120"/>
            <a:ext cx="2880360" cy="274320"/>
          </a:xfrm>
          <a:prstGeom prst="rect">
            <a:avLst/>
          </a:prstGeom>
          <a:noFill/>
        </p:spPr>
        <p:txBody>
          <a:bodyPr wrap="square" lIns="0" rIns="0" tIns="0" bIns="0" anchor="t">
            <a:noAutofit/>
          </a:bodyPr>
          <a:lstStyle/>
          <a:p>
            <a:pPr algn="l">
              <a:lnSpc>
                <a:spcPct val="100000"/>
              </a:lnSpc>
              <a:spcAft>
                <a:spcPts val="0"/>
              </a:spcAft>
            </a:pPr>
            <a:r>
              <a:rPr sz="1300" spc="250" b="1">
                <a:solidFill>
                  <a:srgbClr val="4E4A76"/>
                </a:solidFill>
                <a:latin typeface="Calibri"/>
              </a:rPr>
              <a:t>LIVE PROOF</a:t>
            </a:r>
          </a:p>
        </p:txBody>
      </p:sp>
      <p:sp>
        <p:nvSpPr>
          <p:cNvPr id="42" name="TextBox 41"/>
          <p:cNvSpPr txBox="1"/>
          <p:nvPr/>
        </p:nvSpPr>
        <p:spPr>
          <a:xfrm>
            <a:off x="12765024" y="6949440"/>
            <a:ext cx="2880360" cy="640080"/>
          </a:xfrm>
          <a:prstGeom prst="rect">
            <a:avLst/>
          </a:prstGeom>
          <a:noFill/>
        </p:spPr>
        <p:txBody>
          <a:bodyPr wrap="square" lIns="0" rIns="0" tIns="0" bIns="0" anchor="t">
            <a:noAutofit/>
          </a:bodyPr>
          <a:lstStyle/>
          <a:p>
            <a:pPr algn="l">
              <a:lnSpc>
                <a:spcPct val="100000"/>
              </a:lnSpc>
              <a:spcAft>
                <a:spcPts val="0"/>
              </a:spcAft>
            </a:pPr>
            <a:r>
              <a:rPr sz="1500">
                <a:solidFill>
                  <a:srgbClr val="172243"/>
                </a:solidFill>
                <a:latin typeface="Consolas"/>
              </a:rPr>
              <a:t>Attack Lab, Run all attacks</a:t>
            </a:r>
          </a:p>
        </p:txBody>
      </p:sp>
      <p:sp>
        <p:nvSpPr>
          <p:cNvPr id="43" name="Rounded Rectangle 42"/>
          <p:cNvSpPr/>
          <p:nvPr/>
        </p:nvSpPr>
        <p:spPr>
          <a:xfrm>
            <a:off x="1143000" y="4937760"/>
            <a:ext cx="2971800" cy="502920"/>
          </a:xfrm>
          <a:prstGeom prst="roundRect">
            <a:avLst>
              <a:gd name="adj" fmla="val 50000"/>
            </a:avLst>
          </a:prstGeom>
          <a:solidFill>
            <a:srgbClr val="FBE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143000" y="4937760"/>
            <a:ext cx="2971800" cy="502920"/>
          </a:xfrm>
          <a:prstGeom prst="rect">
            <a:avLst/>
          </a:prstGeom>
          <a:noFill/>
        </p:spPr>
        <p:txBody>
          <a:bodyPr wrap="square" lIns="0" rIns="0" tIns="0" bIns="0" anchor="ctr">
            <a:noAutofit/>
          </a:bodyPr>
          <a:lstStyle/>
          <a:p>
            <a:pPr algn="ctr">
              <a:lnSpc>
                <a:spcPct val="100000"/>
              </a:lnSpc>
              <a:spcAft>
                <a:spcPts val="0"/>
              </a:spcAft>
            </a:pPr>
            <a:r>
              <a:rPr sz="1700" i="1">
                <a:solidFill>
                  <a:srgbClr val="9A5B0A"/>
                </a:solidFill>
                <a:latin typeface="Georgia"/>
              </a:rPr>
              <a:t>"to the mentor's satisfaction"</a:t>
            </a:r>
          </a:p>
        </p:txBody>
      </p:sp>
      <p:sp>
        <p:nvSpPr>
          <p:cNvPr id="45" name="TextBox 44"/>
          <p:cNvSpPr txBox="1"/>
          <p:nvPr/>
        </p:nvSpPr>
        <p:spPr>
          <a:xfrm>
            <a:off x="1143000" y="5440680"/>
            <a:ext cx="2971800" cy="411480"/>
          </a:xfrm>
          <a:prstGeom prst="rect">
            <a:avLst/>
          </a:prstGeom>
          <a:noFill/>
        </p:spPr>
        <p:txBody>
          <a:bodyPr wrap="square" lIns="0" rIns="0" tIns="0" bIns="0" anchor="ctr">
            <a:noAutofit/>
          </a:bodyPr>
          <a:lstStyle/>
          <a:p>
            <a:pPr algn="ctr">
              <a:lnSpc>
                <a:spcPct val="100000"/>
              </a:lnSpc>
              <a:spcAft>
                <a:spcPts val="0"/>
              </a:spcAft>
            </a:pPr>
            <a:r>
              <a:rPr sz="2600" b="1">
                <a:solidFill>
                  <a:srgbClr val="4E4A76"/>
                </a:solidFill>
                <a:latin typeface="Segoe UI Symbol"/>
              </a:rPr>
              <a:t>↓</a:t>
            </a:r>
          </a:p>
        </p:txBody>
      </p:sp>
      <p:sp>
        <p:nvSpPr>
          <p:cNvPr id="46" name="Rounded Rectangle 45"/>
          <p:cNvSpPr/>
          <p:nvPr/>
        </p:nvSpPr>
        <p:spPr>
          <a:xfrm>
            <a:off x="1143000" y="5897880"/>
            <a:ext cx="2971800" cy="502920"/>
          </a:xfrm>
          <a:prstGeom prst="roundRect">
            <a:avLst>
              <a:gd name="adj" fmla="val 50000"/>
            </a:avLst>
          </a:prstGeom>
          <a:solidFill>
            <a:srgbClr val="DD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143000" y="5897880"/>
            <a:ext cx="2971800" cy="502920"/>
          </a:xfrm>
          <a:prstGeom prst="rect">
            <a:avLst/>
          </a:prstGeom>
          <a:noFill/>
        </p:spPr>
        <p:txBody>
          <a:bodyPr wrap="square" lIns="0" rIns="0" tIns="0" bIns="0" anchor="ctr">
            <a:noAutofit/>
          </a:bodyPr>
          <a:lstStyle/>
          <a:p>
            <a:pPr algn="ctr">
              <a:lnSpc>
                <a:spcPct val="100000"/>
              </a:lnSpc>
              <a:spcAft>
                <a:spcPts val="0"/>
              </a:spcAft>
            </a:pPr>
            <a:r>
              <a:rPr sz="1810">
                <a:solidFill>
                  <a:srgbClr val="0B7A5B"/>
                </a:solidFill>
                <a:latin typeface="Calibri"/>
              </a:rPr>
              <a:t>A live demo, set by a person</a:t>
            </a:r>
          </a:p>
        </p:txBody>
      </p:sp>
      <p:pic>
        <p:nvPicPr>
          <p:cNvPr id="48" name="Picture 47" descr="v1.png"/>
          <p:cNvPicPr>
            <a:picLocks noChangeAspect="1"/>
          </p:cNvPicPr>
          <p:nvPr/>
        </p:nvPicPr>
        <p:blipFill>
          <a:blip r:embed="rId12"/>
          <a:stretch>
            <a:fillRect/>
          </a:stretch>
        </p:blipFill>
        <p:spPr>
          <a:xfrm>
            <a:off x="5093208" y="4892040"/>
            <a:ext cx="868680" cy="868680"/>
          </a:xfrm>
          <a:prstGeom prst="rect">
            <a:avLst/>
          </a:prstGeom>
        </p:spPr>
      </p:pic>
      <p:sp>
        <p:nvSpPr>
          <p:cNvPr id="49" name="TextBox 48"/>
          <p:cNvSpPr txBox="1"/>
          <p:nvPr/>
        </p:nvSpPr>
        <p:spPr>
          <a:xfrm>
            <a:off x="5961888" y="4937760"/>
            <a:ext cx="1097280" cy="777240"/>
          </a:xfrm>
          <a:prstGeom prst="rect">
            <a:avLst/>
          </a:prstGeom>
          <a:noFill/>
        </p:spPr>
        <p:txBody>
          <a:bodyPr wrap="square" lIns="0" rIns="0" tIns="0" bIns="0" anchor="ctr">
            <a:noAutofit/>
          </a:bodyPr>
          <a:lstStyle/>
          <a:p>
            <a:pPr algn="ctr">
              <a:lnSpc>
                <a:spcPct val="100000"/>
              </a:lnSpc>
              <a:spcAft>
                <a:spcPts val="0"/>
              </a:spcAft>
            </a:pPr>
            <a:r>
              <a:rPr sz="4800" b="1">
                <a:solidFill>
                  <a:srgbClr val="C0342B"/>
                </a:solidFill>
                <a:latin typeface="Segoe UI Symbol"/>
              </a:rPr>
              <a:t>≠</a:t>
            </a:r>
          </a:p>
        </p:txBody>
      </p:sp>
      <p:pic>
        <p:nvPicPr>
          <p:cNvPr id="50" name="Picture 49" descr="v2.png"/>
          <p:cNvPicPr>
            <a:picLocks noChangeAspect="1"/>
          </p:cNvPicPr>
          <p:nvPr/>
        </p:nvPicPr>
        <p:blipFill>
          <a:blip r:embed="rId13"/>
          <a:stretch>
            <a:fillRect/>
          </a:stretch>
        </p:blipFill>
        <p:spPr>
          <a:xfrm>
            <a:off x="7013448" y="4892040"/>
            <a:ext cx="868680" cy="868680"/>
          </a:xfrm>
          <a:prstGeom prst="rect">
            <a:avLst/>
          </a:prstGeom>
        </p:spPr>
      </p:pic>
      <p:sp>
        <p:nvSpPr>
          <p:cNvPr id="51" name="Rounded Rectangle 50"/>
          <p:cNvSpPr/>
          <p:nvPr/>
        </p:nvSpPr>
        <p:spPr>
          <a:xfrm>
            <a:off x="4956048" y="5897880"/>
            <a:ext cx="3063240" cy="502920"/>
          </a:xfrm>
          <a:prstGeom prst="roundRect">
            <a:avLst>
              <a:gd name="adj" fmla="val 49090"/>
            </a:avLst>
          </a:prstGeom>
          <a:solidFill>
            <a:srgbClr val="FBE1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4956048" y="5897880"/>
            <a:ext cx="3063240" cy="502920"/>
          </a:xfrm>
          <a:prstGeom prst="rect">
            <a:avLst/>
          </a:prstGeom>
          <a:noFill/>
        </p:spPr>
        <p:txBody>
          <a:bodyPr wrap="square" lIns="0" rIns="0" tIns="0" bIns="0" anchor="ctr">
            <a:noAutofit/>
          </a:bodyPr>
          <a:lstStyle/>
          <a:p>
            <a:pPr algn="ctr">
              <a:lnSpc>
                <a:spcPct val="100000"/>
              </a:lnSpc>
              <a:spcAft>
                <a:spcPts val="0"/>
              </a:spcAft>
            </a:pPr>
            <a:r>
              <a:rPr sz="1500" b="1">
                <a:solidFill>
                  <a:srgbClr val="C0342B"/>
                </a:solidFill>
                <a:latin typeface="Consolas"/>
              </a:rPr>
              <a:t>DeliverableHashMismatch</a:t>
            </a:r>
          </a:p>
        </p:txBody>
      </p:sp>
      <p:sp>
        <p:nvSpPr>
          <p:cNvPr id="53" name="TextBox 52"/>
          <p:cNvSpPr txBox="1"/>
          <p:nvPr/>
        </p:nvSpPr>
        <p:spPr>
          <a:xfrm>
            <a:off x="8814816" y="4800600"/>
            <a:ext cx="3063240" cy="822960"/>
          </a:xfrm>
          <a:prstGeom prst="rect">
            <a:avLst/>
          </a:prstGeom>
          <a:noFill/>
        </p:spPr>
        <p:txBody>
          <a:bodyPr wrap="square" lIns="0" rIns="0" tIns="0" bIns="0" anchor="ctr">
            <a:noAutofit/>
          </a:bodyPr>
          <a:lstStyle/>
          <a:p>
            <a:pPr algn="ctr">
              <a:lnSpc>
                <a:spcPct val="100000"/>
              </a:lnSpc>
              <a:spcAft>
                <a:spcPts val="0"/>
              </a:spcAft>
            </a:pPr>
            <a:r>
              <a:rPr sz="4600">
                <a:solidFill>
                  <a:srgbClr val="5B45E6"/>
                </a:solidFill>
                <a:latin typeface="Impact"/>
              </a:rPr>
              <a:t>0.300 ETH</a:t>
            </a:r>
          </a:p>
        </p:txBody>
      </p:sp>
      <p:sp>
        <p:nvSpPr>
          <p:cNvPr id="54" name="TextBox 53"/>
          <p:cNvSpPr txBox="1"/>
          <p:nvPr/>
        </p:nvSpPr>
        <p:spPr>
          <a:xfrm>
            <a:off x="8814816" y="5577840"/>
            <a:ext cx="3063240" cy="365760"/>
          </a:xfrm>
          <a:prstGeom prst="rect">
            <a:avLst/>
          </a:prstGeom>
          <a:noFill/>
        </p:spPr>
        <p:txBody>
          <a:bodyPr wrap="square" lIns="0" rIns="0" tIns="0" bIns="0" anchor="t">
            <a:noAutofit/>
          </a:bodyPr>
          <a:lstStyle/>
          <a:p>
            <a:pPr algn="ctr">
              <a:lnSpc>
                <a:spcPct val="100000"/>
              </a:lnSpc>
              <a:spcAft>
                <a:spcPts val="0"/>
              </a:spcAft>
            </a:pPr>
            <a:r>
              <a:rPr sz="1610">
                <a:solidFill>
                  <a:srgbClr val="4E4A76"/>
                </a:solidFill>
                <a:latin typeface="Calibri"/>
              </a:rPr>
              <a:t>surplus, never withdrawable</a:t>
            </a:r>
          </a:p>
        </p:txBody>
      </p:sp>
      <p:sp>
        <p:nvSpPr>
          <p:cNvPr id="55" name="Rounded Rectangle 54"/>
          <p:cNvSpPr/>
          <p:nvPr/>
        </p:nvSpPr>
        <p:spPr>
          <a:xfrm>
            <a:off x="8997696" y="5989320"/>
            <a:ext cx="2697480" cy="457200"/>
          </a:xfrm>
          <a:prstGeom prst="roundRect">
            <a:avLst>
              <a:gd name="adj" fmla="val 50000"/>
            </a:avLst>
          </a:prstGeom>
          <a:solidFill>
            <a:srgbClr val="DD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8997696" y="5989320"/>
            <a:ext cx="2697480" cy="457200"/>
          </a:xfrm>
          <a:prstGeom prst="rect">
            <a:avLst/>
          </a:prstGeom>
          <a:noFill/>
        </p:spPr>
        <p:txBody>
          <a:bodyPr wrap="square" lIns="0" rIns="0" tIns="0" bIns="0" anchor="ctr">
            <a:noAutofit/>
          </a:bodyPr>
          <a:lstStyle/>
          <a:p>
            <a:pPr algn="ctr">
              <a:lnSpc>
                <a:spcPct val="100000"/>
              </a:lnSpc>
              <a:spcAft>
                <a:spcPts val="0"/>
              </a:spcAft>
            </a:pPr>
            <a:r>
              <a:rPr sz="2240" b="1">
                <a:solidFill>
                  <a:srgbClr val="0B7A5B"/>
                </a:solidFill>
                <a:latin typeface="Heading Now 31-38 Bold"/>
              </a:rPr>
              <a:t>✓  books still reconcile</a:t>
            </a:r>
          </a:p>
        </p:txBody>
      </p:sp>
      <p:sp>
        <p:nvSpPr>
          <p:cNvPr id="57" name="TextBox 56"/>
          <p:cNvSpPr txBox="1"/>
          <p:nvPr/>
        </p:nvSpPr>
        <p:spPr>
          <a:xfrm>
            <a:off x="12673584" y="4800600"/>
            <a:ext cx="3063240" cy="822960"/>
          </a:xfrm>
          <a:prstGeom prst="rect">
            <a:avLst/>
          </a:prstGeom>
          <a:noFill/>
        </p:spPr>
        <p:txBody>
          <a:bodyPr wrap="square" lIns="0" rIns="0" tIns="0" bIns="0" anchor="ctr">
            <a:noAutofit/>
          </a:bodyPr>
          <a:lstStyle/>
          <a:p>
            <a:pPr algn="ctr">
              <a:lnSpc>
                <a:spcPct val="100000"/>
              </a:lnSpc>
              <a:spcAft>
                <a:spcPts val="0"/>
              </a:spcAft>
            </a:pPr>
            <a:r>
              <a:rPr sz="5000">
                <a:solidFill>
                  <a:srgbClr val="172243"/>
                </a:solidFill>
                <a:latin typeface="Impact"/>
              </a:rPr>
              <a:t>12 / 12</a:t>
            </a:r>
          </a:p>
        </p:txBody>
      </p:sp>
      <p:sp>
        <p:nvSpPr>
          <p:cNvPr id="58" name="TextBox 57"/>
          <p:cNvSpPr txBox="1"/>
          <p:nvPr/>
        </p:nvSpPr>
        <p:spPr>
          <a:xfrm>
            <a:off x="12673584" y="5577840"/>
            <a:ext cx="3063240" cy="365760"/>
          </a:xfrm>
          <a:prstGeom prst="rect">
            <a:avLst/>
          </a:prstGeom>
          <a:noFill/>
        </p:spPr>
        <p:txBody>
          <a:bodyPr wrap="square" lIns="0" rIns="0" tIns="0" bIns="0" anchor="t">
            <a:noAutofit/>
          </a:bodyPr>
          <a:lstStyle/>
          <a:p>
            <a:pPr algn="ctr">
              <a:lnSpc>
                <a:spcPct val="100000"/>
              </a:lnSpc>
              <a:spcAft>
                <a:spcPts val="0"/>
              </a:spcAft>
            </a:pPr>
            <a:r>
              <a:rPr sz="1610">
                <a:solidFill>
                  <a:srgbClr val="4E4A76"/>
                </a:solidFill>
                <a:latin typeface="Calibri"/>
              </a:rPr>
              <a:t>real transactions, all blocked</a:t>
            </a:r>
          </a:p>
        </p:txBody>
      </p:sp>
      <p:sp>
        <p:nvSpPr>
          <p:cNvPr id="59" name="Rounded Rectangle 58"/>
          <p:cNvSpPr/>
          <p:nvPr/>
        </p:nvSpPr>
        <p:spPr>
          <a:xfrm>
            <a:off x="12856464" y="5989320"/>
            <a:ext cx="2697480" cy="457200"/>
          </a:xfrm>
          <a:prstGeom prst="roundRect">
            <a:avLst>
              <a:gd name="adj" fmla="val 50000"/>
            </a:avLst>
          </a:prstGeom>
          <a:solidFill>
            <a:srgbClr val="172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12856464" y="5989320"/>
            <a:ext cx="2697480" cy="457200"/>
          </a:xfrm>
          <a:prstGeom prst="rect">
            <a:avLst/>
          </a:prstGeom>
          <a:noFill/>
        </p:spPr>
        <p:txBody>
          <a:bodyPr wrap="square" lIns="0" rIns="0" tIns="0" bIns="0" anchor="ctr">
            <a:noAutofit/>
          </a:bodyPr>
          <a:lstStyle/>
          <a:p>
            <a:pPr algn="ctr">
              <a:lnSpc>
                <a:spcPct val="100000"/>
              </a:lnSpc>
              <a:spcAft>
                <a:spcPts val="0"/>
              </a:spcAft>
            </a:pPr>
            <a:r>
              <a:rPr sz="2240" b="1">
                <a:solidFill>
                  <a:srgbClr val="FFFFFF"/>
                </a:solidFill>
                <a:latin typeface="Heading Now 31-38 Bold"/>
              </a:rPr>
              <a:t>Run all attacks</a:t>
            </a:r>
          </a:p>
        </p:txBody>
      </p:sp>
      <p:sp>
        <p:nvSpPr>
          <p:cNvPr id="61" name="Rounded Rectangle 60"/>
          <p:cNvSpPr/>
          <p:nvPr/>
        </p:nvSpPr>
        <p:spPr>
          <a:xfrm>
            <a:off x="822960" y="8001000"/>
            <a:ext cx="15179040" cy="1051560"/>
          </a:xfrm>
          <a:prstGeom prst="roundRect">
            <a:avLst>
              <a:gd name="adj" fmla="val 17391"/>
            </a:avLst>
          </a:prstGeom>
          <a:solidFill>
            <a:srgbClr val="172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1188720" y="8001000"/>
            <a:ext cx="14447520" cy="1051560"/>
          </a:xfrm>
          <a:prstGeom prst="rect">
            <a:avLst/>
          </a:prstGeom>
          <a:noFill/>
        </p:spPr>
        <p:txBody>
          <a:bodyPr wrap="square" lIns="0" rIns="0" tIns="0" bIns="0" anchor="ctr">
            <a:noAutofit/>
          </a:bodyPr>
          <a:lstStyle/>
          <a:p>
            <a:pPr algn="l">
              <a:lnSpc>
                <a:spcPct val="100000"/>
              </a:lnSpc>
              <a:spcAft>
                <a:spcPts val="0"/>
              </a:spcAft>
            </a:pPr>
            <a:r>
              <a:rPr sz="3000" b="1" i="1">
                <a:solidFill>
                  <a:srgbClr val="FAD3AE"/>
                </a:solidFill>
                <a:latin typeface="Georgia"/>
              </a:rPr>
              <a:t>Don't take our word for it. </a:t>
            </a:r>
            <a:r>
              <a:rPr sz="2470">
                <a:solidFill>
                  <a:srgbClr val="FFFFFF"/>
                </a:solidFill>
                <a:latin typeface="Calibri"/>
              </a:rPr>
              <a:t>Pick a role in the demo vault, or press Run all attacks.</a:t>
            </a:r>
          </a:p>
        </p:txBody>
      </p:sp>
      <p:sp>
        <p:nvSpPr>
          <p:cNvPr id="63" name="Rounded Rectangle 62"/>
          <p:cNvSpPr/>
          <p:nvPr/>
        </p:nvSpPr>
        <p:spPr>
          <a:xfrm>
            <a:off x="822960" y="9281160"/>
            <a:ext cx="4023360" cy="502920"/>
          </a:xfrm>
          <a:prstGeom prst="roundRect">
            <a:avLst>
              <a:gd name="adj" fmla="val 50000"/>
            </a:avLst>
          </a:prstGeom>
          <a:solidFill>
            <a:srgbClr val="EFE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822960" y="9281160"/>
            <a:ext cx="4023360" cy="502920"/>
          </a:xfrm>
          <a:prstGeom prst="rect">
            <a:avLst/>
          </a:prstGeom>
          <a:noFill/>
        </p:spPr>
        <p:txBody>
          <a:bodyPr wrap="square" lIns="0" rIns="0" tIns="0" bIns="0" anchor="ctr">
            <a:noAutofit/>
          </a:bodyPr>
          <a:lstStyle/>
          <a:p>
            <a:pPr algn="ctr">
              <a:lnSpc>
                <a:spcPct val="100000"/>
              </a:lnSpc>
              <a:spcAft>
                <a:spcPts val="0"/>
              </a:spcAft>
            </a:pPr>
            <a:r>
              <a:rPr sz="2120" b="1">
                <a:solidFill>
                  <a:srgbClr val="5B45E6"/>
                </a:solidFill>
                <a:latin typeface="Heading Now 31-38 Bold"/>
              </a:rPr>
              <a:t>AI never moves money</a:t>
            </a:r>
          </a:p>
        </p:txBody>
      </p:sp>
      <p:sp>
        <p:nvSpPr>
          <p:cNvPr id="65" name="Rounded Rectangle 64"/>
          <p:cNvSpPr/>
          <p:nvPr/>
        </p:nvSpPr>
        <p:spPr>
          <a:xfrm>
            <a:off x="5029200" y="9281160"/>
            <a:ext cx="3566160" cy="502920"/>
          </a:xfrm>
          <a:prstGeom prst="roundRect">
            <a:avLst>
              <a:gd name="adj" fmla="val 50000"/>
            </a:avLst>
          </a:prstGeom>
          <a:solidFill>
            <a:srgbClr val="EFE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5029200" y="9281160"/>
            <a:ext cx="3566160" cy="502920"/>
          </a:xfrm>
          <a:prstGeom prst="rect">
            <a:avLst/>
          </a:prstGeom>
          <a:noFill/>
        </p:spPr>
        <p:txBody>
          <a:bodyPr wrap="square" lIns="0" rIns="0" tIns="0" bIns="0" anchor="ctr">
            <a:noAutofit/>
          </a:bodyPr>
          <a:lstStyle/>
          <a:p>
            <a:pPr algn="ctr">
              <a:lnSpc>
                <a:spcPct val="100000"/>
              </a:lnSpc>
              <a:spcAft>
                <a:spcPts val="0"/>
              </a:spcAft>
            </a:pPr>
            <a:r>
              <a:rPr sz="2120" b="1">
                <a:solidFill>
                  <a:srgbClr val="5B45E6"/>
                </a:solidFill>
                <a:latin typeface="Heading Now 31-38 Bold"/>
              </a:rPr>
              <a:t>Works with Wi-Fi off</a:t>
            </a:r>
          </a:p>
        </p:txBody>
      </p:sp>
      <p:sp>
        <p:nvSpPr>
          <p:cNvPr id="67" name="TextBox 66"/>
          <p:cNvSpPr txBox="1"/>
          <p:nvPr/>
        </p:nvSpPr>
        <p:spPr>
          <a:xfrm>
            <a:off x="8869680" y="9189720"/>
            <a:ext cx="7132320" cy="731520"/>
          </a:xfrm>
          <a:prstGeom prst="rect">
            <a:avLst/>
          </a:prstGeom>
          <a:noFill/>
        </p:spPr>
        <p:txBody>
          <a:bodyPr wrap="square" lIns="0" rIns="0" tIns="0" bIns="0" anchor="ctr">
            <a:noAutofit/>
          </a:bodyPr>
          <a:lstStyle/>
          <a:p>
            <a:pPr algn="l">
              <a:lnSpc>
                <a:spcPct val="100000"/>
              </a:lnSpc>
              <a:spcAft>
                <a:spcPts val="0"/>
              </a:spcAft>
            </a:pPr>
            <a:r>
              <a:rPr sz="1700" b="1">
                <a:solidFill>
                  <a:srgbClr val="172243"/>
                </a:solidFill>
                <a:latin typeface="Calibri"/>
              </a:rPr>
              <a:t>Honest limits: </a:t>
            </a:r>
            <a:r>
              <a:rPr sz="1610">
                <a:solidFill>
                  <a:srgbClr val="4E4A76"/>
                </a:solidFill>
                <a:latin typeface="Calibri"/>
              </a:rPr>
              <a:t>one contract per agreement, a trusted arbiter, and a hash proves identity, not quality.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0" y="4711687"/>
            <a:ext cx="6540804" cy="5148966"/>
          </a:xfrm>
          <a:custGeom>
            <a:avLst/>
            <a:gdLst/>
            <a:ahLst/>
            <a:cxnLst/>
            <a:rect l="l" t="t" r="r" b="b"/>
            <a:pathLst>
              <a:path w="6540804" h="5148966">
                <a:moveTo>
                  <a:pt x="0" y="0"/>
                </a:moveTo>
                <a:lnTo>
                  <a:pt x="6540804" y="0"/>
                </a:lnTo>
                <a:lnTo>
                  <a:pt x="6540804" y="5148965"/>
                </a:lnTo>
                <a:lnTo>
                  <a:pt x="0" y="5148965"/>
                </a:lnTo>
                <a:lnTo>
                  <a:pt x="0" y="0"/>
                </a:lnTo>
                <a:close/>
              </a:path>
            </a:pathLst>
          </a:custGeom>
          <a:blipFill>
            <a:blip r:embed="rId3"/>
            <a:stretch>
              <a:fillRect/>
            </a:stretch>
          </a:blipFill>
        </p:spPr>
      </p:sp>
      <p:sp>
        <p:nvSpPr>
          <p:cNvPr id="4" name="Freeform 4"/>
          <p:cNvSpPr/>
          <p:nvPr/>
        </p:nvSpPr>
        <p:spPr>
          <a:xfrm>
            <a:off x="7175196" y="6854356"/>
            <a:ext cx="4364182" cy="3006296"/>
          </a:xfrm>
          <a:custGeom>
            <a:avLst/>
            <a:gdLst/>
            <a:ahLst/>
            <a:cxnLst/>
            <a:rect l="l" t="t" r="r" b="b"/>
            <a:pathLst>
              <a:path w="4364182" h="3006296">
                <a:moveTo>
                  <a:pt x="0" y="0"/>
                </a:moveTo>
                <a:lnTo>
                  <a:pt x="4364182" y="0"/>
                </a:lnTo>
                <a:lnTo>
                  <a:pt x="4364182" y="3006296"/>
                </a:lnTo>
                <a:lnTo>
                  <a:pt x="0" y="3006296"/>
                </a:lnTo>
                <a:lnTo>
                  <a:pt x="0" y="0"/>
                </a:lnTo>
                <a:close/>
              </a:path>
            </a:pathLst>
          </a:custGeom>
          <a:blipFill>
            <a:blip r:embed="rId4"/>
            <a:stretch>
              <a:fillRect/>
            </a:stretch>
          </a:blipFill>
        </p:spPr>
      </p:sp>
      <p:sp>
        <p:nvSpPr>
          <p:cNvPr id="5" name="Freeform 5"/>
          <p:cNvSpPr/>
          <p:nvPr/>
        </p:nvSpPr>
        <p:spPr>
          <a:xfrm>
            <a:off x="9789330" y="7499343"/>
            <a:ext cx="8498670" cy="2361309"/>
          </a:xfrm>
          <a:custGeom>
            <a:avLst/>
            <a:gdLst/>
            <a:ahLst/>
            <a:cxnLst/>
            <a:rect l="l" t="t" r="r" b="b"/>
            <a:pathLst>
              <a:path w="8498670" h="2361309">
                <a:moveTo>
                  <a:pt x="0" y="0"/>
                </a:moveTo>
                <a:lnTo>
                  <a:pt x="8498670" y="0"/>
                </a:lnTo>
                <a:lnTo>
                  <a:pt x="8498670" y="2361309"/>
                </a:lnTo>
                <a:lnTo>
                  <a:pt x="0" y="2361309"/>
                </a:lnTo>
                <a:lnTo>
                  <a:pt x="0" y="0"/>
                </a:lnTo>
                <a:close/>
              </a:path>
            </a:pathLst>
          </a:custGeom>
          <a:blipFill>
            <a:blip r:embed="rId5"/>
            <a:stretch>
              <a:fillRect/>
            </a:stretch>
          </a:blipFill>
        </p:spPr>
      </p:sp>
      <p:sp>
        <p:nvSpPr>
          <p:cNvPr id="6" name="Freeform 6"/>
          <p:cNvSpPr/>
          <p:nvPr/>
        </p:nvSpPr>
        <p:spPr>
          <a:xfrm>
            <a:off x="0" y="7280704"/>
            <a:ext cx="16986402" cy="2798589"/>
          </a:xfrm>
          <a:custGeom>
            <a:avLst/>
            <a:gdLst/>
            <a:ahLst/>
            <a:cxnLst/>
            <a:rect l="l" t="t" r="r" b="b"/>
            <a:pathLst>
              <a:path w="16986402" h="2798589">
                <a:moveTo>
                  <a:pt x="0" y="0"/>
                </a:moveTo>
                <a:lnTo>
                  <a:pt x="16986402" y="0"/>
                </a:lnTo>
                <a:lnTo>
                  <a:pt x="16986402" y="2798588"/>
                </a:lnTo>
                <a:lnTo>
                  <a:pt x="0" y="2798588"/>
                </a:lnTo>
                <a:lnTo>
                  <a:pt x="0" y="0"/>
                </a:lnTo>
                <a:close/>
              </a:path>
            </a:pathLst>
          </a:custGeom>
          <a:blipFill>
            <a:blip r:embed="rId6"/>
            <a:stretch>
              <a:fillRect/>
            </a:stretch>
          </a:blipFill>
        </p:spPr>
      </p:sp>
      <p:sp>
        <p:nvSpPr>
          <p:cNvPr id="7" name="Freeform 7"/>
          <p:cNvSpPr/>
          <p:nvPr/>
        </p:nvSpPr>
        <p:spPr>
          <a:xfrm>
            <a:off x="1301598" y="6635716"/>
            <a:ext cx="1312536" cy="3443576"/>
          </a:xfrm>
          <a:custGeom>
            <a:avLst/>
            <a:gdLst/>
            <a:ahLst/>
            <a:cxnLst/>
            <a:rect l="l" t="t" r="r" b="b"/>
            <a:pathLst>
              <a:path w="1312536" h="3443576">
                <a:moveTo>
                  <a:pt x="0" y="0"/>
                </a:moveTo>
                <a:lnTo>
                  <a:pt x="1312536" y="0"/>
                </a:lnTo>
                <a:lnTo>
                  <a:pt x="1312536" y="3443576"/>
                </a:lnTo>
                <a:lnTo>
                  <a:pt x="0" y="3443576"/>
                </a:lnTo>
                <a:lnTo>
                  <a:pt x="0" y="0"/>
                </a:lnTo>
                <a:close/>
              </a:path>
            </a:pathLst>
          </a:custGeom>
          <a:blipFill>
            <a:blip r:embed="rId7"/>
            <a:stretch>
              <a:fillRect/>
            </a:stretch>
          </a:blipFill>
        </p:spPr>
      </p:sp>
      <p:sp>
        <p:nvSpPr>
          <p:cNvPr id="8" name="Freeform 8"/>
          <p:cNvSpPr/>
          <p:nvPr/>
        </p:nvSpPr>
        <p:spPr>
          <a:xfrm>
            <a:off x="2176622" y="5990729"/>
            <a:ext cx="1531292" cy="4088563"/>
          </a:xfrm>
          <a:custGeom>
            <a:avLst/>
            <a:gdLst/>
            <a:ahLst/>
            <a:cxnLst/>
            <a:rect l="l" t="t" r="r" b="b"/>
            <a:pathLst>
              <a:path w="1531292" h="4088563">
                <a:moveTo>
                  <a:pt x="0" y="0"/>
                </a:moveTo>
                <a:lnTo>
                  <a:pt x="1531292" y="0"/>
                </a:lnTo>
                <a:lnTo>
                  <a:pt x="1531292" y="4088563"/>
                </a:lnTo>
                <a:lnTo>
                  <a:pt x="0" y="4088563"/>
                </a:lnTo>
                <a:lnTo>
                  <a:pt x="0" y="0"/>
                </a:lnTo>
                <a:close/>
              </a:path>
            </a:pathLst>
          </a:custGeom>
          <a:blipFill>
            <a:blip r:embed="rId8"/>
            <a:stretch>
              <a:fillRect/>
            </a:stretch>
          </a:blipFill>
        </p:spPr>
      </p:sp>
      <p:sp>
        <p:nvSpPr>
          <p:cNvPr id="9" name="Freeform 9"/>
          <p:cNvSpPr/>
          <p:nvPr/>
        </p:nvSpPr>
        <p:spPr>
          <a:xfrm>
            <a:off x="12840976" y="6635716"/>
            <a:ext cx="1312536" cy="3443576"/>
          </a:xfrm>
          <a:custGeom>
            <a:avLst/>
            <a:gdLst/>
            <a:ahLst/>
            <a:cxnLst/>
            <a:rect l="l" t="t" r="r" b="b"/>
            <a:pathLst>
              <a:path w="1312536" h="3443576">
                <a:moveTo>
                  <a:pt x="0" y="0"/>
                </a:moveTo>
                <a:lnTo>
                  <a:pt x="1312536" y="0"/>
                </a:lnTo>
                <a:lnTo>
                  <a:pt x="1312536" y="3443576"/>
                </a:lnTo>
                <a:lnTo>
                  <a:pt x="0" y="3443576"/>
                </a:lnTo>
                <a:lnTo>
                  <a:pt x="0" y="0"/>
                </a:lnTo>
                <a:close/>
              </a:path>
            </a:pathLst>
          </a:custGeom>
          <a:blipFill>
            <a:blip r:embed="rId9"/>
            <a:stretch>
              <a:fillRect/>
            </a:stretch>
          </a:blipFill>
        </p:spPr>
      </p:sp>
      <p:sp>
        <p:nvSpPr>
          <p:cNvPr id="10" name="Freeform 10"/>
          <p:cNvSpPr/>
          <p:nvPr/>
        </p:nvSpPr>
        <p:spPr>
          <a:xfrm>
            <a:off x="13923818" y="7280704"/>
            <a:ext cx="1104718" cy="2579949"/>
          </a:xfrm>
          <a:custGeom>
            <a:avLst/>
            <a:gdLst/>
            <a:ahLst/>
            <a:cxnLst/>
            <a:rect l="l" t="t" r="r" b="b"/>
            <a:pathLst>
              <a:path w="1104718" h="2579949">
                <a:moveTo>
                  <a:pt x="0" y="0"/>
                </a:moveTo>
                <a:lnTo>
                  <a:pt x="1104718" y="0"/>
                </a:lnTo>
                <a:lnTo>
                  <a:pt x="1104718" y="2579948"/>
                </a:lnTo>
                <a:lnTo>
                  <a:pt x="0" y="2579948"/>
                </a:lnTo>
                <a:lnTo>
                  <a:pt x="0" y="0"/>
                </a:lnTo>
                <a:close/>
              </a:path>
            </a:pathLst>
          </a:custGeom>
          <a:blipFill>
            <a:blip r:embed="rId10"/>
            <a:stretch>
              <a:fillRect/>
            </a:stretch>
          </a:blipFill>
        </p:spPr>
      </p:sp>
      <p:sp>
        <p:nvSpPr>
          <p:cNvPr id="11" name="Freeform 11"/>
          <p:cNvSpPr/>
          <p:nvPr/>
        </p:nvSpPr>
        <p:spPr>
          <a:xfrm>
            <a:off x="0" y="9423373"/>
            <a:ext cx="18288000" cy="863627"/>
          </a:xfrm>
          <a:custGeom>
            <a:avLst/>
            <a:gdLst/>
            <a:ahLst/>
            <a:cxnLst/>
            <a:rect l="l" t="t" r="r" b="b"/>
            <a:pathLst>
              <a:path w="18288000" h="863627">
                <a:moveTo>
                  <a:pt x="0" y="0"/>
                </a:moveTo>
                <a:lnTo>
                  <a:pt x="18288000" y="0"/>
                </a:lnTo>
                <a:lnTo>
                  <a:pt x="18288000" y="863627"/>
                </a:lnTo>
                <a:lnTo>
                  <a:pt x="0" y="863627"/>
                </a:lnTo>
                <a:lnTo>
                  <a:pt x="0" y="0"/>
                </a:lnTo>
                <a:close/>
              </a:path>
            </a:pathLst>
          </a:custGeom>
          <a:blipFill>
            <a:blip r:embed="rId11"/>
            <a:stretch>
              <a:fillRect/>
            </a:stretch>
          </a:blipFill>
        </p:spPr>
      </p:sp>
      <p:sp>
        <p:nvSpPr>
          <p:cNvPr id="12" name="TextBox 12"/>
          <p:cNvSpPr txBox="1"/>
          <p:nvPr/>
        </p:nvSpPr>
        <p:spPr>
          <a:xfrm>
            <a:off x="5663020" y="3238633"/>
            <a:ext cx="6961960" cy="2220974"/>
          </a:xfrm>
          <a:prstGeom prst="rect">
            <a:avLst/>
          </a:prstGeom>
        </p:spPr>
        <p:txBody>
          <a:bodyPr lIns="0" tIns="0" rIns="0" bIns="0" rtlCol="0" anchor="t">
            <a:spAutoFit/>
          </a:bodyPr>
          <a:lstStyle/>
          <a:p>
            <a:pPr algn="ctr">
              <a:lnSpc>
                <a:spcPts val="14129"/>
              </a:lnSpc>
            </a:pPr>
            <a:r>
              <a:rPr lang="en-US" sz="14129" b="1" spc="282">
                <a:solidFill>
                  <a:srgbClr val="141D40"/>
                </a:solidFill>
                <a:latin typeface="Heading Now 31-38 Bold"/>
                <a:ea typeface="Heading Now 31-38 Bold"/>
                <a:cs typeface="Heading Now 31-38 Bold"/>
                <a:sym typeface="Heading Now 31-38 Bold"/>
              </a:rPr>
              <a:t>THANK YOU!</a:t>
            </a:r>
          </a:p>
        </p:txBody>
      </p:sp>
      <p:sp>
        <p:nvSpPr>
          <p:cNvPr id="13" name="Freeform 13"/>
          <p:cNvSpPr/>
          <p:nvPr/>
        </p:nvSpPr>
        <p:spPr>
          <a:xfrm>
            <a:off x="3259464" y="5459607"/>
            <a:ext cx="11769072" cy="218640"/>
          </a:xfrm>
          <a:custGeom>
            <a:avLst/>
            <a:gdLst/>
            <a:ahLst/>
            <a:cxnLst/>
            <a:rect l="l" t="t" r="r" b="b"/>
            <a:pathLst>
              <a:path w="11769072" h="218640">
                <a:moveTo>
                  <a:pt x="0" y="0"/>
                </a:moveTo>
                <a:lnTo>
                  <a:pt x="11769072" y="0"/>
                </a:lnTo>
                <a:lnTo>
                  <a:pt x="11769072" y="218639"/>
                </a:lnTo>
                <a:lnTo>
                  <a:pt x="0" y="218639"/>
                </a:lnTo>
                <a:lnTo>
                  <a:pt x="0" y="0"/>
                </a:lnTo>
                <a:close/>
              </a:path>
            </a:pathLst>
          </a:custGeom>
          <a:blipFill>
            <a:blip r:embed="rId12"/>
            <a:stretch>
              <a:fillRect/>
            </a:stretch>
          </a:blipFill>
        </p:spPr>
      </p:sp>
      <p:sp>
        <p:nvSpPr>
          <p:cNvPr id="14" name="TextBox 14"/>
          <p:cNvSpPr txBox="1"/>
          <p:nvPr/>
        </p:nvSpPr>
        <p:spPr>
          <a:xfrm>
            <a:off x="7517132" y="5877000"/>
            <a:ext cx="3296956" cy="874514"/>
          </a:xfrm>
          <a:prstGeom prst="rect">
            <a:avLst/>
          </a:prstGeom>
        </p:spPr>
        <p:txBody>
          <a:bodyPr lIns="0" tIns="0" rIns="0" bIns="0" rtlCol="0" anchor="t">
            <a:spAutoFit/>
          </a:bodyPr>
          <a:lstStyle/>
          <a:p>
            <a:pPr algn="ctr">
              <a:lnSpc>
                <a:spcPts val="5554"/>
              </a:lnSpc>
            </a:pPr>
            <a:r>
              <a:rPr lang="en-US" sz="5554" b="1" spc="276">
                <a:solidFill>
                  <a:srgbClr val="323F9D"/>
                </a:solidFill>
                <a:latin typeface="Heading Now 31-38 Bold"/>
                <a:ea typeface="Heading Now 31-38 Bold"/>
                <a:cs typeface="Heading Now 31-38 Bold"/>
                <a:sym typeface="Heading Now 31-38 Bold"/>
              </a:rPr>
              <a:t>VORTEXA 3.0</a:t>
            </a:r>
          </a:p>
        </p:txBody>
      </p:sp>
      <p:sp>
        <p:nvSpPr>
          <p:cNvPr id="15" name="TextBox 15"/>
          <p:cNvSpPr txBox="1"/>
          <p:nvPr/>
        </p:nvSpPr>
        <p:spPr>
          <a:xfrm>
            <a:off x="8581401" y="7052188"/>
            <a:ext cx="1168417" cy="865735"/>
          </a:xfrm>
          <a:prstGeom prst="rect">
            <a:avLst/>
          </a:prstGeom>
        </p:spPr>
        <p:txBody>
          <a:bodyPr lIns="0" tIns="0" rIns="0" bIns="0" rtlCol="0" anchor="t">
            <a:spAutoFit/>
          </a:bodyPr>
          <a:lstStyle/>
          <a:p>
            <a:pPr algn="ctr">
              <a:lnSpc>
                <a:spcPts val="5554"/>
              </a:lnSpc>
            </a:pPr>
            <a:r>
              <a:rPr lang="en-US" sz="5554" b="1" spc="276">
                <a:solidFill>
                  <a:srgbClr val="ED8076"/>
                </a:solidFill>
                <a:latin typeface="Heading Now 31-38 Bold"/>
                <a:ea typeface="Heading Now 31-38 Bold"/>
                <a:cs typeface="Heading Now 31-38 Bold"/>
                <a:sym typeface="Heading Now 31-38 Bold"/>
              </a:rPr>
              <a:t>AIRS</a:t>
            </a:r>
          </a:p>
        </p:txBody>
      </p:sp>
      <p:sp>
        <p:nvSpPr>
          <p:cNvPr id="16" name="TextBox 16"/>
          <p:cNvSpPr txBox="1"/>
          <p:nvPr/>
        </p:nvSpPr>
        <p:spPr>
          <a:xfrm rot="-769921">
            <a:off x="15555796" y="4644632"/>
            <a:ext cx="1911526" cy="1704008"/>
          </a:xfrm>
          <a:prstGeom prst="rect">
            <a:avLst/>
          </a:prstGeom>
        </p:spPr>
        <p:txBody>
          <a:bodyPr lIns="0" tIns="0" rIns="0" bIns="0" rtlCol="0" anchor="t">
            <a:spAutoFit/>
          </a:bodyPr>
          <a:lstStyle/>
          <a:p>
            <a:pPr algn="ctr">
              <a:lnSpc>
                <a:spcPts val="6255"/>
              </a:lnSpc>
            </a:pPr>
            <a:r>
              <a:rPr lang="en-US" sz="5211">
                <a:solidFill>
                  <a:srgbClr val="ED8076"/>
                </a:solidFill>
                <a:latin typeface="Heading Now 31-38"/>
                <a:ea typeface="Heading Now 31-38"/>
                <a:cs typeface="Heading Now 31-38"/>
                <a:sym typeface="Heading Now 31-38"/>
              </a:rPr>
              <a:t>Game’s</a:t>
            </a:r>
          </a:p>
          <a:p>
            <a:pPr algn="ctr">
              <a:lnSpc>
                <a:spcPts val="6255"/>
              </a:lnSpc>
            </a:pPr>
            <a:r>
              <a:rPr lang="en-US" sz="5211">
                <a:solidFill>
                  <a:srgbClr val="ED8076"/>
                </a:solidFill>
                <a:latin typeface="Heading Now 31-38"/>
                <a:ea typeface="Heading Now 31-38"/>
                <a:cs typeface="Heading Now 31-38"/>
                <a:sym typeface="Heading Now 31-38"/>
              </a:rPr>
              <a:t>Still On</a:t>
            </a:r>
          </a:p>
        </p:txBody>
      </p:sp>
      <p:sp>
        <p:nvSpPr>
          <p:cNvPr id="17" name="Freeform 17"/>
          <p:cNvSpPr/>
          <p:nvPr/>
        </p:nvSpPr>
        <p:spPr>
          <a:xfrm>
            <a:off x="15892622" y="5998497"/>
            <a:ext cx="2187560" cy="1082267"/>
          </a:xfrm>
          <a:custGeom>
            <a:avLst/>
            <a:gdLst/>
            <a:ahLst/>
            <a:cxnLst/>
            <a:rect l="l" t="t" r="r" b="b"/>
            <a:pathLst>
              <a:path w="2187560" h="1082267">
                <a:moveTo>
                  <a:pt x="0" y="0"/>
                </a:moveTo>
                <a:lnTo>
                  <a:pt x="2187560" y="0"/>
                </a:lnTo>
                <a:lnTo>
                  <a:pt x="2187560" y="1082266"/>
                </a:lnTo>
                <a:lnTo>
                  <a:pt x="0" y="1082266"/>
                </a:lnTo>
                <a:lnTo>
                  <a:pt x="0" y="0"/>
                </a:lnTo>
                <a:close/>
              </a:path>
            </a:pathLst>
          </a:custGeom>
          <a:blipFill>
            <a:blip r:embed="rId13"/>
            <a:stretch>
              <a:fillRect/>
            </a:stretch>
          </a:blipFill>
        </p:spPr>
      </p:sp>
      <p:sp>
        <p:nvSpPr>
          <p:cNvPr id="18" name="Freeform 18"/>
          <p:cNvSpPr/>
          <p:nvPr/>
        </p:nvSpPr>
        <p:spPr>
          <a:xfrm>
            <a:off x="16178937" y="216170"/>
            <a:ext cx="2160727" cy="2160727"/>
          </a:xfrm>
          <a:custGeom>
            <a:avLst/>
            <a:gdLst/>
            <a:ahLst/>
            <a:cxnLst/>
            <a:rect l="l" t="t" r="r" b="b"/>
            <a:pathLst>
              <a:path w="2160727" h="2160727">
                <a:moveTo>
                  <a:pt x="0" y="0"/>
                </a:moveTo>
                <a:lnTo>
                  <a:pt x="2160726" y="0"/>
                </a:lnTo>
                <a:lnTo>
                  <a:pt x="2160726" y="2160727"/>
                </a:lnTo>
                <a:lnTo>
                  <a:pt x="0" y="2160727"/>
                </a:lnTo>
                <a:lnTo>
                  <a:pt x="0" y="0"/>
                </a:lnTo>
                <a:close/>
              </a:path>
            </a:pathLst>
          </a:custGeom>
          <a:blipFill>
            <a:blip r:embed="rId14"/>
            <a:stretch>
              <a:fillRect/>
            </a:stretch>
          </a:blipFill>
        </p:spPr>
      </p:sp>
      <p:pic>
        <p:nvPicPr>
          <p:cNvPr id="19" name="Picture 18" descr="brand.png"/>
          <p:cNvPicPr>
            <a:picLocks noChangeAspect="1"/>
          </p:cNvPicPr>
          <p:nvPr/>
        </p:nvPicPr>
        <p:blipFill>
          <a:blip r:embed="rId15"/>
          <a:stretch>
            <a:fillRect/>
          </a:stretch>
        </p:blipFill>
        <p:spPr>
          <a:xfrm>
            <a:off x="8549640" y="502920"/>
            <a:ext cx="1188720" cy="1188720"/>
          </a:xfrm>
          <a:prstGeom prst="rect">
            <a:avLst/>
          </a:prstGeom>
        </p:spPr>
      </p:pic>
      <p:sp>
        <p:nvSpPr>
          <p:cNvPr id="20" name="TextBox 19"/>
          <p:cNvSpPr txBox="1"/>
          <p:nvPr/>
        </p:nvSpPr>
        <p:spPr>
          <a:xfrm>
            <a:off x="3291840" y="1783080"/>
            <a:ext cx="11704320" cy="594360"/>
          </a:xfrm>
          <a:prstGeom prst="rect">
            <a:avLst/>
          </a:prstGeom>
          <a:noFill/>
        </p:spPr>
        <p:txBody>
          <a:bodyPr wrap="square" lIns="0" rIns="0" tIns="0" bIns="0" anchor="t">
            <a:noAutofit/>
          </a:bodyPr>
          <a:lstStyle/>
          <a:p>
            <a:pPr algn="ctr">
              <a:lnSpc>
                <a:spcPct val="100000"/>
              </a:lnSpc>
              <a:spcAft>
                <a:spcPts val="0"/>
              </a:spcAft>
            </a:pPr>
            <a:r>
              <a:rPr sz="3540" b="1">
                <a:solidFill>
                  <a:srgbClr val="4E4A76"/>
                </a:solidFill>
                <a:latin typeface="Heading Now 31-38 Bold"/>
              </a:rPr>
              <a:t>SEALSTONE  </a:t>
            </a:r>
            <a:r>
              <a:rPr sz="2800" i="1">
                <a:solidFill>
                  <a:srgbClr val="4E4A76"/>
                </a:solidFill>
                <a:latin typeface="Georgia"/>
              </a:rPr>
              <a:t>escrow that can't be tricked</a:t>
            </a:r>
          </a:p>
        </p:txBody>
      </p:sp>
      <p:sp>
        <p:nvSpPr>
          <p:cNvPr id="21" name="TextBox 20"/>
          <p:cNvSpPr txBox="1"/>
          <p:nvPr/>
        </p:nvSpPr>
        <p:spPr>
          <a:xfrm>
            <a:off x="3291840" y="2377440"/>
            <a:ext cx="11704320" cy="548640"/>
          </a:xfrm>
          <a:prstGeom prst="rect">
            <a:avLst/>
          </a:prstGeom>
          <a:noFill/>
        </p:spPr>
        <p:txBody>
          <a:bodyPr wrap="square" lIns="0" rIns="0" tIns="0" bIns="0" anchor="t">
            <a:noAutofit/>
          </a:bodyPr>
          <a:lstStyle/>
          <a:p>
            <a:pPr algn="ctr">
              <a:lnSpc>
                <a:spcPct val="100000"/>
              </a:lnSpc>
              <a:spcAft>
                <a:spcPts val="0"/>
              </a:spcAft>
            </a:pPr>
            <a:r>
              <a:rPr sz="2280">
                <a:solidFill>
                  <a:srgbClr val="172243"/>
                </a:solidFill>
                <a:latin typeface="Calibri"/>
              </a:rPr>
              <a:t>Team TORVALDS  ·  XQR1520246  ·  Omkar Rane (leader), Pranay Patil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VORTEXA 3.0 Hackathon</dc:title>
  <cp:lastModifiedBy>omkar rane</cp:lastModifiedBy>
  <cp:revision>2</cp:revision>
  <dcterms:created xsi:type="dcterms:W3CDTF">2006-08-16T00:00:00Z</dcterms:created>
  <dcterms:modified xsi:type="dcterms:W3CDTF">2026-10-11T11:20:35Z</dcterms:modified>
  <dc:identifier>DAHXr7I3BNw</dc:identifier>
</cp:coreProperties>
</file>